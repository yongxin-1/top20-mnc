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Tagrisso</c:v>
                </c:pt>
              </c:strCache>
            </c:strRef>
          </c:tx>
          <c:spPr>
            <a:solidFill>
              <a:srgbClr val="003366"/>
            </a:solidFill>
            <a:ln w="3810">
              <a:solidFill>
                <a:srgbClr val="FFFFFF"/>
              </a:solidFill>
            </a:ln>
          </c:spPr>
          <c:dLbls>
            <c:numFmt formatCode="0.0" sourceLinked="0"/>
            <c:txPr>
              <a:bodyPr/>
              <a:lstStyle/>
              <a:p>
                <a:pPr>
                  <a:defRPr sz="85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5.015</c:v>
                </c:pt>
                <c:pt idx="1">
                  <c:v>5.444</c:v>
                </c:pt>
                <c:pt idx="2">
                  <c:v>5.799</c:v>
                </c:pt>
                <c:pt idx="3">
                  <c:v>6.58</c:v>
                </c:pt>
                <c:pt idx="4">
                  <c:v>7.254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Imfinzi / Imjudo</c:v>
                </c:pt>
              </c:strCache>
            </c:strRef>
          </c:tx>
          <c:spPr>
            <a:solidFill>
              <a:srgbClr val="006DB2"/>
            </a:solidFill>
            <a:ln w="3810">
              <a:solidFill>
                <a:srgbClr val="FFFFFF"/>
              </a:solidFill>
            </a:ln>
          </c:spPr>
          <c:dLbls>
            <c:dLbl>
              <c:idx val="0"/>
              <c:delete val="1"/>
            </c:dLbl>
            <c:dLbl>
              <c:idx val="1"/>
              <c:delete val="1"/>
            </c:dLbl>
            <c:numFmt formatCode="0.0" sourceLinked="0"/>
            <c:txPr>
              <a:bodyPr/>
              <a:lstStyle/>
              <a:p>
                <a:pPr>
                  <a:defRPr sz="85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2.412</c:v>
                </c:pt>
                <c:pt idx="1">
                  <c:v>2.784</c:v>
                </c:pt>
                <c:pt idx="2">
                  <c:v>4.237</c:v>
                </c:pt>
                <c:pt idx="3">
                  <c:v>4.998</c:v>
                </c:pt>
                <c:pt idx="4">
                  <c:v>6.409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Calquence</c:v>
                </c:pt>
              </c:strCache>
            </c:strRef>
          </c:tx>
          <c:spPr>
            <a:solidFill>
              <a:srgbClr val="537EA9"/>
            </a:solidFill>
            <a:ln w="3810">
              <a:solidFill>
                <a:srgbClr val="FFFFFF"/>
              </a:solidFill>
            </a:ln>
          </c:spP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0.0" sourceLinked="0"/>
            <c:txPr>
              <a:bodyPr/>
              <a:lstStyle/>
              <a:p>
                <a:pPr>
                  <a:defRPr sz="85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1.238</c:v>
                </c:pt>
                <c:pt idx="1">
                  <c:v>2.057</c:v>
                </c:pt>
                <c:pt idx="2">
                  <c:v>2.514</c:v>
                </c:pt>
                <c:pt idx="3">
                  <c:v>3.129</c:v>
                </c:pt>
                <c:pt idx="4">
                  <c:v>3.518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Lynparza</c:v>
                </c:pt>
              </c:strCache>
            </c:strRef>
          </c:tx>
          <c:spPr>
            <a:solidFill>
              <a:srgbClr val="9DB5D2"/>
            </a:solidFill>
            <a:ln w="3810">
              <a:solidFill>
                <a:srgbClr val="FFFFFF"/>
              </a:solidFill>
            </a:ln>
          </c:spP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0.0" sourceLinked="0"/>
            <c:txPr>
              <a:bodyPr/>
              <a:lstStyle/>
              <a:p>
                <a:pPr>
                  <a:defRPr sz="850">
                    <a:solidFill>
                      <a:srgbClr val="3C3C3C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2.348</c:v>
                </c:pt>
                <c:pt idx="1">
                  <c:v>2.638</c:v>
                </c:pt>
                <c:pt idx="2">
                  <c:v>2.811</c:v>
                </c:pt>
                <c:pt idx="3">
                  <c:v>3.072</c:v>
                </c:pt>
                <c:pt idx="4">
                  <c:v>3.279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Enhertu</c:v>
                </c:pt>
              </c:strCache>
            </c:strRef>
          </c:tx>
          <c:spPr>
            <a:solidFill>
              <a:srgbClr val="427190"/>
            </a:solidFill>
            <a:ln w="3810">
              <a:solidFill>
                <a:srgbClr val="FFFFFF"/>
              </a:solidFill>
            </a:ln>
          </c:spP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0.0" sourceLinked="0"/>
            <c:txPr>
              <a:bodyPr/>
              <a:lstStyle/>
              <a:p>
                <a:pPr>
                  <a:defRPr sz="85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0.21</c:v>
                </c:pt>
                <c:pt idx="1">
                  <c:v>0.598</c:v>
                </c:pt>
                <c:pt idx="2">
                  <c:v>1.283</c:v>
                </c:pt>
                <c:pt idx="3">
                  <c:v>1.982</c:v>
                </c:pt>
                <c:pt idx="4">
                  <c:v>2.775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Farxiga</c:v>
                </c:pt>
              </c:strCache>
            </c:strRef>
          </c:tx>
          <c:spPr>
            <a:solidFill>
              <a:srgbClr val="227C9D"/>
            </a:solidFill>
            <a:ln w="3810">
              <a:solidFill>
                <a:srgbClr val="FFFFFF"/>
              </a:solidFill>
            </a:ln>
          </c:spPr>
          <c:dLbls>
            <c:dLbl>
              <c:idx val="0"/>
              <c:delete val="1"/>
            </c:dLbl>
            <c:numFmt formatCode="0.0" sourceLinked="0"/>
            <c:txPr>
              <a:bodyPr/>
              <a:lstStyle/>
              <a:p>
                <a:pPr>
                  <a:defRPr sz="85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3.0</c:v>
                </c:pt>
                <c:pt idx="1">
                  <c:v>4.381</c:v>
                </c:pt>
                <c:pt idx="2">
                  <c:v>5.963</c:v>
                </c:pt>
                <c:pt idx="3">
                  <c:v>7.661</c:v>
                </c:pt>
                <c:pt idx="4">
                  <c:v>8.405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Symbicort</c:v>
                </c:pt>
              </c:strCache>
            </c:strRef>
          </c:tx>
          <c:spPr>
            <a:solidFill>
              <a:srgbClr val="A77845"/>
            </a:solidFill>
            <a:ln w="3810">
              <a:solidFill>
                <a:srgbClr val="FFFFFF"/>
              </a:solidFill>
            </a:ln>
          </c:spP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0.0" sourceLinked="0"/>
            <c:txPr>
              <a:bodyPr/>
              <a:lstStyle/>
              <a:p>
                <a:pPr>
                  <a:defRPr sz="85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Sheet1!$H$2:$H$6</c:f>
              <c:numCache>
                <c:formatCode>General</c:formatCode>
                <c:ptCount val="5"/>
                <c:pt idx="0">
                  <c:v>2.728</c:v>
                </c:pt>
                <c:pt idx="1">
                  <c:v>2.538</c:v>
                </c:pt>
                <c:pt idx="2">
                  <c:v>2.362</c:v>
                </c:pt>
                <c:pt idx="3">
                  <c:v>2.879</c:v>
                </c:pt>
                <c:pt idx="4">
                  <c:v>2.885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Fasenra</c:v>
                </c:pt>
              </c:strCache>
            </c:strRef>
          </c:tx>
          <c:spPr>
            <a:solidFill>
              <a:srgbClr val="D3AF7C"/>
            </a:solidFill>
            <a:ln w="3810">
              <a:solidFill>
                <a:srgbClr val="FFFFFF"/>
              </a:solidFill>
            </a:ln>
          </c:spP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0.0" sourceLinked="0"/>
            <c:txPr>
              <a:bodyPr/>
              <a:lstStyle/>
              <a:p>
                <a:pPr>
                  <a:defRPr sz="850">
                    <a:solidFill>
                      <a:srgbClr val="3C3C3C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Sheet1!$I$2:$I$6</c:f>
              <c:numCache>
                <c:formatCode>General</c:formatCode>
                <c:ptCount val="5"/>
                <c:pt idx="0">
                  <c:v>1.258</c:v>
                </c:pt>
                <c:pt idx="1">
                  <c:v>1.396</c:v>
                </c:pt>
                <c:pt idx="2">
                  <c:v>1.553</c:v>
                </c:pt>
                <c:pt idx="3">
                  <c:v>1.689</c:v>
                </c:pt>
                <c:pt idx="4">
                  <c:v>1.981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Ultomiris</c:v>
                </c:pt>
              </c:strCache>
            </c:strRef>
          </c:tx>
          <c:spPr>
            <a:solidFill>
              <a:srgbClr val="527F76"/>
            </a:solidFill>
            <a:ln w="3810">
              <a:solidFill>
                <a:srgbClr val="FFFFFF"/>
              </a:solidFill>
            </a:ln>
          </c:spP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0.0" sourceLinked="0"/>
            <c:txPr>
              <a:bodyPr/>
              <a:lstStyle/>
              <a:p>
                <a:pPr>
                  <a:defRPr sz="85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Sheet1!$J$2:$J$6</c:f>
              <c:numCache>
                <c:formatCode>General</c:formatCode>
                <c:ptCount val="5"/>
                <c:pt idx="0">
                  <c:v>0.688</c:v>
                </c:pt>
                <c:pt idx="1">
                  <c:v>1.965</c:v>
                </c:pt>
                <c:pt idx="2">
                  <c:v>2.965</c:v>
                </c:pt>
                <c:pt idx="3">
                  <c:v>3.924</c:v>
                </c:pt>
                <c:pt idx="4">
                  <c:v>4.718</c:v>
                </c:pt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Soliris</c:v>
                </c:pt>
              </c:strCache>
            </c:strRef>
          </c:tx>
          <c:spPr>
            <a:solidFill>
              <a:srgbClr val="A3BDAE"/>
            </a:solidFill>
            <a:ln w="3810">
              <a:solidFill>
                <a:srgbClr val="FFFFFF"/>
              </a:solidFill>
            </a:ln>
          </c:spP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0.0" sourceLinked="0"/>
            <c:txPr>
              <a:bodyPr/>
              <a:lstStyle/>
              <a:p>
                <a:pPr>
                  <a:defRPr sz="850">
                    <a:solidFill>
                      <a:srgbClr val="3C3C3C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Sheet1!$K$2:$K$6</c:f>
              <c:numCache>
                <c:formatCode>General</c:formatCode>
                <c:ptCount val="5"/>
                <c:pt idx="0">
                  <c:v>1.874</c:v>
                </c:pt>
                <c:pt idx="1">
                  <c:v>3.762</c:v>
                </c:pt>
                <c:pt idx="2">
                  <c:v>3.145</c:v>
                </c:pt>
                <c:pt idx="3">
                  <c:v>2.588</c:v>
                </c:pt>
                <c:pt idx="4">
                  <c:v>1.837</c:v>
                </c:pt>
              </c:numCache>
            </c:numRef>
          </c:val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Others*</c:v>
                </c:pt>
              </c:strCache>
            </c:strRef>
          </c:tx>
          <c:spPr>
            <a:solidFill>
              <a:srgbClr val="D9DEE2"/>
            </a:solidFill>
            <a:ln w="3810">
              <a:solidFill>
                <a:srgbClr val="FFFFFF"/>
              </a:solidFill>
            </a:ln>
          </c:spPr>
          <c:dLbls>
            <c:numFmt formatCode="0.0" sourceLinked="0"/>
            <c:txPr>
              <a:bodyPr/>
              <a:lstStyle/>
              <a:p>
                <a:pPr>
                  <a:defRPr sz="850">
                    <a:solidFill>
                      <a:srgbClr val="3C3C3C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Sheet1!$L$2:$L$6</c:f>
              <c:numCache>
                <c:formatCode>General</c:formatCode>
                <c:ptCount val="5"/>
                <c:pt idx="0">
                  <c:v>16.646</c:v>
                </c:pt>
                <c:pt idx="1">
                  <c:v>16.788</c:v>
                </c:pt>
                <c:pt idx="2">
                  <c:v>13.179</c:v>
                </c:pt>
                <c:pt idx="3">
                  <c:v>15.571</c:v>
                </c:pt>
                <c:pt idx="4">
                  <c:v>15.678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50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overlap val="100"/>
        <c:axId val="100201"/>
        <c:axId val="100202"/>
      </c:barChart>
      <c:catAx>
        <c:axId val="1002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3C3C3C"/>
                </a:solidFill>
                <a:latin typeface="Arial"/>
              </a:defRPr>
            </a:pPr>
          </a:p>
        </c:txPr>
        <c:crossAx val="100202"/>
        <c:crosses val="autoZero"/>
        <c:auto val="1"/>
        <c:lblAlgn val="ctr"/>
        <c:lblOffset val="100"/>
        <c:noMultiLvlLbl val="0"/>
      </c:catAx>
      <c:valAx>
        <c:axId val="100202"/>
        <c:scaling>
          <c:max val="65.0"/>
          <c:min val="0.0"/>
        </c:scaling>
        <c:delete val="0"/>
        <c:axPos val="l"/>
        <c:majorGridlines>
          <c:spPr>
            <a:ln w="5080">
              <a:solidFill>
                <a:srgbClr val="D8E1E4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solidFill>
                  <a:srgbClr val="66757C"/>
                </a:solidFill>
                <a:latin typeface="Arial"/>
              </a:defRPr>
            </a:pPr>
          </a:p>
        </c:txPr>
        <c:crossAx val="100201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Acquisition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 YTD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3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License / rights</c:v>
                </c:pt>
              </c:strCache>
            </c:strRef>
          </c:tx>
          <c:spPr>
            <a:solidFill>
              <a:srgbClr val="227C9D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 YTD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Research / option</c:v>
                </c:pt>
              </c:strCache>
            </c:strRef>
          </c:tx>
          <c:spPr>
            <a:solidFill>
              <a:srgbClr val="527F76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 YTD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0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Equity + clinical</c:v>
                </c:pt>
              </c:strCache>
            </c:strRef>
          </c:tx>
          <c:spPr>
            <a:solidFill>
              <a:srgbClr val="8BA4AE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 YTD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JV / clinical</c:v>
                </c:pt>
              </c:strCache>
            </c:strRef>
          </c:tx>
          <c:spPr>
            <a:solidFill>
              <a:srgbClr val="C9CCCB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 YTD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overlap val="100"/>
        <c:axId val="100501"/>
        <c:axId val="100502"/>
      </c:barChart>
      <c:catAx>
        <c:axId val="100501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100502"/>
        <c:crosses val="autoZero"/>
        <c:auto val="1"/>
        <c:lblAlgn val="ctr"/>
        <c:lblOffset val="100"/>
        <c:noMultiLvlLbl val="0"/>
      </c:catAx>
      <c:valAx>
        <c:axId val="100502"/>
        <c:scaling>
          <c:max val="9.0"/>
          <c:min val="0.0"/>
        </c:scaling>
        <c:delete/>
        <c:axPos val="l"/>
        <c:majorTickMark val="out"/>
        <c:minorTickMark val="none"/>
        <c:tickLblPos val="nextTo"/>
        <c:crossAx val="100501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AstraZeneca | Top 20 MNC Profiling | v2.1 | Prepared 22 October 2026.</a:t>
            </a:r>
          </a:p>
          <a:p>
            <a:r>
              <a:t>Financial period: five complete financial years 2021–2025, with H1 2026 separately identified. Revenue CAGR is reported nominal USD and uses four growth intervals: (2025 revenue / 2021 revenue)^(1/4)-1. It is not an organic or constant-currency CAGR; Alexion was consolidated from 21 July2021.</a:t>
            </a:r>
          </a:p>
          <a:p>
            <a:r>
              <a:t>Pipeline snapshot: official website and clinical appendix as of 27July2026. Website entries are programs/indications, not unique drug candidates. Company-reported late-stage NME counts use its own definitions. Under review means one or more major markets and does not imply a US NDA/BLA for every asset.</a:t>
            </a:r>
          </a:p>
          <a:p>
            <a:r>
              <a:t>BD period: 1Jan2022–21Oct2026. The coded register contains 30 publicly disclosed drug/platform transaction records identified from official annual-report BD/acquisition sections and official press releases. This is a documented cohort, not an exhaustive company-wide deal census. Counts and category mixes apply only to this cohort. One record per substantive agreement/control transaction; announcement and completion of the same agreement are not double-counted. Separate CSPC agreements and separate Summit clinical agreements are separate records. LogicBio/FibroGen China use closing date; SixPeaks uses the 2025 buyout exercise; timing basis is disclosed per row.</a:t>
            </a:r>
          </a:p>
          <a:p>
            <a:r>
              <a:t>For charts, each transaction has one primary type, TA and modality. Secondary TAs are retained in Excel; thus overlapping clinical indications are not summed as multiple deals. Individual targets not disclosed or not singled out in a platform agreement are explicitly marked. No implied CStone recommendations or partnering-demand assertions are included.</a:t>
            </a:r>
          </a:p>
          <a:p/>
          <a:p>
            <a:r>
              <a:t>Summary figures: FY2025 total revenue $58.739bn; FY2021 $37.417bn; reported 4-interval CAGR 11.9346%. FY2025 TA totals: oncology$25.619bn (43.6%), CVRM$12.861bn (21.9%), R&amp;I$8.866bn (15.1%), rare disease$9.126bn (15.5%).</a:t>
            </a:r>
          </a:p>
          <a:p>
            <a:r>
              <a:t>US patent calendar: Farxiga NME patent2026; Lynparza2027; Calquence NME patents2026–2032 (multiple patents). FY2025 global AZ Product Revenue (sales+alliance) Farxiga$8.405bn, Lynparza$3.279bn, Calquence$3.518bn; these are not US revenues at risk.</a:t>
            </a:r>
          </a:p>
          <a:p>
            <a:r>
              <a:t>H1 2026: group$30.672bn,+6%CER; CVRM-12%CER.</a:t>
            </a:r>
          </a:p>
          <a:p>
            <a:r>
              <a:t>Pipeline website has183 active entries, including45 classified asPhaseIII and62LCM. Company headline figures are21late-stageNMEs and4underreview; these are different denominators.</a:t>
            </a:r>
          </a:p>
          <a:p>
            <a:r>
              <a:t>R&amp;D prioritization follows all four columns of H1 presentationp24. No recommendations for CStone are inferred.</a:t>
            </a:r>
          </a:p>
          <a:p/>
          <a:p>
            <a:r>
              <a:t>SOURCES (retrieved 22Oct2026):</a:t>
            </a:r>
          </a:p>
          <a:p>
            <a:r>
              <a:t>[1] H1 &amp; Q2 2026 results, 27 Jul 2026</a:t>
            </a:r>
          </a:p>
          <a:p>
            <a:r>
              <a:t>https://www.astrazeneca.com/content/dam/az/PDF/2026/h1q2/H1-and-Q2-2026-results-announcement.pdf</a:t>
            </a:r>
          </a:p>
          <a:p/>
          <a:p>
            <a:r>
              <a:t>[2] FY &amp; Q4 2025 results, 10 Feb 2026</a:t>
            </a:r>
          </a:p>
          <a:p>
            <a:r>
              <a:t>https://www.astrazeneca.com/content/dam/az/PDF/2025/Q4-FY/Full-year-Q4-2025-results-announcement.pdf</a:t>
            </a:r>
          </a:p>
          <a:p/>
          <a:p>
            <a:r>
              <a:t>[3] Patent Expiries of Key Marketed Products, as at 10 Feb 2026</a:t>
            </a:r>
          </a:p>
          <a:p>
            <a:r>
              <a:t>https://www.astrazeneca.com/content/dam/az/Investor_Relations/annual-report-2025/pdf/AstraZeneca_Patent_Expiries_of_Key_Marketed_Products_2025.pdf</a:t>
            </a:r>
          </a:p>
          <a:p/>
          <a:p>
            <a:r>
              <a:t>[4] Official pipeline, as of 27 Jul 2026</a:t>
            </a:r>
          </a:p>
          <a:p>
            <a:r>
              <a:t>https://www.astrazeneca.com/our-therapy-areas/pipeline.html</a:t>
            </a:r>
          </a:p>
          <a:p/>
          <a:p>
            <a:r>
              <a:t>[5] H1 &amp; Q2 2026 results presentation, 27 Jul 2026</a:t>
            </a:r>
          </a:p>
          <a:p>
            <a:r>
              <a:t>https://www.astrazeneca.com/content/dam/az/PDF/2026/h1q2/H1-and-Q2-2026-results-presentation.pdf</a:t>
            </a:r>
          </a:p>
          <a:p/>
          <a:p>
            <a:r>
              <a:t>[15] FY2021 results</a:t>
            </a:r>
          </a:p>
          <a:p>
            <a:r>
              <a:t>https://www.astrazeneca.com/content/dam/az/PDF/2021/full-year/Full-year-2021-results-announcement.pdf</a:t>
            </a:r>
          </a:p>
          <a:p/>
          <a:p>
            <a:r>
              <a:t>[16] FY2022 results</a:t>
            </a:r>
          </a:p>
          <a:p>
            <a:r>
              <a:t>https://www.astrazeneca.com/content/dam/az/PDF/2022/fy/Full-year-and-Q4-2022-results-announcement.pdf</a:t>
            </a:r>
          </a:p>
          <a:p/>
          <a:p>
            <a:r>
              <a:t>[17] FY2023 results</a:t>
            </a:r>
          </a:p>
          <a:p>
            <a:r>
              <a:t>https://www.astrazeneca.com/content/dam/az/PDF/2023/fy/Full-year-and-Q4-2023-results-announcement.pdf</a:t>
            </a:r>
          </a:p>
          <a:p/>
          <a:p>
            <a:r>
              <a:t>[18] FY2024 results</a:t>
            </a:r>
          </a:p>
          <a:p>
            <a:r>
              <a:t>https://www.astrazeneca.com/content/dam/az/PDF/2024/fy/Full-year-and-Q4-2024-results-announcement.pdf</a:t>
            </a:r>
          </a:p>
          <a:p/>
          <a:p>
            <a:r>
              <a:t>[19] H1 2026 clinical trials appendix, 27 Jul 2026</a:t>
            </a:r>
          </a:p>
          <a:p>
            <a:r>
              <a:t>https://www.astrazeneca.com/content/dam/az/PDF/2026/h1q2/H1-and-Q2-2026-results-clinical-trials-appendix.pdf</a:t>
            </a:r>
          </a:p>
          <a:p/>
          <a:p>
            <a:r>
              <a:t>[20] Annual Report 2022</a:t>
            </a:r>
          </a:p>
          <a:p>
            <a:r>
              <a:t>https://www.astrazeneca.com/content/dam/az/Investor_Relations/annual-report-2022/pdf/AstraZeneca_AR_2022.pdf</a:t>
            </a:r>
          </a:p>
          <a:p/>
          <a:p>
            <a:r>
              <a:t>[21] Annual Report 2023</a:t>
            </a:r>
          </a:p>
          <a:p>
            <a:r>
              <a:t>https://www.astrazeneca.com/content/dam/az/Investor_Relations/annual-report-2023/pdf/AstraZeneca_AR_2023.pdf</a:t>
            </a:r>
          </a:p>
          <a:p/>
          <a:p>
            <a:r>
              <a:t>[22] Annual Report 2024</a:t>
            </a:r>
          </a:p>
          <a:p>
            <a:r>
              <a:t>https://www.astrazeneca.com/content/dam/az/Investor_Relations/annual-report-2024/pdf/AstraZeneca_AR_2024.pdf</a:t>
            </a:r>
          </a:p>
          <a:p/>
          <a:p>
            <a:r>
              <a:t>[23] Annual Report 2025</a:t>
            </a:r>
          </a:p>
          <a:p>
            <a:r>
              <a:t>https://www.astrazeneca.com/content/dam/az/Investor_Relations/annual-report-2025/pdf/AstraZeneca_AR_2025.pdf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AstraZeneca | Top 20 MNC Profiling | v2.2 | Prepared 22 October 2026.</a:t>
            </a:r>
          </a:p>
          <a:p>
            <a:r>
              <a:t>Financial period: five complete financial years 2021–2025, with H1 2026 separately identified. Revenue CAGR is reported nominal USD and uses four growth intervals: (2025 revenue / 2021 revenue)^(1/4)-1. It is not an organic or constant-currency CAGR; Alexion was consolidated from 21 July2021.</a:t>
            </a:r>
          </a:p>
          <a:p>
            <a:r>
              <a:t>Pipeline snapshot: official website and clinical appendix as of 27July2026. Website entries are programs/indications, not unique drug candidates. Company-reported late-stage NME counts use its own definitions. Under review means one or more major markets and does not imply a US NDA/BLA for every asset.</a:t>
            </a:r>
          </a:p>
          <a:p>
            <a:r>
              <a:t>BD period: 1Jan2022–21Oct2026. The coded register contains 30 publicly disclosed drug/platform transaction records identified from official annual-report BD/acquisition sections and official press releases. This is a documented cohort, not an exhaustive company-wide deal census. Counts and category mixes apply only to this cohort. One record per substantive agreement/control transaction; announcement and completion of the same agreement are not double-counted. Separate CSPC agreements and separate Summit clinical agreements are separate records. LogicBio/FibroGen China use closing date; SixPeaks uses the 2025 buyout exercise; timing basis is disclosed per row.</a:t>
            </a:r>
          </a:p>
          <a:p>
            <a:r>
              <a:t>For charts, each transaction has one primary type, TA and modality. Secondary TAs are retained in Excel; thus overlapping clinical indications are not summed as multiple deals. Individual targets not disclosed or not singled out in a platform agreement are explicitly marked. No implied CStone recommendations or partnering-demand assertions are included.</a:t>
            </a:r>
          </a:p>
          <a:p/>
          <a:p>
            <a:r>
              <a:t>Slide 2 revised v2.2: US expiry is used as the representative timing benchmark under the analytical assumption requested by the user; no equivalence of country-specific patents is asserted.</a:t>
            </a:r>
          </a:p>
          <a:p>
            <a:r>
              <a:t>Stacked columns: ten highest FY2025 standalone PR products, with Imjudo additionally consolidated into the Imfinzi series for historical comparability. Exact matrix is in the companion workbook. Product Revenue is sales + alliance, excluding milestone collaboration revenue. Remaining products and collaboration revenue are a reconciling Others series. Total bar heights equal company Total Revenue.</a:t>
            </a:r>
          </a:p>
          <a:p>
            <a:r>
              <a:t>Enhertu: 2021 sales17+alliance193=210; 2022 sales79+alliance519=598; 2023 sales261+alliance1022=1283; 2024 PR1982; 2025 PR2775 ($m). The 2021/2022 announcements classified alliance amounts within Collaboration Revenue; those explicitly identified profit shares are reclassified into PR for this chart.</a:t>
            </a:r>
          </a:p>
          <a:p>
            <a:r>
              <a:t>Lynparza: 2024 total revenue3672 less collaboration milestone600 = PR3072. Farxiga: 2024 total7717 less collaboration56=PR7661. Imfinzi/Imjudo: 2021 2412; 2022 combined2784; 2023 combined4237; 2024 4717+281=4998; 2025 6063+346=6409. Right calendar retains standalone Imfinzi PR6063 and its US2031 NME expiry; Imjudo is not an additional &gt;=$1bn product.</a:t>
            </a:r>
          </a:p>
          <a:p>
            <a:r>
              <a:t>FY2025 core-series share: 0.7330904509780555. CAGR=(58739/37417)^(1/4)-1. 2021 includes Alexion only from21July; Rare Disease growth therefore includes the consolidation effect. Segment labels below$4bn suppressed for legibility; values remain in editable chart data. Annual total labels are ordinary editable text boxes; update those when changing the data.</a:t>
            </a:r>
          </a:p>
          <a:p>
            <a:r>
              <a:t>Right table: all15 medicines with FY2025 standalone PR &gt;=$1bn, sorted by earliest displayed US expiry. NME patents shown unless marked other; Symbicort pMDI. Ranges retain multiple disclosed expiries. Soliris licensed US biosimilar entry Mar2025 is shown separately from NME2027.</a:t>
            </a:r>
          </a:p>
          <a:p>
            <a:r>
              <a:t>Renewal strip is a selected same-TA cross-reference, not a claim of like-for-like substitution, matching indication or revenue coverage. Stages are the27July2026 official pipeline snapshot (website PhaseIII category can include regional/approved programs); under review means one or more major markets. Further assets and targets are on page3.</a:t>
            </a:r>
          </a:p>
          <a:p>
            <a:r>
              <a:t>Five-year matrix US$m:</a:t>
            </a:r>
          </a:p>
          <a:p>
            <a:r>
              <a:t>{</a:t>
            </a:r>
          </a:p>
          <a:p>
            <a:r>
              <a:t>  "years": [</a:t>
            </a:r>
          </a:p>
          <a:p>
            <a:r>
              <a:t>    2021,</a:t>
            </a:r>
          </a:p>
          <a:p>
            <a:r>
              <a:t>    2022,</a:t>
            </a:r>
          </a:p>
          <a:p>
            <a:r>
              <a:t>    2023,</a:t>
            </a:r>
          </a:p>
          <a:p>
            <a:r>
              <a:t>    2024,</a:t>
            </a:r>
          </a:p>
          <a:p>
            <a:r>
              <a:t>    2025</a:t>
            </a:r>
          </a:p>
          <a:p>
            <a:r>
              <a:t>  ],</a:t>
            </a:r>
          </a:p>
          <a:p>
            <a:r>
              <a:t>  "total": [</a:t>
            </a:r>
          </a:p>
          <a:p>
            <a:r>
              <a:t>    37417,</a:t>
            </a:r>
          </a:p>
          <a:p>
            <a:r>
              <a:t>    44351,</a:t>
            </a:r>
          </a:p>
          <a:p>
            <a:r>
              <a:t>    45811,</a:t>
            </a:r>
          </a:p>
          <a:p>
            <a:r>
              <a:t>    54073,</a:t>
            </a:r>
          </a:p>
          <a:p>
            <a:r>
              <a:t>    58739</a:t>
            </a:r>
          </a:p>
          <a:p>
            <a:r>
              <a:t>  ],</a:t>
            </a:r>
          </a:p>
          <a:p>
            <a:r>
              <a:t>  "products": {</a:t>
            </a:r>
          </a:p>
          <a:p>
            <a:r>
              <a:t>    "Tagrisso": [</a:t>
            </a:r>
          </a:p>
          <a:p>
            <a:r>
              <a:t>      5015,</a:t>
            </a:r>
          </a:p>
          <a:p>
            <a:r>
              <a:t>      5444,</a:t>
            </a:r>
          </a:p>
          <a:p>
            <a:r>
              <a:t>      5799,</a:t>
            </a:r>
          </a:p>
          <a:p>
            <a:r>
              <a:t>      6580,</a:t>
            </a:r>
          </a:p>
          <a:p>
            <a:r>
              <a:t>      7254</a:t>
            </a:r>
          </a:p>
          <a:p>
            <a:r>
              <a:t>    ],</a:t>
            </a:r>
          </a:p>
          <a:p>
            <a:r>
              <a:t>    "Imfinzi / Imjudo": [</a:t>
            </a:r>
          </a:p>
          <a:p>
            <a:r>
              <a:t>      2412,</a:t>
            </a:r>
          </a:p>
          <a:p>
            <a:r>
              <a:t>      2784,</a:t>
            </a:r>
          </a:p>
          <a:p>
            <a:r>
              <a:t>      4237,</a:t>
            </a:r>
          </a:p>
          <a:p>
            <a:r>
              <a:t>      4998,</a:t>
            </a:r>
          </a:p>
          <a:p>
            <a:r>
              <a:t>      6409</a:t>
            </a:r>
          </a:p>
          <a:p>
            <a:r>
              <a:t>    ],</a:t>
            </a:r>
          </a:p>
          <a:p>
            <a:r>
              <a:t>    "Calquence": [</a:t>
            </a:r>
          </a:p>
          <a:p>
            <a:r>
              <a:t>      1238,</a:t>
            </a:r>
          </a:p>
          <a:p>
            <a:r>
              <a:t>      2057,</a:t>
            </a:r>
          </a:p>
          <a:p>
            <a:r>
              <a:t>      2514,</a:t>
            </a:r>
          </a:p>
          <a:p>
            <a:r>
              <a:t>      3129,</a:t>
            </a:r>
          </a:p>
          <a:p>
            <a:r>
              <a:t>      3518</a:t>
            </a:r>
          </a:p>
          <a:p>
            <a:r>
              <a:t>    ],</a:t>
            </a:r>
          </a:p>
          <a:p>
            <a:r>
              <a:t>    "Lynparza": [</a:t>
            </a:r>
          </a:p>
          <a:p>
            <a:r>
              <a:t>      2348,</a:t>
            </a:r>
          </a:p>
          <a:p>
            <a:r>
              <a:t>      2638,</a:t>
            </a:r>
          </a:p>
          <a:p>
            <a:r>
              <a:t>      2811,</a:t>
            </a:r>
          </a:p>
          <a:p>
            <a:r>
              <a:t>      3072,</a:t>
            </a:r>
          </a:p>
          <a:p>
            <a:r>
              <a:t>      3279</a:t>
            </a:r>
          </a:p>
          <a:p>
            <a:r>
              <a:t>    ],</a:t>
            </a:r>
          </a:p>
          <a:p>
            <a:r>
              <a:t>    "Enhertu": [</a:t>
            </a:r>
          </a:p>
          <a:p>
            <a:r>
              <a:t>      210,</a:t>
            </a:r>
          </a:p>
          <a:p>
            <a:r>
              <a:t>      598,</a:t>
            </a:r>
          </a:p>
          <a:p>
            <a:r>
              <a:t>      1283,</a:t>
            </a:r>
          </a:p>
          <a:p>
            <a:r>
              <a:t>      1982,</a:t>
            </a:r>
          </a:p>
          <a:p>
            <a:r>
              <a:t>      2775</a:t>
            </a:r>
          </a:p>
          <a:p>
            <a:r>
              <a:t>    ],</a:t>
            </a:r>
          </a:p>
          <a:p>
            <a:r>
              <a:t>    "Farxiga": [</a:t>
            </a:r>
          </a:p>
          <a:p>
            <a:r>
              <a:t>      3000,</a:t>
            </a:r>
          </a:p>
          <a:p>
            <a:r>
              <a:t>      4381,</a:t>
            </a:r>
          </a:p>
          <a:p>
            <a:r>
              <a:t>      5963,</a:t>
            </a:r>
          </a:p>
          <a:p>
            <a:r>
              <a:t>      7661,</a:t>
            </a:r>
          </a:p>
          <a:p>
            <a:r>
              <a:t>      8405</a:t>
            </a:r>
          </a:p>
          <a:p>
            <a:r>
              <a:t>    ],</a:t>
            </a:r>
          </a:p>
          <a:p>
            <a:r>
              <a:t>    "Symbicort": [</a:t>
            </a:r>
          </a:p>
          <a:p>
            <a:r>
              <a:t>      2728,</a:t>
            </a:r>
          </a:p>
          <a:p>
            <a:r>
              <a:t>      2538,</a:t>
            </a:r>
          </a:p>
          <a:p>
            <a:r>
              <a:t>      2362,</a:t>
            </a:r>
          </a:p>
          <a:p>
            <a:r>
              <a:t>      2879,</a:t>
            </a:r>
          </a:p>
          <a:p>
            <a:r>
              <a:t>      2885</a:t>
            </a:r>
          </a:p>
          <a:p>
            <a:r>
              <a:t>    ],</a:t>
            </a:r>
          </a:p>
          <a:p>
            <a:r>
              <a:t>    "Fasenra": [</a:t>
            </a:r>
          </a:p>
          <a:p>
            <a:r>
              <a:t>      1258,</a:t>
            </a:r>
          </a:p>
          <a:p>
            <a:r>
              <a:t>      1396,</a:t>
            </a:r>
          </a:p>
          <a:p>
            <a:r>
              <a:t>      1553,</a:t>
            </a:r>
          </a:p>
          <a:p>
            <a:r>
              <a:t>      1689,</a:t>
            </a:r>
          </a:p>
          <a:p>
            <a:r>
              <a:t>      1981</a:t>
            </a:r>
          </a:p>
          <a:p>
            <a:r>
              <a:t>    ],</a:t>
            </a:r>
          </a:p>
          <a:p>
            <a:r>
              <a:t>    "Ultomiris": [</a:t>
            </a:r>
          </a:p>
          <a:p>
            <a:r>
              <a:t>      688,</a:t>
            </a:r>
          </a:p>
          <a:p>
            <a:r>
              <a:t>      1965,</a:t>
            </a:r>
          </a:p>
          <a:p>
            <a:r>
              <a:t>      2965,</a:t>
            </a:r>
          </a:p>
          <a:p>
            <a:r>
              <a:t>      3924,</a:t>
            </a:r>
          </a:p>
          <a:p>
            <a:r>
              <a:t>      4718</a:t>
            </a:r>
          </a:p>
          <a:p>
            <a:r>
              <a:t>    ],</a:t>
            </a:r>
          </a:p>
          <a:p>
            <a:r>
              <a:t>    "Soliris": [</a:t>
            </a:r>
          </a:p>
          <a:p>
            <a:r>
              <a:t>      1874,</a:t>
            </a:r>
          </a:p>
          <a:p>
            <a:r>
              <a:t>      3762,</a:t>
            </a:r>
          </a:p>
          <a:p>
            <a:r>
              <a:t>      3145,</a:t>
            </a:r>
          </a:p>
          <a:p>
            <a:r>
              <a:t>      2588,</a:t>
            </a:r>
          </a:p>
          <a:p>
            <a:r>
              <a:t>      1837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"others": [</a:t>
            </a:r>
          </a:p>
          <a:p>
            <a:r>
              <a:t>    16646,</a:t>
            </a:r>
          </a:p>
          <a:p>
            <a:r>
              <a:t>    16788,</a:t>
            </a:r>
          </a:p>
          <a:p>
            <a:r>
              <a:t>    13179,</a:t>
            </a:r>
          </a:p>
          <a:p>
            <a:r>
              <a:t>    15571,</a:t>
            </a:r>
          </a:p>
          <a:p>
            <a:r>
              <a:t>    15678</a:t>
            </a:r>
          </a:p>
          <a:p>
            <a:r>
              <a:t>  ]</a:t>
            </a:r>
          </a:p>
          <a:p>
            <a:r>
              <a:t>}</a:t>
            </a:r>
          </a:p>
          <a:p/>
          <a:p>
            <a:r>
              <a:t>SOURCES (retrieved 22Oct2026):</a:t>
            </a:r>
          </a:p>
          <a:p>
            <a:r>
              <a:t>[2] FY &amp; Q4 2025 results, 10 Feb 2026</a:t>
            </a:r>
          </a:p>
          <a:p>
            <a:r>
              <a:t>https://www.astrazeneca.com/content/dam/az/PDF/2025/Q4-FY/Full-year-Q4-2025-results-announcement.pdf</a:t>
            </a:r>
          </a:p>
          <a:p/>
          <a:p>
            <a:r>
              <a:t>[3] Patent Expiries of Key Marketed Products, as at 10 Feb 2026</a:t>
            </a:r>
          </a:p>
          <a:p>
            <a:r>
              <a:t>https://www.astrazeneca.com/content/dam/az/Investor_Relations/annual-report-2025/pdf/AstraZeneca_Patent_Expiries_of_Key_Marketed_Products_2025.pdf</a:t>
            </a:r>
          </a:p>
          <a:p/>
          <a:p>
            <a:r>
              <a:t>[4] Official pipeline, as of 27 Jul 2026</a:t>
            </a:r>
          </a:p>
          <a:p>
            <a:r>
              <a:t>https://www.astrazeneca.com/our-therapy-areas/pipeline.html</a:t>
            </a:r>
          </a:p>
          <a:p/>
          <a:p>
            <a:r>
              <a:t>[15] FY2021 results</a:t>
            </a:r>
          </a:p>
          <a:p>
            <a:r>
              <a:t>https://www.astrazeneca.com/content/dam/az/PDF/2021/full-year/Full-year-2021-results-announcement.pdf</a:t>
            </a:r>
          </a:p>
          <a:p/>
          <a:p>
            <a:r>
              <a:t>[16] FY2022 results</a:t>
            </a:r>
          </a:p>
          <a:p>
            <a:r>
              <a:t>https://www.astrazeneca.com/content/dam/az/PDF/2022/fy/Full-year-and-Q4-2022-results-announcement.pdf</a:t>
            </a:r>
          </a:p>
          <a:p/>
          <a:p>
            <a:r>
              <a:t>[17] FY2023 results</a:t>
            </a:r>
          </a:p>
          <a:p>
            <a:r>
              <a:t>https://www.astrazeneca.com/content/dam/az/PDF/2023/fy/Full-year-and-Q4-2023-results-announcement.pdf</a:t>
            </a:r>
          </a:p>
          <a:p/>
          <a:p>
            <a:r>
              <a:t>[18] FY2024 results</a:t>
            </a:r>
          </a:p>
          <a:p>
            <a:r>
              <a:t>https://www.astrazeneca.com/content/dam/az/PDF/2024/fy/Full-year-and-Q4-2024-results-announcement.pdf</a:t>
            </a:r>
          </a:p>
          <a:p/>
          <a:p>
            <a:r>
              <a:t>[19] H1 2026 clinical trials appendix, 27 Jul 2026</a:t>
            </a:r>
          </a:p>
          <a:p>
            <a:r>
              <a:t>https://www.astrazeneca.com/content/dam/az/PDF/2026/h1q2/H1-and-Q2-2026-results-clinical-trials-appendix.pdf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AstraZeneca | Top 20 MNC Profiling | v2.1 | Prepared 22 October 2026.</a:t>
            </a:r>
          </a:p>
          <a:p>
            <a:r>
              <a:t>Financial period: five complete financial years 2021–2025, with H1 2026 separately identified. Revenue CAGR is reported nominal USD and uses four growth intervals: (2025 revenue / 2021 revenue)^(1/4)-1. It is not an organic or constant-currency CAGR; Alexion was consolidated from 21 July2021.</a:t>
            </a:r>
          </a:p>
          <a:p>
            <a:r>
              <a:t>Pipeline snapshot: official website and clinical appendix as of 27July2026. Website entries are programs/indications, not unique drug candidates. Company-reported late-stage NME counts use its own definitions. Under review means one or more major markets and does not imply a US NDA/BLA for every asset.</a:t>
            </a:r>
          </a:p>
          <a:p>
            <a:r>
              <a:t>BD period: 1Jan2022–21Oct2026. The coded register contains 30 publicly disclosed drug/platform transaction records identified from official annual-report BD/acquisition sections and official press releases. This is a documented cohort, not an exhaustive company-wide deal census. Counts and category mixes apply only to this cohort. One record per substantive agreement/control transaction; announcement and completion of the same agreement are not double-counted. Separate CSPC agreements and separate Summit clinical agreements are separate records. LogicBio/FibroGen China use closing date; SixPeaks uses the 2025 buyout exercise; timing basis is disclosed per row.</a:t>
            </a:r>
          </a:p>
          <a:p>
            <a:r>
              <a:t>For charts, each transaction has one primary type, TA and modality. Secondary TAs are retained in Excel; thus overlapping clinical indications are not summed as multiple deals. Individual targets not disclosed or not singled out in a platform agreement are explicitly marked. No implied CStone recommendations or partnering-demand assertions are included.</a:t>
            </a:r>
          </a:p>
          <a:p/>
          <a:p>
            <a:r>
              <a:t>Structured website extraction:191entries total,183with active stage and8removed entries. Active stages:PhaseI39;PhaseII37;PhaseIII45;LCM62. PhaseIII counts:Oncology28;CVRM8;R&amp;I4;Rare5. These are website entries, not unique assets or trial counts.</a:t>
            </a:r>
          </a:p>
          <a:p>
            <a:r>
              <a:t>Displayed PhaseIII molecular/target map covers molecules represented in the site PhaseIII bucket, including regionally approved camizestrant, Baxfendy, Wainua, Saphnelo,Tezspire and Imfinzi/Imjudo. The stage can differ by indication/geography. Combination components and alternative indications are not added to create a new unique-asset headline.</a:t>
            </a:r>
          </a:p>
          <a:p>
            <a:r>
              <a:t>First-registration/under-review NME list in July clinical appendix:tozorakimab(IL33,COPD),anselamimab(fibril-reactive mAb,ALamyloidosis),efzimfotasealfa(TNSALP enzyme replacement,HPP),gefurulimab(C5,gMG). These refer to at least one major market, not universallyUSNDA/BLA. Company headline late-stageNMEs21 remains independently company-reported and is not equated to the45entry count. All active and removed website records, all45PhaseIII records and all62LCM records are preserved with original names/indications in Excel.</a:t>
            </a:r>
          </a:p>
          <a:p/>
          <a:p>
            <a:r>
              <a:t>SOURCES (retrieved 22Oct2026):</a:t>
            </a:r>
          </a:p>
          <a:p>
            <a:r>
              <a:t>[4] Official pipeline, as of 27 Jul 2026</a:t>
            </a:r>
          </a:p>
          <a:p>
            <a:r>
              <a:t>https://www.astrazeneca.com/our-therapy-areas/pipeline.html</a:t>
            </a:r>
          </a:p>
          <a:p/>
          <a:p>
            <a:r>
              <a:t>[19] H1 2026 clinical trials appendix, 27 Jul 2026</a:t>
            </a:r>
          </a:p>
          <a:p>
            <a:r>
              <a:t>https://www.astrazeneca.com/content/dam/az/PDF/2026/h1q2/H1-and-Q2-2026-results-clinical-trials-appendix.pdf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AstraZeneca | Top 20 MNC Profiling | v2.1 | Prepared 22 October 2026.</a:t>
            </a:r>
          </a:p>
          <a:p>
            <a:r>
              <a:t>Financial period: five complete financial years 2021–2025, with H1 2026 separately identified. Revenue CAGR is reported nominal USD and uses four growth intervals: (2025 revenue / 2021 revenue)^(1/4)-1. It is not an organic or constant-currency CAGR; Alexion was consolidated from 21 July2021.</a:t>
            </a:r>
          </a:p>
          <a:p>
            <a:r>
              <a:t>Pipeline snapshot: official website and clinical appendix as of 27July2026. Website entries are programs/indications, not unique drug candidates. Company-reported late-stage NME counts use its own definitions. Under review means one or more major markets and does not imply a US NDA/BLA for every asset.</a:t>
            </a:r>
          </a:p>
          <a:p>
            <a:r>
              <a:t>BD period: 1Jan2022–21Oct2026. The coded register contains 30 publicly disclosed drug/platform transaction records identified from official annual-report BD/acquisition sections and official press releases. This is a documented cohort, not an exhaustive company-wide deal census. Counts and category mixes apply only to this cohort. One record per substantive agreement/control transaction; announcement and completion of the same agreement are not double-counted. Separate CSPC agreements and separate Summit clinical agreements are separate records. LogicBio/FibroGen China use closing date; SixPeaks uses the 2025 buyout exercise; timing basis is disclosed per row.</a:t>
            </a:r>
          </a:p>
          <a:p>
            <a:r>
              <a:t>For charts, each transaction has one primary type, TA and modality. Secondary TAs are retained in Excel; thus overlapping clinical indications are not summed as multiple deals. Individual targets not disclosed or not singled out in a platform agreement are explicitly marked. No implied CStone recommendations or partnering-demand assertions are included.</a:t>
            </a:r>
          </a:p>
          <a:p/>
          <a:p>
            <a:r>
              <a:t>This page reproduces the complete four-area framework on H1presentationp24, paraphrased rather than independently selecting favorable examples. It is a company-highlighted investment framework, not an exhaustive description of every R&amp;D project.</a:t>
            </a:r>
          </a:p>
          <a:p>
            <a:r>
              <a:t>Weight management/CVrisk:laroprovstat firstPhaseIIIdataH12027;6elecoglipronPhaseIIItrials initiated;AZD6234PhaseIIreadoutH12026;AZD6234/AZD9550PhaseIIb expectedH22026.</a:t>
            </a:r>
          </a:p>
          <a:p>
            <a:r>
              <a:t>ADCs/radioconjugates:first positivePhaseIIIdataSone-VeCLARITY-Gastric01;firstpuxi-samdataH22027Bluestar-Endometrial01;first patients dosed torvu-sam/zada-guPhaseIIIQ22026.</a:t>
            </a:r>
          </a:p>
          <a:p>
            <a:r>
              <a:t>NextgenIObispecifics:16PhaseIIItrials across9tumortypes;5PhaseIIItrials in combinationwithADCs;subcutaneousrilvegostomigdevelopmentongoing. These are trial/program metrics, not counts of independent molecules.</a:t>
            </a:r>
          </a:p>
          <a:p>
            <a:r>
              <a:t>Celltherapy/TCE:AZD0120ongoingPhaseIIIrrMM, furtherPhaseIIIinitiatingnewlydiagnosed; surovatamig ongoingPhaseIIIFL/DLBCL;AZD0120 and surovatamig earlyautoimmune trials.</a:t>
            </a:r>
          </a:p>
          <a:p>
            <a:r>
              <a:t>Timings/forward-looking statements are the company’s July2026 outlook, not subsequently revalidated forecasts.</a:t>
            </a:r>
          </a:p>
          <a:p/>
          <a:p>
            <a:r>
              <a:t>SOURCES (retrieved 22Oct2026):</a:t>
            </a:r>
          </a:p>
          <a:p>
            <a:r>
              <a:t>[5] H1 &amp; Q2 2026 results presentation, 27 Jul 2026</a:t>
            </a:r>
          </a:p>
          <a:p>
            <a:r>
              <a:t>https://www.astrazeneca.com/content/dam/az/PDF/2026/h1q2/H1-and-Q2-2026-results-presentation.pdf</a:t>
            </a:r>
          </a:p>
          <a:p/>
          <a:p>
            <a:r>
              <a:t>[19] H1 2026 clinical trials appendix, 27 Jul 2026</a:t>
            </a:r>
          </a:p>
          <a:p>
            <a:r>
              <a:t>https://www.astrazeneca.com/content/dam/az/PDF/2026/h1q2/H1-and-Q2-2026-results-clinical-trials-appendix.pdf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AstraZeneca | Top 20 MNC Profiling | v2.1 | Prepared 22 October 2026.</a:t>
            </a:r>
          </a:p>
          <a:p>
            <a:r>
              <a:t>Financial period: five complete financial years 2021–2025, with H1 2026 separately identified. Revenue CAGR is reported nominal USD and uses four growth intervals: (2025 revenue / 2021 revenue)^(1/4)-1. It is not an organic or constant-currency CAGR; Alexion was consolidated from 21 July2021.</a:t>
            </a:r>
          </a:p>
          <a:p>
            <a:r>
              <a:t>Pipeline snapshot: official website and clinical appendix as of 27July2026. Website entries are programs/indications, not unique drug candidates. Company-reported late-stage NME counts use its own definitions. Under review means one or more major markets and does not imply a US NDA/BLA for every asset.</a:t>
            </a:r>
          </a:p>
          <a:p>
            <a:r>
              <a:t>BD period: 1Jan2022–21Oct2026. The coded register contains 30 publicly disclosed drug/platform transaction records identified from official annual-report BD/acquisition sections and official press releases. This is a documented cohort, not an exhaustive company-wide deal census. Counts and category mixes apply only to this cohort. One record per substantive agreement/control transaction; announcement and completion of the same agreement are not double-counted. Separate CSPC agreements and separate Summit clinical agreements are separate records. LogicBio/FibroGen China use closing date; SixPeaks uses the 2025 buyout exercise; timing basis is disclosed per row.</a:t>
            </a:r>
          </a:p>
          <a:p>
            <a:r>
              <a:t>For charts, each transaction has one primary type, TA and modality. Secondary TAs are retained in Excel; thus overlapping clinical indications are not summed as multiple deals. Individual targets not disclosed or not singled out in a platform agreement are explicitly marked. No implied CStone recommendations or partnering-demand assertions are included.</a:t>
            </a:r>
          </a:p>
          <a:p/>
          <a:p>
            <a:r>
              <a:t>All30records in companionExcel. Year counts:2022 6;2023 8;2024 3;2025 8;2026YTD5. Primary deal types:11acquisitions,8licenses/asset-rights,8research/option/licenses,1equity+clinical,2JV/clinical. Year table is based on announcement except expressly disclosed closing/buyoutexercise dates.</a:t>
            </a:r>
          </a:p>
          <a:p>
            <a:r>
              <a:t>PrimaryTAcounts:Oncology11;CVRM7;Rare4;Infectious3;I&amp;I1;Multi-TA/undisclosed4. Secondaryareas retained in raw register.</a:t>
            </a:r>
          </a:p>
          <a:p>
            <a:r>
              <a:t>Primarymodalitycounts:Smallmolecule7;Antibody6;Celltherapy4;Peptide3;Gene2;ADC2;Vaccine2;RC1;cell/geneplatform1;delivery1;discovery1. Mixed transactions assigned one primary modality, with asset/target description preserving additionalcomponents.</a:t>
            </a:r>
          </a:p>
          <a:p>
            <a:r>
              <a:t>17records disclose a specific target or targetpair/pathogen;13platform/multi-target records do not single out one target. Targetrow17 includes RSV/hMPV and SARSCoV2 antigen portfolios, not necessarily individually specified protein epitopes. Detailed literal target entries retained rather than backfilling undisclosedtargets from assumptions.</a:t>
            </a:r>
          </a:p>
          <a:p>
            <a:r>
              <a:t>The cohort containsasset/programandplatform/control deals; size and number of assets perdeal are not comparable. Do not infer target marketshare or company-wide annual transactionactivity from this sample.</a:t>
            </a:r>
          </a:p>
          <a:p/>
          <a:p>
            <a:r>
              <a:t>SOURCES (retrieved 22Oct2026):</a:t>
            </a:r>
          </a:p>
          <a:p>
            <a:r>
              <a:t>[6] Summit equity investment / clinical collaboration announced, 28 Sep 2026</a:t>
            </a:r>
          </a:p>
          <a:p>
            <a:r>
              <a:t>https://www.astrazeneca.com/media-centre/press-releases/2026/astrazeneca-announces-equity-investment-summit.html</a:t>
            </a:r>
          </a:p>
          <a:p/>
          <a:p>
            <a:r>
              <a:t>[8] Datroway + ivonescimab clinical collaboration, 2 Oct 2026</a:t>
            </a:r>
          </a:p>
          <a:p>
            <a:r>
              <a:t>https://www.astrazeneca.com/media-centre/press-releases/2026/az-ds-collaboration-with-summit-for-datroway.html</a:t>
            </a:r>
          </a:p>
          <a:p/>
          <a:p>
            <a:r>
              <a:t>[10] CSPC weight-management collaboration, 30 Jan 2026</a:t>
            </a:r>
          </a:p>
          <a:p>
            <a:r>
              <a:t>https://www.astrazeneca.com/media-centre/press-releases/2026/astrazeneca-agrees-obesity-and-t2d-deal-with-cspc.html</a:t>
            </a:r>
          </a:p>
          <a:p/>
          <a:p>
            <a:r>
              <a:t>[11] insitro discovery collaboration, 15 Oct 2026</a:t>
            </a:r>
          </a:p>
          <a:p>
            <a:r>
              <a:t>https://www.astrazeneca.com/media-centre/press-releases/2026/astrazeneca-announces-new-strategic-collaboration-with-insitro-for-difficult-to-treat-cardiometabolic-diseases.html</a:t>
            </a:r>
          </a:p>
          <a:p/>
          <a:p>
            <a:r>
              <a:t>[21] Annual Report 2023</a:t>
            </a:r>
          </a:p>
          <a:p>
            <a:r>
              <a:t>https://www.astrazeneca.com/content/dam/az/Investor_Relations/annual-report-2023/pdf/AstraZeneca_AR_2023.pdf</a:t>
            </a:r>
          </a:p>
          <a:p/>
          <a:p>
            <a:r>
              <a:t>[23] Annual Report 2025</a:t>
            </a:r>
          </a:p>
          <a:p>
            <a:r>
              <a:t>https://www.astrazeneca.com/content/dam/az/Investor_Relations/annual-report-2025/pdf/AstraZeneca_AR_2025.pdf</a:t>
            </a:r>
          </a:p>
          <a:p/>
          <a:p>
            <a:r>
              <a:t>[24] Neurimmune — official transaction disclosure</a:t>
            </a:r>
          </a:p>
          <a:p>
            <a:r>
              <a:t>https://www.astrazeneca.com/media-centre/press-releases/2022/astrazeneca-and-neurimmune-sign-deal-for-ni006.html</a:t>
            </a:r>
          </a:p>
          <a:p/>
          <a:p>
            <a:r>
              <a:t>[25] Scorpion — official transaction disclosure</a:t>
            </a:r>
          </a:p>
          <a:p>
            <a:r>
              <a:t>https://www.astrazeneca.com/media-centre/press-releases/2022/astrazeneca-and-scorpion-therapeutics-enter-agreement-to-discover-develop-and-commercialise-novel-cancer-treatments-against-undruggable-targets.html</a:t>
            </a:r>
          </a:p>
          <a:p/>
          <a:p>
            <a:r>
              <a:t>[26] RQ Biotechnology — official transaction disclosure</a:t>
            </a:r>
          </a:p>
          <a:p>
            <a:r>
              <a:t>https://www.astrazeneca.com/media-centre/press-releases/2022/astrazeneca-signs-licence-agreement-with-rq-biotechnology-for-monoclonal-antibodies-against-covid-19.html</a:t>
            </a:r>
          </a:p>
          <a:p/>
          <a:p>
            <a:r>
              <a:t>[27] TeneoTwo — official transaction disclosure</a:t>
            </a:r>
          </a:p>
          <a:p>
            <a:r>
              <a:t>https://www.astrazeneca.com/media-centre/press-releases/2022/astrazeneca-to-acquire-teneotwo-and-t-cell-engager.html</a:t>
            </a:r>
          </a:p>
          <a:p/>
          <a:p>
            <a:r>
              <a:t>[28] Neogene — official transaction disclosure</a:t>
            </a:r>
          </a:p>
          <a:p>
            <a:r>
              <a:t>https://www.astrazeneca.com/media-centre/press-releases/2022/astrazeneca-to-acquire-neogene-therapeutics-accelerating-ambition-in-oncology-cell-therapy.html</a:t>
            </a:r>
          </a:p>
          <a:p/>
          <a:p>
            <a:r>
              <a:t>[29] CinCor — official transaction disclosure</a:t>
            </a:r>
          </a:p>
          <a:p>
            <a:r>
              <a:t>https://www.astrazeneca.com/media-centre/press-releases/2023/astrazeneca-acquire-cincor-for-cardiorenal-asset.html</a:t>
            </a:r>
          </a:p>
          <a:p/>
          <a:p>
            <a:r>
              <a:t>[30] KYM Biosciences — official transaction disclosure</a:t>
            </a:r>
          </a:p>
          <a:p>
            <a:r>
              <a:t>https://www.astrazeneca.com/media-centre/press-releases/2023/astrazeneca-enters-license-agreement-with-kym-biosciences-for-cmg901-a-claudin-182-antibody-drug-conjugate.html</a:t>
            </a:r>
          </a:p>
          <a:p/>
          <a:p>
            <a:r>
              <a:t>[31] Quell — official transaction disclosure</a:t>
            </a:r>
          </a:p>
          <a:p>
            <a:r>
              <a:t>https://www.astrazeneca.com/media-centre/press-releases/2023/astrazeneca-agreement-with-quell-therapeutics.html</a:t>
            </a:r>
          </a:p>
          <a:p/>
          <a:p>
            <a:r>
              <a:t>[32] Pfizer portfolio — official transaction disclosure</a:t>
            </a:r>
          </a:p>
          <a:p>
            <a:r>
              <a:t>https://www.astrazeneca.com/media-centre/press-releases/2023/alexion-enters-gene-therapy-agreement-with-pfizer.html</a:t>
            </a:r>
          </a:p>
          <a:p/>
          <a:p>
            <a:r>
              <a:t>[33] Cellectis — official transaction disclosure</a:t>
            </a:r>
          </a:p>
          <a:p>
            <a:r>
              <a:t>https://www.astrazeneca.com/media-centre/press-releases/2023/astrazeneca-cell-and-gene-therapy-deal-w-cellectis.html</a:t>
            </a:r>
          </a:p>
          <a:p/>
          <a:p>
            <a:r>
              <a:t>[34] Eccogene — official transaction disclosure</a:t>
            </a:r>
          </a:p>
          <a:p>
            <a:r>
              <a:t>https://www.astrazeneca.com/media-centre/press-releases/2023/agreement-with-eccogene-for-clinical-stage-glp-1ra.html</a:t>
            </a:r>
          </a:p>
          <a:p/>
          <a:p>
            <a:r>
              <a:t>[35] Icosavax — official transaction disclosure</a:t>
            </a:r>
          </a:p>
          <a:p>
            <a:r>
              <a:t>https://www.astrazeneca.com/media-centre/press-releases/2023/astrazeneca-to-acquire-icosavax-including-potential-first-in-class-rsv-and-hmpv-combination-vaccine-with-positive-phase-ii-data.html</a:t>
            </a:r>
          </a:p>
          <a:p/>
          <a:p>
            <a:r>
              <a:t>[36] Gracell — official transaction disclosure</a:t>
            </a:r>
          </a:p>
          <a:p>
            <a:r>
              <a:t>https://www.astrazeneca.com/media-centre/press-releases/2023/astrazeneca-to-acquire-gracell-furthering-cell-therapy-ambition-across-oncology-and-autoimmune-diseases.html</a:t>
            </a:r>
          </a:p>
          <a:p/>
          <a:p>
            <a:r>
              <a:t>[37] Amolyt — official transaction disclosure</a:t>
            </a:r>
          </a:p>
          <a:p>
            <a:r>
              <a:t>https://www.astrazeneca.com/media-centre/press-releases/2024/astrazeneca-to-acquire-amolyt.html</a:t>
            </a:r>
          </a:p>
          <a:p/>
          <a:p>
            <a:r>
              <a:t>[38] Fusion — official transaction disclosure</a:t>
            </a:r>
          </a:p>
          <a:p>
            <a:r>
              <a:t>https://www.astrazeneca.com/media-centre/press-releases/2024/astrazeneca-to-acquire-fusion.html</a:t>
            </a:r>
          </a:p>
          <a:p/>
          <a:p>
            <a:r>
              <a:t>[39] CSPC | Lp(a) — official transaction disclosure</a:t>
            </a:r>
          </a:p>
          <a:p>
            <a:r>
              <a:t>https://www.astrazeneca.com/media-centre/press-releases/2024/astrazeneca-licenses-lipid-lowering-lpa-asset.html</a:t>
            </a:r>
          </a:p>
          <a:p/>
          <a:p>
            <a:r>
              <a:t>[40] Alteogen — official transaction disclosure</a:t>
            </a:r>
          </a:p>
          <a:p>
            <a:r>
              <a:t>https://www.astrazeneca.com/media-centre/press-releases/2025/astrazeneca-enters-license-agreement-with-alteogen-for-subcutaneous-formulations-of-multiple-oncology-assets.html</a:t>
            </a:r>
          </a:p>
          <a:p/>
          <a:p>
            <a:r>
              <a:t>[41] EsoBiotec — official transaction disclosure</a:t>
            </a:r>
          </a:p>
          <a:p>
            <a:r>
              <a:t>https://www.astrazeneca.com/media-centre/press-releases/2025/astrazeneca-to-acquire-esobiotec.html</a:t>
            </a:r>
          </a:p>
          <a:p/>
          <a:p>
            <a:r>
              <a:t>[42] Harbour BioMed — official transaction disclosure</a:t>
            </a:r>
          </a:p>
          <a:p>
            <a:r>
              <a:t>https://www.astrazeneca.com/media-centre/press-releases/2025/astrazeneca-invests-2-and-half-bn-in-beijing-r-and-d-and-manufacturing.html</a:t>
            </a:r>
          </a:p>
          <a:p/>
          <a:p>
            <a:r>
              <a:t>[43] CSPC | discovery — official transaction disclosure</a:t>
            </a:r>
          </a:p>
          <a:p>
            <a:r>
              <a:t>https://www.astrazeneca.com/media-centre/press-releases/2025/astrazeneca-enters-into-collaboration-with-cspc.html</a:t>
            </a:r>
          </a:p>
          <a:p/>
          <a:p>
            <a:r>
              <a:t>[44] Dizal — official transaction disclosure</a:t>
            </a:r>
          </a:p>
          <a:p>
            <a:r>
              <a:t>https://www.astrazeneca.com/media-centre/press-releases/2026/astrazeneca-licenses-novel-egfr-inhibitor.html</a:t>
            </a:r>
          </a:p>
          <a:p>
            <a:r>
              <a:t>v2.1 compatibility repair: chart axis IDs reassigned to small positive integers. Five annual total labels are standard editable text boxes; if the BD register changes, update these totals along with the chart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188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6757C"/>
                </a:solidFill>
                <a:latin typeface="Arial"/>
              </a:defRPr>
            </a:pPr>
            <a:r>
              <a:t>TOP 20 MNC PROFILING  /  ASTRAZENECA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118872"/>
            <a:ext cx="3886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6757C"/>
                </a:solidFill>
                <a:latin typeface="Arial"/>
              </a:defRPr>
            </a:pPr>
            <a:r>
              <a:t>22 OCT 2026  |  v2.2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4805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227C9D"/>
                </a:solidFill>
                <a:latin typeface="Arial"/>
              </a:defRPr>
            </a:pPr>
            <a:r>
              <a:t>1 -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41832"/>
            <a:ext cx="113385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50" b="0">
                <a:solidFill>
                  <a:srgbClr val="3C3C3C"/>
                </a:solidFill>
                <a:latin typeface="Arial"/>
              </a:defRPr>
            </a:pPr>
            <a:r>
              <a:t>Revenue growth, US patent expiry profile, late-stage assets and disclosed R&amp;D priorities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44752"/>
            <a:ext cx="11338560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391656"/>
            <a:ext cx="110185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770" b="0">
                <a:solidFill>
                  <a:srgbClr val="66757C"/>
                </a:solidFill>
                <a:latin typeface="Arial"/>
              </a:defRPr>
            </a:pPr>
            <a:r>
              <a:t>[1–5,15–23] AZ financial / pipeline disclosures; BD counts refer to the 30-record source-linked cohort, 2022–2026 YTD. CAGR: reported USD, 2021–2025.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75120"/>
            <a:ext cx="10698480" cy="100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720" b="0">
                <a:solidFill>
                  <a:srgbClr val="66757C"/>
                </a:solidFill>
                <a:latin typeface="Arial"/>
              </a:defRPr>
            </a:pPr>
            <a:r>
              <a:t>Source URLs, definitions and detailed data are included in the slide notes and the companion Excel workbook.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20256"/>
            <a:ext cx="274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6757C"/>
                </a:solidFill>
                <a:latin typeface="Arial"/>
              </a:defRPr>
            </a:pPr>
            <a:r>
              <a:t>1</a:t>
            </a:r>
          </a:p>
        </p:txBody>
      </p:sp>
      <p:pic>
        <p:nvPicPr>
          <p:cNvPr id="10" name="Picture 9" descr="cston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1752" y="6611112"/>
            <a:ext cx="201168" cy="16459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1691640"/>
            <a:ext cx="2743200" cy="932688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25054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1">
                <a:solidFill>
                  <a:srgbClr val="66757C"/>
                </a:solidFill>
                <a:latin typeface="Arial"/>
              </a:defRPr>
            </a:pPr>
            <a:r>
              <a:t>FY2025 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011680"/>
            <a:ext cx="250545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003366"/>
                </a:solidFill>
                <a:latin typeface="Arial"/>
              </a:defRPr>
            </a:pPr>
            <a:r>
              <a:t>$58.7bn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414016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69" b="0">
                <a:solidFill>
                  <a:srgbClr val="66757C"/>
                </a:solidFill>
                <a:latin typeface="Arial"/>
              </a:defRPr>
            </a:pPr>
            <a:r>
              <a:t>2021: $37.4bn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3552" y="1691640"/>
            <a:ext cx="2743200" cy="932688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92424" y="1810512"/>
            <a:ext cx="25054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1">
                <a:solidFill>
                  <a:srgbClr val="66757C"/>
                </a:solidFill>
                <a:latin typeface="Arial"/>
              </a:defRPr>
            </a:pPr>
            <a:r>
              <a:t>2021–2025 REVENUE CAGR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2424" y="2011680"/>
            <a:ext cx="250545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003366"/>
                </a:solidFill>
                <a:latin typeface="Arial"/>
              </a:defRPr>
            </a:pPr>
            <a:r>
              <a:t>11.9%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2424" y="2414016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69" b="0">
                <a:solidFill>
                  <a:srgbClr val="66757C"/>
                </a:solidFill>
                <a:latin typeface="Arial"/>
              </a:defRPr>
            </a:pPr>
            <a:r>
              <a:t>Reported USD; four growth intervals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5624" y="1691640"/>
            <a:ext cx="2743200" cy="932688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4496" y="1810512"/>
            <a:ext cx="25054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1">
                <a:solidFill>
                  <a:srgbClr val="66757C"/>
                </a:solidFill>
                <a:latin typeface="Arial"/>
              </a:defRPr>
            </a:pPr>
            <a:r>
              <a:t>LATE-STAGE NMEs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2011680"/>
            <a:ext cx="250545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003366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414016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69" b="0">
                <a:solidFill>
                  <a:srgbClr val="66757C"/>
                </a:solidFill>
                <a:latin typeface="Arial"/>
              </a:defRPr>
            </a:pPr>
            <a:r>
              <a:t>Company-reported, Jul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7696" y="1691640"/>
            <a:ext cx="2752344" cy="932688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8" y="1810512"/>
            <a:ext cx="2514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1">
                <a:solidFill>
                  <a:srgbClr val="66757C"/>
                </a:solidFill>
                <a:latin typeface="Arial"/>
              </a:defRPr>
            </a:pPr>
            <a:r>
              <a:t>NMEs UNDER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8" y="2011680"/>
            <a:ext cx="25146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003366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8" y="2414016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69" b="0">
                <a:solidFill>
                  <a:srgbClr val="66757C"/>
                </a:solidFill>
                <a:latin typeface="Arial"/>
              </a:defRPr>
            </a:pPr>
            <a:r>
              <a:t>One or more major markets, Jul 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898648"/>
            <a:ext cx="1920240" cy="502920"/>
          </a:xfrm>
          <a:prstGeom prst="rect">
            <a:avLst/>
          </a:prstGeom>
          <a:solidFill>
            <a:srgbClr val="ED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026664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227C9D"/>
                </a:solidFill>
                <a:latin typeface="Arial"/>
              </a:defRPr>
            </a:pPr>
            <a:r>
              <a:t>Revenue mix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2939796"/>
            <a:ext cx="85953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C3C3C"/>
                </a:solidFill>
                <a:latin typeface="Arial"/>
              </a:defRPr>
            </a:pPr>
            <a:r>
              <a:t>Oncology was the largest TA in 2025: $25.6bn, or 43.6% of total revenue. CVRM contributed $12.9bn; R&amp;I $8.9bn; Rare Disease $9.1bn.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3026664"/>
            <a:ext cx="54864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6757C"/>
                </a:solidFill>
                <a:latin typeface="Arial"/>
              </a:defRPr>
            </a:pPr>
            <a:r>
              <a:t>p.2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474720"/>
            <a:ext cx="1920240" cy="502920"/>
          </a:xfrm>
          <a:prstGeom prst="rect">
            <a:avLst/>
          </a:prstGeom>
          <a:solidFill>
            <a:srgbClr val="ED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3602736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227C9D"/>
                </a:solidFill>
                <a:latin typeface="Arial"/>
              </a:defRPr>
            </a:pPr>
            <a:r>
              <a:t>US patent profile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3515868"/>
            <a:ext cx="85953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C3C3C"/>
                </a:solidFill>
                <a:latin typeface="Arial"/>
              </a:defRPr>
            </a:pPr>
            <a:r>
              <a:t>Farxiga’s US NME patent expires in 2026; Lynparza’s in 2027. Calquence has US NME patents spanning 2026–2032. Their 2025 global Product Revenues were $8.4bn, $3.3bn and $3.5bn.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3602736"/>
            <a:ext cx="54864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6757C"/>
                </a:solidFill>
                <a:latin typeface="Arial"/>
              </a:defRPr>
            </a:pPr>
            <a:r>
              <a:t>p.2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050791"/>
            <a:ext cx="1920240" cy="502920"/>
          </a:xfrm>
          <a:prstGeom prst="rect">
            <a:avLst/>
          </a:prstGeom>
          <a:solidFill>
            <a:srgbClr val="ED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4178807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227C9D"/>
                </a:solidFill>
                <a:latin typeface="Arial"/>
              </a:defRPr>
            </a:pPr>
            <a:r>
              <a:t>Late-stage portfolio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600" y="4091939"/>
            <a:ext cx="85953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C3C3C"/>
                </a:solidFill>
                <a:latin typeface="Arial"/>
              </a:defRPr>
            </a:pPr>
            <a:r>
              <a:t>The website lists 45 Phase III program entries across Oncology (28), CVRM (8), R&amp;I (4) and Rare Disease (5). The asset–target map and registration-stage list are shown separately.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4178807"/>
            <a:ext cx="54864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6757C"/>
                </a:solidFill>
                <a:latin typeface="Arial"/>
              </a:defRPr>
            </a:pPr>
            <a:r>
              <a:t>p.3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626864"/>
            <a:ext cx="1920240" cy="502920"/>
          </a:xfrm>
          <a:prstGeom prst="rect">
            <a:avLst/>
          </a:prstGeom>
          <a:solidFill>
            <a:srgbClr val="ED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754880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227C9D"/>
                </a:solidFill>
                <a:latin typeface="Arial"/>
              </a:defRPr>
            </a:pPr>
            <a:r>
              <a:t>R&amp;D investment areas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4668012"/>
            <a:ext cx="85953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C3C3C"/>
                </a:solidFill>
                <a:latin typeface="Arial"/>
              </a:defRPr>
            </a:pPr>
            <a:r>
              <a:t>AZ highlights four areas: weight management / CV risk factors; ADCs / radioconjugates; next-generation IO bispecifics; cell therapy / T-cell engagers.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01400" y="4754880"/>
            <a:ext cx="54864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6757C"/>
                </a:solidFill>
                <a:latin typeface="Arial"/>
              </a:defRPr>
            </a:pPr>
            <a:r>
              <a:t>p.4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5202936"/>
            <a:ext cx="1920240" cy="502920"/>
          </a:xfrm>
          <a:prstGeom prst="rect">
            <a:avLst/>
          </a:prstGeom>
          <a:solidFill>
            <a:srgbClr val="ED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5330951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227C9D"/>
                </a:solidFill>
                <a:latin typeface="Arial"/>
              </a:defRPr>
            </a:pPr>
            <a:r>
              <a:t>BD record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14600" y="5244083"/>
            <a:ext cx="85953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C3C3C"/>
                </a:solidFill>
                <a:latin typeface="Arial"/>
              </a:defRPr>
            </a:pPr>
            <a:r>
              <a:t>The coded 2022–2026 YTD cohort contains 30 transactions: 11 acquisitions, 8 asset-rights licenses, 8 research / option agreements, and 3 equity / JV / clinical collaborations.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01400" y="5330951"/>
            <a:ext cx="54864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6757C"/>
                </a:solidFill>
                <a:latin typeface="Arial"/>
              </a:defRPr>
            </a:pPr>
            <a:r>
              <a:t>p.5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5934456"/>
            <a:ext cx="11338560" cy="265176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1207" y="5989320"/>
            <a:ext cx="111099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60" b="0">
                <a:solidFill>
                  <a:srgbClr val="3C3C3C"/>
                </a:solidFill>
                <a:latin typeface="Arial"/>
              </a:defRPr>
            </a:pPr>
            <a:r>
              <a:t>H1 2026 update: Total Revenue $30.7bn (+6% CER); CVRM –12% CER. AZ attributes headwinds to Farxiga US LOE and China volume-based procurement.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188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6757C"/>
                </a:solidFill>
                <a:latin typeface="Arial"/>
              </a:defRPr>
            </a:pPr>
            <a:r>
              <a:t>TOP 20 MNC PROFILING  /  ASTRAZENECA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118872"/>
            <a:ext cx="3886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6757C"/>
                </a:solidFill>
                <a:latin typeface="Arial"/>
              </a:defRPr>
            </a:pPr>
            <a:r>
              <a:t>22 OCT 2026  |  v2.2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4805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227C9D"/>
                </a:solidFill>
                <a:latin typeface="Arial"/>
              </a:defRPr>
            </a:pPr>
            <a:r>
              <a:t>2 - Revenue Growth, US LOE &amp; Portfolio Renewal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41832"/>
            <a:ext cx="113385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50" b="0">
                <a:solidFill>
                  <a:srgbClr val="3C3C3C"/>
                </a:solidFill>
                <a:latin typeface="Arial"/>
              </a:defRPr>
            </a:pPr>
            <a:r>
              <a:t>Core-product revenue over five years, alongside US expiry dates and the next wave of assets by 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44752"/>
            <a:ext cx="11338560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627632"/>
            <a:ext cx="6565392" cy="29260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77924"/>
            <a:ext cx="638251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2021–2025 revenue by core product | US$bn</a:t>
            </a:r>
          </a:p>
        </p:txBody>
      </p:sp>
      <p:sp>
        <p:nvSpPr>
          <p:cNvPr id="9" name="Rectangle 8"/>
          <p:cNvSpPr/>
          <p:nvPr/>
        </p:nvSpPr>
        <p:spPr>
          <a:xfrm>
            <a:off x="7187184" y="1627632"/>
            <a:ext cx="4562856" cy="29260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78624" y="1677924"/>
            <a:ext cx="437997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US expiry calendar | FY2025 products ≥$1bn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11680"/>
            <a:ext cx="3657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003366"/>
                </a:solidFill>
                <a:latin typeface="Arial"/>
              </a:defRPr>
            </a:pPr>
            <a:r>
              <a:t>$37.4bn → $58.7bn  |  CAGR 11.9%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2048256"/>
            <a:ext cx="25237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19" b="1">
                <a:solidFill>
                  <a:srgbClr val="227C9D"/>
                </a:solidFill>
                <a:latin typeface="Arial"/>
              </a:defRPr>
            </a:pPr>
            <a:r>
              <a:t>Core products: 73% of FY2025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11480" y="2359152"/>
          <a:ext cx="6565392" cy="263347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90386" y="3184946"/>
            <a:ext cx="64008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060" b="1">
                <a:solidFill>
                  <a:srgbClr val="003366"/>
                </a:solidFill>
                <a:latin typeface="Arial"/>
              </a:defRPr>
            </a:pPr>
            <a:r>
              <a:t>37.4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0437" y="2936595"/>
            <a:ext cx="64008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060" b="1">
                <a:solidFill>
                  <a:srgbClr val="003366"/>
                </a:solidFill>
                <a:latin typeface="Arial"/>
              </a:defRPr>
            </a:pPr>
            <a:r>
              <a:t>44.4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0214" y="2884017"/>
            <a:ext cx="64008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060" b="1">
                <a:solidFill>
                  <a:srgbClr val="003366"/>
                </a:solidFill>
                <a:latin typeface="Arial"/>
              </a:defRPr>
            </a:pPr>
            <a:r>
              <a:t>45.8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9990" y="2588117"/>
            <a:ext cx="64008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060" b="1">
                <a:solidFill>
                  <a:srgbClr val="003366"/>
                </a:solidFill>
                <a:latin typeface="Arial"/>
              </a:defRPr>
            </a:pPr>
            <a:r>
              <a:t>54.1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0132" y="2420691"/>
            <a:ext cx="64008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060" b="1">
                <a:solidFill>
                  <a:srgbClr val="003366"/>
                </a:solidFill>
                <a:latin typeface="Arial"/>
              </a:defRPr>
            </a:pPr>
            <a:r>
              <a:t>58.7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093208"/>
            <a:ext cx="91440" cy="914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5056632"/>
            <a:ext cx="14721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80" b="0">
                <a:solidFill>
                  <a:srgbClr val="3C3C3C"/>
                </a:solidFill>
                <a:latin typeface="Arial"/>
              </a:defRPr>
            </a:pPr>
            <a:r>
              <a:t>Tagrisso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30552" y="5093208"/>
            <a:ext cx="91440" cy="91440"/>
          </a:xfrm>
          <a:prstGeom prst="rect">
            <a:avLst/>
          </a:prstGeom>
          <a:solidFill>
            <a:srgbClr val="006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76856" y="5056632"/>
            <a:ext cx="14721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80" b="0">
                <a:solidFill>
                  <a:srgbClr val="3C3C3C"/>
                </a:solidFill>
                <a:latin typeface="Arial"/>
              </a:defRPr>
            </a:pPr>
            <a:r>
              <a:t>Imfinzi / Imjudo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58184" y="5093208"/>
            <a:ext cx="91440" cy="91440"/>
          </a:xfrm>
          <a:prstGeom prst="rect">
            <a:avLst/>
          </a:prstGeom>
          <a:solidFill>
            <a:srgbClr val="537E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04488" y="5056632"/>
            <a:ext cx="14721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80" b="0">
                <a:solidFill>
                  <a:srgbClr val="3C3C3C"/>
                </a:solidFill>
                <a:latin typeface="Arial"/>
              </a:defRPr>
            </a:pPr>
            <a:r>
              <a:t>Calquence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85816" y="5093208"/>
            <a:ext cx="91440" cy="91440"/>
          </a:xfrm>
          <a:prstGeom prst="rect">
            <a:avLst/>
          </a:prstGeom>
          <a:solidFill>
            <a:srgbClr val="9DB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32120" y="5056632"/>
            <a:ext cx="14721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80" b="0">
                <a:solidFill>
                  <a:srgbClr val="3C3C3C"/>
                </a:solidFill>
                <a:latin typeface="Arial"/>
              </a:defRPr>
            </a:pPr>
            <a:r>
              <a:t>Lynparza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71516"/>
            <a:ext cx="91440" cy="91440"/>
          </a:xfrm>
          <a:prstGeom prst="rect">
            <a:avLst/>
          </a:prstGeom>
          <a:solidFill>
            <a:srgbClr val="4271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" y="5234940"/>
            <a:ext cx="14721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80" b="0">
                <a:solidFill>
                  <a:srgbClr val="3C3C3C"/>
                </a:solidFill>
                <a:latin typeface="Arial"/>
              </a:defRPr>
            </a:pPr>
            <a:r>
              <a:t>Enhertu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30552" y="5271516"/>
            <a:ext cx="91440" cy="91440"/>
          </a:xfrm>
          <a:prstGeom prst="rect">
            <a:avLst/>
          </a:prstGeom>
          <a:solidFill>
            <a:srgbClr val="227C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6856" y="5234940"/>
            <a:ext cx="14721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80" b="0">
                <a:solidFill>
                  <a:srgbClr val="3C3C3C"/>
                </a:solidFill>
                <a:latin typeface="Arial"/>
              </a:defRPr>
            </a:pPr>
            <a:r>
              <a:t>Farxiga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58184" y="5271516"/>
            <a:ext cx="91440" cy="91440"/>
          </a:xfrm>
          <a:prstGeom prst="rect">
            <a:avLst/>
          </a:prstGeom>
          <a:solidFill>
            <a:srgbClr val="A77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04488" y="5234940"/>
            <a:ext cx="14721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80" b="0">
                <a:solidFill>
                  <a:srgbClr val="3C3C3C"/>
                </a:solidFill>
                <a:latin typeface="Arial"/>
              </a:defRPr>
            </a:pPr>
            <a:r>
              <a:t>Symbicort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85816" y="5271516"/>
            <a:ext cx="91440" cy="91440"/>
          </a:xfrm>
          <a:prstGeom prst="rect">
            <a:avLst/>
          </a:prstGeom>
          <a:solidFill>
            <a:srgbClr val="D3A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32120" y="5234940"/>
            <a:ext cx="14721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80" b="0">
                <a:solidFill>
                  <a:srgbClr val="3C3C3C"/>
                </a:solidFill>
                <a:latin typeface="Arial"/>
              </a:defRPr>
            </a:pPr>
            <a:r>
              <a:t>Fasenra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449824"/>
            <a:ext cx="91440" cy="91440"/>
          </a:xfrm>
          <a:prstGeom prst="rect">
            <a:avLst/>
          </a:prstGeom>
          <a:solidFill>
            <a:srgbClr val="527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" y="5413248"/>
            <a:ext cx="14721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80" b="0">
                <a:solidFill>
                  <a:srgbClr val="3C3C3C"/>
                </a:solidFill>
                <a:latin typeface="Arial"/>
              </a:defRPr>
            </a:pPr>
            <a:r>
              <a:t>Ultomiris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30552" y="5449824"/>
            <a:ext cx="91440" cy="91440"/>
          </a:xfrm>
          <a:prstGeom prst="rect">
            <a:avLst/>
          </a:prstGeom>
          <a:solidFill>
            <a:srgbClr val="A3B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76856" y="5413248"/>
            <a:ext cx="14721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80" b="0">
                <a:solidFill>
                  <a:srgbClr val="3C3C3C"/>
                </a:solidFill>
                <a:latin typeface="Arial"/>
              </a:defRPr>
            </a:pPr>
            <a:r>
              <a:t>Soliris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58184" y="5449824"/>
            <a:ext cx="91440" cy="91440"/>
          </a:xfrm>
          <a:prstGeom prst="rect">
            <a:avLst/>
          </a:prstGeom>
          <a:solidFill>
            <a:srgbClr val="D9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04488" y="5413248"/>
            <a:ext cx="14721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80" b="0">
                <a:solidFill>
                  <a:srgbClr val="3C3C3C"/>
                </a:solidFill>
                <a:latin typeface="Arial"/>
              </a:defRPr>
            </a:pPr>
            <a:r>
              <a:t>Others*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87184" y="1975104"/>
            <a:ext cx="4562856" cy="265176"/>
          </a:xfrm>
          <a:prstGeom prst="rect">
            <a:avLst/>
          </a:prstGeom>
          <a:solidFill>
            <a:srgbClr val="ED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51192" y="2016252"/>
            <a:ext cx="1225295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1">
                <a:solidFill>
                  <a:srgbClr val="003366"/>
                </a:solidFill>
                <a:latin typeface="Arial"/>
              </a:defRPr>
            </a:pPr>
            <a:r>
              <a:t>Product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86216" y="2016252"/>
            <a:ext cx="466344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1">
                <a:solidFill>
                  <a:srgbClr val="003366"/>
                </a:solidFill>
                <a:latin typeface="Arial"/>
              </a:defRPr>
            </a:pPr>
            <a:r>
              <a:t>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62288" y="2016252"/>
            <a:ext cx="530352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1">
                <a:solidFill>
                  <a:srgbClr val="003366"/>
                </a:solidFill>
                <a:latin typeface="Arial"/>
              </a:defRPr>
            </a:pPr>
            <a:r>
              <a:t>PR $bn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02368" y="2016252"/>
            <a:ext cx="1901952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1">
                <a:solidFill>
                  <a:srgbClr val="003366"/>
                </a:solidFill>
                <a:latin typeface="Arial"/>
              </a:defRPr>
            </a:pPr>
            <a:r>
              <a:t>US expiry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87184" y="2249424"/>
            <a:ext cx="4562856" cy="199339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242048" y="2315260"/>
            <a:ext cx="59436" cy="68580"/>
          </a:xfrm>
          <a:prstGeom prst="rect">
            <a:avLst/>
          </a:prstGeom>
          <a:solidFill>
            <a:srgbClr val="C5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47204" y="2272284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Zoladex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86216" y="2272284"/>
            <a:ext cx="4846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10" b="0">
                <a:solidFill>
                  <a:srgbClr val="66757C"/>
                </a:solidFill>
                <a:latin typeface="Arial"/>
              </a:defRPr>
            </a:pPr>
            <a:r>
              <a:t>Onc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62288" y="2272284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1.15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11512" y="227228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Expired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42048" y="2514600"/>
            <a:ext cx="59436" cy="68580"/>
          </a:xfrm>
          <a:prstGeom prst="rect">
            <a:avLst/>
          </a:prstGeom>
          <a:solidFill>
            <a:srgbClr val="C5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47204" y="2471623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Crestor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86216" y="2471623"/>
            <a:ext cx="4846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10" b="0">
                <a:solidFill>
                  <a:srgbClr val="66757C"/>
                </a:solidFill>
                <a:latin typeface="Arial"/>
              </a:defRPr>
            </a:pPr>
            <a:r>
              <a:t>CVRM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62288" y="2471623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1.22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11512" y="2471623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Expired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87184" y="2648102"/>
            <a:ext cx="4562856" cy="199339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242048" y="2713939"/>
            <a:ext cx="59436" cy="68580"/>
          </a:xfrm>
          <a:prstGeom prst="rect">
            <a:avLst/>
          </a:prstGeom>
          <a:solidFill>
            <a:srgbClr val="A77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47204" y="267096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1">
                <a:solidFill>
                  <a:srgbClr val="3C3C3C"/>
                </a:solidFill>
                <a:latin typeface="Arial"/>
              </a:defRPr>
            </a:pPr>
            <a:r>
              <a:t>Symbicort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86216" y="2670962"/>
            <a:ext cx="4846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10" b="0">
                <a:solidFill>
                  <a:srgbClr val="66757C"/>
                </a:solidFill>
                <a:latin typeface="Arial"/>
              </a:defRPr>
            </a:pPr>
            <a:r>
              <a:t>R&amp;I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62288" y="267096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2.89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11512" y="267096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2025–29†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42048" y="2913278"/>
            <a:ext cx="59436" cy="68580"/>
          </a:xfrm>
          <a:prstGeom prst="rect">
            <a:avLst/>
          </a:prstGeom>
          <a:solidFill>
            <a:srgbClr val="C5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47204" y="2870301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Strensiq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86216" y="2870301"/>
            <a:ext cx="4846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10" b="0">
                <a:solidFill>
                  <a:srgbClr val="66757C"/>
                </a:solidFill>
                <a:latin typeface="Arial"/>
              </a:defRPr>
            </a:pPr>
            <a:r>
              <a:t>RD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62288" y="2870301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1.68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11512" y="2870301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2025–29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187184" y="3046780"/>
            <a:ext cx="4562856" cy="199339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242048" y="3112617"/>
            <a:ext cx="59436" cy="68580"/>
          </a:xfrm>
          <a:prstGeom prst="rect">
            <a:avLst/>
          </a:prstGeom>
          <a:solidFill>
            <a:srgbClr val="227C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47204" y="3069640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1">
                <a:solidFill>
                  <a:srgbClr val="3C3C3C"/>
                </a:solidFill>
                <a:latin typeface="Arial"/>
              </a:defRPr>
            </a:pPr>
            <a:r>
              <a:t>Farxiga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86216" y="3069640"/>
            <a:ext cx="4846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10" b="0">
                <a:solidFill>
                  <a:srgbClr val="66757C"/>
                </a:solidFill>
                <a:latin typeface="Arial"/>
              </a:defRPr>
            </a:pPr>
            <a:r>
              <a:t>CVRM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62288" y="306964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8.41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11512" y="3069640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2026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242048" y="3311956"/>
            <a:ext cx="59436" cy="68580"/>
          </a:xfrm>
          <a:prstGeom prst="rect">
            <a:avLst/>
          </a:prstGeom>
          <a:solidFill>
            <a:srgbClr val="537E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47204" y="3268979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1">
                <a:solidFill>
                  <a:srgbClr val="3C3C3C"/>
                </a:solidFill>
                <a:latin typeface="Arial"/>
              </a:defRPr>
            </a:pPr>
            <a:r>
              <a:t>Calquence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86216" y="3268979"/>
            <a:ext cx="4846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10" b="0">
                <a:solidFill>
                  <a:srgbClr val="66757C"/>
                </a:solidFill>
                <a:latin typeface="Arial"/>
              </a:defRPr>
            </a:pPr>
            <a:r>
              <a:t>Onc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62288" y="3268979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3.52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11512" y="3268979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2026–32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187184" y="3445459"/>
            <a:ext cx="4562856" cy="199339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42048" y="3511296"/>
            <a:ext cx="59436" cy="68580"/>
          </a:xfrm>
          <a:prstGeom prst="rect">
            <a:avLst/>
          </a:prstGeom>
          <a:solidFill>
            <a:srgbClr val="9DB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47204" y="3468319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1">
                <a:solidFill>
                  <a:srgbClr val="3C3C3C"/>
                </a:solidFill>
                <a:latin typeface="Arial"/>
              </a:defRPr>
            </a:pPr>
            <a:r>
              <a:t>Lynparza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86216" y="3468319"/>
            <a:ext cx="4846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10" b="0">
                <a:solidFill>
                  <a:srgbClr val="66757C"/>
                </a:solidFill>
                <a:latin typeface="Arial"/>
              </a:defRPr>
            </a:pPr>
            <a:r>
              <a:t>Onc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62288" y="3468319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3.28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811512" y="3468319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2027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42048" y="3710635"/>
            <a:ext cx="59436" cy="68580"/>
          </a:xfrm>
          <a:prstGeom prst="rect">
            <a:avLst/>
          </a:prstGeom>
          <a:solidFill>
            <a:srgbClr val="A3B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347204" y="3667658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1">
                <a:solidFill>
                  <a:srgbClr val="3C3C3C"/>
                </a:solidFill>
                <a:latin typeface="Arial"/>
              </a:defRPr>
            </a:pPr>
            <a:r>
              <a:t>Soliris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86216" y="3667658"/>
            <a:ext cx="4846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10" b="0">
                <a:solidFill>
                  <a:srgbClr val="66757C"/>
                </a:solidFill>
                <a:latin typeface="Arial"/>
              </a:defRPr>
            </a:pPr>
            <a:r>
              <a:t>RD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62288" y="366765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1.84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811512" y="3667658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2027; entry 2025‡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187184" y="3844137"/>
            <a:ext cx="4562856" cy="199339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242048" y="3909974"/>
            <a:ext cx="59436" cy="68580"/>
          </a:xfrm>
          <a:prstGeom prst="rect">
            <a:avLst/>
          </a:prstGeom>
          <a:solidFill>
            <a:srgbClr val="D3A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347204" y="3866997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1">
                <a:solidFill>
                  <a:srgbClr val="3C3C3C"/>
                </a:solidFill>
                <a:latin typeface="Arial"/>
              </a:defRPr>
            </a:pPr>
            <a:r>
              <a:t>Fasenra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586216" y="3866997"/>
            <a:ext cx="4846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10" b="0">
                <a:solidFill>
                  <a:srgbClr val="66757C"/>
                </a:solidFill>
                <a:latin typeface="Arial"/>
              </a:defRPr>
            </a:pPr>
            <a:r>
              <a:t>R&amp;I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62288" y="3866997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1.98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811512" y="3866997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2028–34†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242048" y="4109313"/>
            <a:ext cx="59436" cy="68580"/>
          </a:xfrm>
          <a:prstGeom prst="rect">
            <a:avLst/>
          </a:prstGeom>
          <a:solidFill>
            <a:srgbClr val="C5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347204" y="4066336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Breztri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586216" y="4066336"/>
            <a:ext cx="4846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10" b="0">
                <a:solidFill>
                  <a:srgbClr val="66757C"/>
                </a:solidFill>
                <a:latin typeface="Arial"/>
              </a:defRPr>
            </a:pPr>
            <a:r>
              <a:t>R&amp;I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162288" y="4066336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1.20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811512" y="406633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2030–38†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187184" y="4242816"/>
            <a:ext cx="4562856" cy="199339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242048" y="4308652"/>
            <a:ext cx="59436" cy="68580"/>
          </a:xfrm>
          <a:prstGeom prst="rect">
            <a:avLst/>
          </a:prstGeom>
          <a:solidFill>
            <a:srgbClr val="006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347204" y="4265676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1">
                <a:solidFill>
                  <a:srgbClr val="3C3C3C"/>
                </a:solidFill>
                <a:latin typeface="Arial"/>
              </a:defRPr>
            </a:pPr>
            <a:r>
              <a:t>Imfinzi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586216" y="4265676"/>
            <a:ext cx="4846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10" b="0">
                <a:solidFill>
                  <a:srgbClr val="66757C"/>
                </a:solidFill>
                <a:latin typeface="Arial"/>
              </a:defRPr>
            </a:pPr>
            <a:r>
              <a:t>Onc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162288" y="4265676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6.06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811512" y="426567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2031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242048" y="4507992"/>
            <a:ext cx="59436" cy="6858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47204" y="4465015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1">
                <a:solidFill>
                  <a:srgbClr val="3C3C3C"/>
                </a:solidFill>
                <a:latin typeface="Arial"/>
              </a:defRPr>
            </a:pPr>
            <a:r>
              <a:t>Tagrisso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586216" y="4465015"/>
            <a:ext cx="4846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10" b="0">
                <a:solidFill>
                  <a:srgbClr val="66757C"/>
                </a:solidFill>
                <a:latin typeface="Arial"/>
              </a:defRPr>
            </a:pPr>
            <a:r>
              <a:t>Onc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162288" y="4465015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7.25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811512" y="4465015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2032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187184" y="4641494"/>
            <a:ext cx="4562856" cy="199339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242048" y="4707331"/>
            <a:ext cx="59436" cy="68580"/>
          </a:xfrm>
          <a:prstGeom prst="rect">
            <a:avLst/>
          </a:prstGeom>
          <a:solidFill>
            <a:srgbClr val="4271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347204" y="4664354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1">
                <a:solidFill>
                  <a:srgbClr val="3C3C3C"/>
                </a:solidFill>
                <a:latin typeface="Arial"/>
              </a:defRPr>
            </a:pPr>
            <a:r>
              <a:t>Enhertu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586216" y="4664354"/>
            <a:ext cx="4846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10" b="0">
                <a:solidFill>
                  <a:srgbClr val="66757C"/>
                </a:solidFill>
                <a:latin typeface="Arial"/>
              </a:defRPr>
            </a:pPr>
            <a:r>
              <a:t>Onc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162288" y="4664354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2.78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811512" y="466435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2033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242048" y="4906670"/>
            <a:ext cx="59436" cy="68580"/>
          </a:xfrm>
          <a:prstGeom prst="rect">
            <a:avLst/>
          </a:prstGeom>
          <a:solidFill>
            <a:srgbClr val="C5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347204" y="4863693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Tezspire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586216" y="4863693"/>
            <a:ext cx="4846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10" b="0">
                <a:solidFill>
                  <a:srgbClr val="66757C"/>
                </a:solidFill>
                <a:latin typeface="Arial"/>
              </a:defRPr>
            </a:pPr>
            <a:r>
              <a:t>R&amp;I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62288" y="4863693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1.13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811512" y="4863693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2033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187184" y="5040172"/>
            <a:ext cx="4562856" cy="199339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242048" y="5106009"/>
            <a:ext cx="59436" cy="68580"/>
          </a:xfrm>
          <a:prstGeom prst="rect">
            <a:avLst/>
          </a:prstGeom>
          <a:solidFill>
            <a:srgbClr val="527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347204" y="506303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1">
                <a:solidFill>
                  <a:srgbClr val="3C3C3C"/>
                </a:solidFill>
                <a:latin typeface="Arial"/>
              </a:defRPr>
            </a:pPr>
            <a:r>
              <a:t>Ultomiris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586216" y="5063032"/>
            <a:ext cx="4846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10" b="0">
                <a:solidFill>
                  <a:srgbClr val="66757C"/>
                </a:solidFill>
                <a:latin typeface="Arial"/>
              </a:defRPr>
            </a:pPr>
            <a:r>
              <a:t>RD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62288" y="506303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4.72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811512" y="506303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3C3C3C"/>
                </a:solidFill>
                <a:latin typeface="Arial"/>
              </a:defRPr>
            </a:pPr>
            <a:r>
              <a:t>2035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187184" y="5303520"/>
            <a:ext cx="45628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10" b="0">
                <a:solidFill>
                  <a:srgbClr val="66757C"/>
                </a:solidFill>
                <a:latin typeface="Arial"/>
              </a:defRPr>
            </a:pPr>
            <a:r>
              <a:t>† Other patents. ‡ Licensed US biosimilar entry: Mar 2025.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11480" y="5669280"/>
            <a:ext cx="11338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003366"/>
                </a:solidFill>
                <a:latin typeface="Arial"/>
              </a:defRPr>
            </a:pPr>
            <a:r>
              <a:t>PORTFOLIO RENEWAL | selected same-TA assets and current stages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11480" y="5888736"/>
            <a:ext cx="3657600" cy="393192"/>
          </a:xfrm>
          <a:prstGeom prst="rect">
            <a:avLst/>
          </a:prstGeom>
          <a:solidFill>
            <a:srgbClr val="ED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02920" y="5929884"/>
            <a:ext cx="34747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60" b="1">
                <a:solidFill>
                  <a:srgbClr val="003366"/>
                </a:solidFill>
                <a:latin typeface="Arial"/>
              </a:defRPr>
            </a:pPr>
            <a:r>
              <a:t>CVRM | Farxiga 2026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02920" y="6103620"/>
            <a:ext cx="34747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3C3C3C"/>
                </a:solidFill>
                <a:latin typeface="Arial"/>
              </a:defRPr>
            </a:pPr>
            <a:r>
              <a:t>Baxdrostat; balcinrenone/dapa — Phase III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242816" y="5888736"/>
            <a:ext cx="3657600" cy="393192"/>
          </a:xfrm>
          <a:prstGeom prst="rect">
            <a:avLst/>
          </a:prstGeom>
          <a:solidFill>
            <a:srgbClr val="ED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334255" y="5929884"/>
            <a:ext cx="34747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60" b="1">
                <a:solidFill>
                  <a:srgbClr val="003366"/>
                </a:solidFill>
                <a:latin typeface="Arial"/>
              </a:defRPr>
            </a:pPr>
            <a:r>
              <a:t>Oncology | Lynparza 2027; Calquence 2026–32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334255" y="6103620"/>
            <a:ext cx="34747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3C3C3C"/>
                </a:solidFill>
                <a:latin typeface="Arial"/>
              </a:defRPr>
            </a:pPr>
            <a:r>
              <a:t>Camizestrant; rilvegostomig — Phase III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074152" y="5888736"/>
            <a:ext cx="3675887" cy="393192"/>
          </a:xfrm>
          <a:prstGeom prst="rect">
            <a:avLst/>
          </a:prstGeom>
          <a:solidFill>
            <a:srgbClr val="ED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165592" y="5929884"/>
            <a:ext cx="3493007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60" b="1">
                <a:solidFill>
                  <a:srgbClr val="003366"/>
                </a:solidFill>
                <a:latin typeface="Arial"/>
              </a:defRPr>
            </a:pPr>
            <a:r>
              <a:t>Rare Disease | Soliris entry 2025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165592" y="6103620"/>
            <a:ext cx="3493007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3C3C3C"/>
                </a:solidFill>
                <a:latin typeface="Arial"/>
              </a:defRPr>
            </a:pPr>
            <a:r>
              <a:t>Ultomiris — marketed; gefurulimab — under review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391656"/>
            <a:ext cx="11155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730" b="0">
                <a:solidFill>
                  <a:srgbClr val="66757C"/>
                </a:solidFill>
                <a:latin typeface="Arial"/>
              </a:defRPr>
            </a:pPr>
            <a:r>
              <a:t>[2–4,15–19] US dates are the representative LOE benchmark for this analysis. NME patents unless †; further patents may apply. Assets shown are not revenue-offset estimates.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11480" y="6647688"/>
            <a:ext cx="1088136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720" b="0">
                <a:solidFill>
                  <a:srgbClr val="66757C"/>
                </a:solidFill>
                <a:latin typeface="Arial"/>
              </a:defRPr>
            </a:pPr>
            <a:r>
              <a:t>* Others = remaining products + collaboration revenue. Product segments = sales + alliance; Imfinzi includes Imjudo throughout. 2021: Alexion consolidated from 21 Jul.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1247120" y="6620256"/>
            <a:ext cx="274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6757C"/>
                </a:solidFill>
                <a:latin typeface="Arial"/>
              </a:defRPr>
            </a:pPr>
            <a:r>
              <a:t>2</a:t>
            </a:r>
          </a:p>
        </p:txBody>
      </p:sp>
      <p:pic>
        <p:nvPicPr>
          <p:cNvPr id="143" name="Picture 14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1752" y="6611112"/>
            <a:ext cx="201168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188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6757C"/>
                </a:solidFill>
                <a:latin typeface="Arial"/>
              </a:defRPr>
            </a:pPr>
            <a:r>
              <a:t>TOP 20 MNC PROFILING  /  ASTRAZENECA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118872"/>
            <a:ext cx="3886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6757C"/>
                </a:solidFill>
                <a:latin typeface="Arial"/>
              </a:defRPr>
            </a:pPr>
            <a:r>
              <a:t>22 OCT 2026  |  v2.2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4805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227C9D"/>
                </a:solidFill>
                <a:latin typeface="Arial"/>
              </a:defRPr>
            </a:pPr>
            <a:r>
              <a:t>3 - Phase III &amp; Registration-stage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41832"/>
            <a:ext cx="113385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50" b="0">
                <a:solidFill>
                  <a:srgbClr val="3C3C3C"/>
                </a:solidFill>
                <a:latin typeface="Arial"/>
              </a:defRPr>
            </a:pPr>
            <a:r>
              <a:t>TA and target map of the official July 2026 pipeline; full indication-level records in Excel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44752"/>
            <a:ext cx="11338560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391656"/>
            <a:ext cx="110185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770" b="0">
                <a:solidFill>
                  <a:srgbClr val="66757C"/>
                </a:solidFill>
                <a:latin typeface="Arial"/>
              </a:defRPr>
            </a:pPr>
            <a:r>
              <a:t>[4,19] Official pipeline / H1 2026 clinical appendix, 27 Jul 2026. Website Phase III entries include some approved or regional programs. LCM bucket excluded from the 45.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75120"/>
            <a:ext cx="10698480" cy="100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720" b="0">
                <a:solidFill>
                  <a:srgbClr val="66757C"/>
                </a:solidFill>
                <a:latin typeface="Arial"/>
              </a:defRPr>
            </a:pPr>
            <a:r>
              <a:t>Source URLs, definitions and detailed data are included in the slide notes and the companion Excel workbook.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20256"/>
            <a:ext cx="274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6757C"/>
                </a:solidFill>
                <a:latin typeface="Arial"/>
              </a:defRPr>
            </a:pPr>
            <a:r>
              <a:t>3</a:t>
            </a:r>
          </a:p>
        </p:txBody>
      </p:sp>
      <p:pic>
        <p:nvPicPr>
          <p:cNvPr id="10" name="Picture 9" descr="cston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1752" y="6611112"/>
            <a:ext cx="201168" cy="16459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1673352"/>
            <a:ext cx="3657600" cy="566928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792224"/>
            <a:ext cx="6583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003366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1856231"/>
            <a:ext cx="2697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3C3C3C"/>
                </a:solidFill>
                <a:latin typeface="Arial"/>
              </a:defRPr>
            </a:pPr>
            <a:r>
              <a:t>Listed Phase III program entries¹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2816" y="1673352"/>
            <a:ext cx="3657600" cy="566928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2544" y="1792224"/>
            <a:ext cx="6583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003366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1856231"/>
            <a:ext cx="2697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3C3C3C"/>
                </a:solidFill>
                <a:latin typeface="Arial"/>
              </a:defRPr>
            </a:pPr>
            <a:r>
              <a:t>Late-stage NMEs | company-reported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4152" y="1673352"/>
            <a:ext cx="3675887" cy="566928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792224"/>
            <a:ext cx="6583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003366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1856231"/>
            <a:ext cx="27157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3C3C3C"/>
                </a:solidFill>
                <a:latin typeface="Arial"/>
              </a:defRPr>
            </a:pPr>
            <a:r>
              <a:t>NMEs under review | major markets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468880"/>
            <a:ext cx="8202168" cy="29260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519172"/>
            <a:ext cx="801928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Phase III asset / target map | grouped by 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880360"/>
            <a:ext cx="1280160" cy="27432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" y="2971800"/>
            <a:ext cx="111556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29" b="1">
                <a:solidFill>
                  <a:srgbClr val="FFFFFF"/>
                </a:solidFill>
                <a:latin typeface="Arial"/>
              </a:defRPr>
            </a:pPr>
            <a:r>
              <a:t>TA / entries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39" y="2880360"/>
            <a:ext cx="6922008" cy="27432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73936" y="2971800"/>
            <a:ext cx="6757416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29" b="1">
                <a:solidFill>
                  <a:srgbClr val="FFFFFF"/>
                </a:solidFill>
                <a:latin typeface="Arial"/>
              </a:defRPr>
            </a:pPr>
            <a:r>
              <a:t>Assets and mechanisms represented in the Phase III bucket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154679"/>
            <a:ext cx="1280160" cy="1252728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" y="3246120"/>
            <a:ext cx="1115568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60" b="1">
                <a:solidFill>
                  <a:srgbClr val="3C3C3C"/>
                </a:solidFill>
                <a:latin typeface="Arial"/>
              </a:defRPr>
            </a:pPr>
            <a:r>
              <a:t>Oncology | 28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91639" y="3154679"/>
            <a:ext cx="6922008" cy="1252728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73936" y="3246120"/>
            <a:ext cx="6757416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ADCs: Sone-Ve (CLDN18.2); puxi-sam (B7-H4); torvu-sam (FRα)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RC: zadavotide guraxetan (PSMA)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IO: rilvegostomig (PD-1/TIGIT); volrustomig (PD-1/CTLA-4);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oleclumab (CD73); monalizumab (NKG2A); Imfinzi/Imjudo (PD-L1/CTLA-4)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Other: saruparib (PARP1); camizestrant (ER);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surovatamig (CD19/CD3); AZD0120 (CD19/BCMA)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407408"/>
            <a:ext cx="8202168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4407408"/>
            <a:ext cx="1280160" cy="768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" y="4498848"/>
            <a:ext cx="1115568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60" b="1">
                <a:solidFill>
                  <a:srgbClr val="3C3C3C"/>
                </a:solidFill>
                <a:latin typeface="Arial"/>
              </a:defRPr>
            </a:pPr>
            <a:r>
              <a:t>CVRM | 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91639" y="4407408"/>
            <a:ext cx="6922008" cy="768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73936" y="4498848"/>
            <a:ext cx="6757416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Balcinrenone/dapa (MR/SGLT2); zibotentan/dapa (ETA/SGLT2)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Elecoglipron (GLP-1R); elecoglipron/dapa (GLP-1R/SGLT2)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Laroprovstat (PCSK9); baxdrostat (aldosterone synthase); Wainua (TTR ASO)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5175504"/>
            <a:ext cx="8202168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5175504"/>
            <a:ext cx="1280160" cy="365760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" y="5266944"/>
            <a:ext cx="11155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60" b="1">
                <a:solidFill>
                  <a:srgbClr val="3C3C3C"/>
                </a:solidFill>
                <a:latin typeface="Arial"/>
              </a:defRPr>
            </a:pPr>
            <a:r>
              <a:t>R&amp;I | 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91639" y="5175504"/>
            <a:ext cx="6922008" cy="365760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73936" y="5266944"/>
            <a:ext cx="675741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Tozorakimab (IL-33); Saphnelo (IFNAR1); Tezspire (TSLP)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5541264"/>
            <a:ext cx="8202168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" y="5541264"/>
            <a:ext cx="12801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" y="5632704"/>
            <a:ext cx="111556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60" b="1">
                <a:solidFill>
                  <a:srgbClr val="3C3C3C"/>
                </a:solidFill>
                <a:latin typeface="Arial"/>
              </a:defRPr>
            </a:pPr>
            <a:r>
              <a:t>Rare Disease | 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91639" y="5541264"/>
            <a:ext cx="6922008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73936" y="5632704"/>
            <a:ext cx="675741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Cliramitug (TTR); eneboparatide (PTH1R); anselamimab (amyloid fibrils);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efzimfotase alfa (TNSALP enzyme replacement); gefurulimab (C5)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6135624"/>
            <a:ext cx="8202168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814816" y="2468880"/>
            <a:ext cx="2935224" cy="29260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06256" y="2519172"/>
            <a:ext cx="27523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Registration-stage NMEs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14816" y="2880360"/>
            <a:ext cx="2935224" cy="566928"/>
          </a:xfrm>
          <a:prstGeom prst="rect">
            <a:avLst/>
          </a:prstGeom>
          <a:solidFill>
            <a:srgbClr val="ED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24544" y="2962656"/>
            <a:ext cx="27157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003366"/>
                </a:solidFill>
                <a:latin typeface="Arial"/>
              </a:defRPr>
            </a:pPr>
            <a:r>
              <a:t>Tozorakimab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24544" y="3209544"/>
            <a:ext cx="2715768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10" b="0">
                <a:solidFill>
                  <a:srgbClr val="3C3C3C"/>
                </a:solidFill>
                <a:latin typeface="Arial"/>
              </a:defRPr>
            </a:pPr>
            <a:r>
              <a:t>IL-33 | COPD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14816" y="3529584"/>
            <a:ext cx="2935224" cy="566928"/>
          </a:xfrm>
          <a:prstGeom prst="rect">
            <a:avLst/>
          </a:prstGeom>
          <a:solidFill>
            <a:srgbClr val="ED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24544" y="3611879"/>
            <a:ext cx="27157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003366"/>
                </a:solidFill>
                <a:latin typeface="Arial"/>
              </a:defRPr>
            </a:pPr>
            <a:r>
              <a:t>Anselamimab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24544" y="3858768"/>
            <a:ext cx="2715768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10" b="0">
                <a:solidFill>
                  <a:srgbClr val="3C3C3C"/>
                </a:solidFill>
                <a:latin typeface="Arial"/>
              </a:defRPr>
            </a:pPr>
            <a:r>
              <a:t>Amyloid fibrils | AL amyloidosis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14816" y="4178808"/>
            <a:ext cx="2935224" cy="566928"/>
          </a:xfrm>
          <a:prstGeom prst="rect">
            <a:avLst/>
          </a:prstGeom>
          <a:solidFill>
            <a:srgbClr val="ED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24544" y="4261104"/>
            <a:ext cx="27157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003366"/>
                </a:solidFill>
                <a:latin typeface="Arial"/>
              </a:defRPr>
            </a:pPr>
            <a:r>
              <a:t>Efzimfotase alfa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24544" y="4507992"/>
            <a:ext cx="2715768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10" b="0">
                <a:solidFill>
                  <a:srgbClr val="3C3C3C"/>
                </a:solidFill>
                <a:latin typeface="Arial"/>
              </a:defRPr>
            </a:pPr>
            <a:r>
              <a:t>TNSALP ERT | HPP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814816" y="4828031"/>
            <a:ext cx="2935224" cy="566928"/>
          </a:xfrm>
          <a:prstGeom prst="rect">
            <a:avLst/>
          </a:prstGeom>
          <a:solidFill>
            <a:srgbClr val="ED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24544" y="4910327"/>
            <a:ext cx="27157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003366"/>
                </a:solidFill>
                <a:latin typeface="Arial"/>
              </a:defRPr>
            </a:pPr>
            <a:r>
              <a:t>Gefurulimab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24544" y="5157216"/>
            <a:ext cx="2715768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10" b="0">
                <a:solidFill>
                  <a:srgbClr val="3C3C3C"/>
                </a:solidFill>
                <a:latin typeface="Arial"/>
              </a:defRPr>
            </a:pPr>
            <a:r>
              <a:t>C5 | gMG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14816" y="5577840"/>
            <a:ext cx="293522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30" b="0">
                <a:solidFill>
                  <a:srgbClr val="66757C"/>
                </a:solidFill>
                <a:latin typeface="Arial"/>
              </a:defRPr>
            </a:pPr>
            <a:r>
              <a:t>“Under review” is the company’s major-market classification; it does not imply a US filing for every asset.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" y="6208776"/>
            <a:ext cx="1133856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19" b="0">
                <a:solidFill>
                  <a:srgbClr val="66757C"/>
                </a:solidFill>
                <a:latin typeface="Arial"/>
              </a:defRPr>
            </a:pPr>
            <a:r>
              <a:t>¹ Program entries ≠ independent assets. Dapa = dapagliflozin; abbreviated asset names and indication-level stages are expanded in Excel.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188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6757C"/>
                </a:solidFill>
                <a:latin typeface="Arial"/>
              </a:defRPr>
            </a:pPr>
            <a:r>
              <a:t>TOP 20 MNC PROFILING  /  ASTRAZENECA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118872"/>
            <a:ext cx="3886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6757C"/>
                </a:solidFill>
                <a:latin typeface="Arial"/>
              </a:defRPr>
            </a:pPr>
            <a:r>
              <a:t>22 OCT 2026  |  v2.2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4805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227C9D"/>
                </a:solidFill>
                <a:latin typeface="Arial"/>
              </a:defRPr>
            </a:pPr>
            <a:r>
              <a:t>4 - Company-disclosed R&amp;D Investment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41832"/>
            <a:ext cx="113385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50" b="0">
                <a:solidFill>
                  <a:srgbClr val="3C3C3C"/>
                </a:solidFill>
                <a:latin typeface="Arial"/>
              </a:defRPr>
            </a:pPr>
            <a:r>
              <a:t>The four investment areas presented by AZ at H1 2026, with the supporting programs and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44752"/>
            <a:ext cx="11338560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391656"/>
            <a:ext cx="110185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770" b="0">
                <a:solidFill>
                  <a:srgbClr val="66757C"/>
                </a:solidFill>
                <a:latin typeface="Arial"/>
              </a:defRPr>
            </a:pPr>
            <a:r>
              <a:t>[5] H1 &amp; Q2 2026 results presentation, p.24: “Strategically investing to deliver growth beyond 2030”. All four disclosed areas reproduced in this summary.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75120"/>
            <a:ext cx="10698480" cy="100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720" b="0">
                <a:solidFill>
                  <a:srgbClr val="66757C"/>
                </a:solidFill>
                <a:latin typeface="Arial"/>
              </a:defRPr>
            </a:pPr>
            <a:r>
              <a:t>Source URLs, definitions and detailed data are included in the slide notes and the companion Excel workbook.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20256"/>
            <a:ext cx="274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6757C"/>
                </a:solidFill>
                <a:latin typeface="Arial"/>
              </a:defRPr>
            </a:pPr>
            <a:r>
              <a:t>4</a:t>
            </a:r>
          </a:p>
        </p:txBody>
      </p:sp>
      <p:pic>
        <p:nvPicPr>
          <p:cNvPr id="10" name="Picture 9" descr="cston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1752" y="6611112"/>
            <a:ext cx="201168" cy="16459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1691640"/>
            <a:ext cx="2350008" cy="38404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1783080"/>
            <a:ext cx="2185415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89" b="1">
                <a:solidFill>
                  <a:srgbClr val="FFFFFF"/>
                </a:solidFill>
                <a:latin typeface="Arial"/>
              </a:defRPr>
            </a:pPr>
            <a:r>
              <a:t>AZ investment area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1488" y="1691640"/>
            <a:ext cx="3264408" cy="38404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43784" y="1783080"/>
            <a:ext cx="3099815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89" b="1">
                <a:solidFill>
                  <a:srgbClr val="FFFFFF"/>
                </a:solidFill>
                <a:latin typeface="Arial"/>
              </a:defRPr>
            </a:pPr>
            <a:r>
              <a:t>Programs / technologies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25896" y="1691640"/>
            <a:ext cx="5724144" cy="38404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08192" y="1783080"/>
            <a:ext cx="555955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89" b="1">
                <a:solidFill>
                  <a:srgbClr val="FFFFFF"/>
                </a:solidFill>
                <a:latin typeface="Arial"/>
              </a:defRPr>
            </a:pPr>
            <a:r>
              <a:t>Milestones and scale disclosed at H1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075688"/>
            <a:ext cx="2350008" cy="960120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2167128"/>
            <a:ext cx="218541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20" b="1">
                <a:solidFill>
                  <a:srgbClr val="3C3C3C"/>
                </a:solidFill>
                <a:latin typeface="Arial"/>
              </a:defRPr>
            </a:pPr>
            <a:r>
              <a:t>Weight management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20" b="1">
                <a:solidFill>
                  <a:srgbClr val="3C3C3C"/>
                </a:solidFill>
                <a:latin typeface="Arial"/>
              </a:defRPr>
            </a:pPr>
            <a:r>
              <a:t>&amp; CV risk factors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61488" y="2075688"/>
            <a:ext cx="3264408" cy="960120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43784" y="2167128"/>
            <a:ext cx="309981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20" b="0">
                <a:solidFill>
                  <a:srgbClr val="3C3C3C"/>
                </a:solidFill>
                <a:latin typeface="Arial"/>
              </a:defRPr>
            </a:pPr>
            <a:r>
              <a:t>Elecoglipron; laroprovstat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20" b="0">
                <a:solidFill>
                  <a:srgbClr val="3C3C3C"/>
                </a:solidFill>
                <a:latin typeface="Arial"/>
              </a:defRPr>
            </a:pPr>
            <a:r>
              <a:t>AZD6234; AZD6234 / AZD9550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25896" y="2075688"/>
            <a:ext cx="5724144" cy="960120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08192" y="2167128"/>
            <a:ext cx="5559552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20" b="0">
                <a:solidFill>
                  <a:srgbClr val="3C3C3C"/>
                </a:solidFill>
                <a:latin typeface="Arial"/>
              </a:defRPr>
            </a:pPr>
            <a:r>
              <a:t>6 Phase III trials initiated for elecoglipron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20" b="0">
                <a:solidFill>
                  <a:srgbClr val="3C3C3C"/>
                </a:solidFill>
                <a:latin typeface="Arial"/>
              </a:defRPr>
            </a:pPr>
            <a:r>
              <a:t>Laroprovstat: first Phase III data expected H1 2027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20" b="0">
                <a:solidFill>
                  <a:srgbClr val="3C3C3C"/>
                </a:solidFill>
                <a:latin typeface="Arial"/>
              </a:defRPr>
            </a:pPr>
            <a:r>
              <a:t>AZD6234 Phase II readout; combination Phase IIb expected H2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035808"/>
            <a:ext cx="11338559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035808"/>
            <a:ext cx="2350008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3127248"/>
            <a:ext cx="218541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20" b="1">
                <a:solidFill>
                  <a:srgbClr val="3C3C3C"/>
                </a:solidFill>
                <a:latin typeface="Arial"/>
              </a:defRPr>
            </a:pPr>
            <a:r>
              <a:t>ADCs &amp;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20" b="1">
                <a:solidFill>
                  <a:srgbClr val="3C3C3C"/>
                </a:solidFill>
                <a:latin typeface="Arial"/>
              </a:defRPr>
            </a:pPr>
            <a:r>
              <a:t>radioconjugates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61488" y="3035808"/>
            <a:ext cx="3264408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43784" y="3127248"/>
            <a:ext cx="309981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20" b="0">
                <a:solidFill>
                  <a:srgbClr val="3C3C3C"/>
                </a:solidFill>
                <a:latin typeface="Arial"/>
              </a:defRPr>
            </a:pPr>
            <a:r>
              <a:t>Sone-Ve; puxi-sam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20" b="0">
                <a:solidFill>
                  <a:srgbClr val="3C3C3C"/>
                </a:solidFill>
                <a:latin typeface="Arial"/>
              </a:defRPr>
            </a:pPr>
            <a:r>
              <a:t>Torvu-sam; zadavotide guraxetan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25896" y="3035808"/>
            <a:ext cx="5724144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08192" y="3127248"/>
            <a:ext cx="5559552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20" b="0">
                <a:solidFill>
                  <a:srgbClr val="3C3C3C"/>
                </a:solidFill>
                <a:latin typeface="Arial"/>
              </a:defRPr>
            </a:pPr>
            <a:r>
              <a:t>Sone-Ve: first positive Phase III data (CLARITY-Gastric01)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20" b="0">
                <a:solidFill>
                  <a:srgbClr val="3C3C3C"/>
                </a:solidFill>
                <a:latin typeface="Arial"/>
              </a:defRPr>
            </a:pPr>
            <a:r>
              <a:t>Puxi-sam: first Phase III data expected H2 2027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20" b="0">
                <a:solidFill>
                  <a:srgbClr val="3C3C3C"/>
                </a:solidFill>
                <a:latin typeface="Arial"/>
              </a:defRPr>
            </a:pPr>
            <a:r>
              <a:t>Torvu-sam / zada-gu: first patients dosed in Phase III, Q2 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995928"/>
            <a:ext cx="11338559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3995928"/>
            <a:ext cx="2350008" cy="960120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" y="4087368"/>
            <a:ext cx="218541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20" b="1">
                <a:solidFill>
                  <a:srgbClr val="3C3C3C"/>
                </a:solidFill>
                <a:latin typeface="Arial"/>
              </a:defRPr>
            </a:pPr>
            <a:r>
              <a:t>Next-generation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20" b="1">
                <a:solidFill>
                  <a:srgbClr val="3C3C3C"/>
                </a:solidFill>
                <a:latin typeface="Arial"/>
              </a:defRPr>
            </a:pPr>
            <a:r>
              <a:t>IO bispecifics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61488" y="3995928"/>
            <a:ext cx="3264408" cy="960120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43784" y="4087368"/>
            <a:ext cx="309981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20" b="0">
                <a:solidFill>
                  <a:srgbClr val="3C3C3C"/>
                </a:solidFill>
                <a:latin typeface="Arial"/>
              </a:defRPr>
            </a:pPr>
            <a:r>
              <a:t>Rilvegostomig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20" b="0">
                <a:solidFill>
                  <a:srgbClr val="3C3C3C"/>
                </a:solidFill>
                <a:latin typeface="Arial"/>
              </a:defRPr>
            </a:pPr>
            <a:r>
              <a:t>Volrustomig and broader IO portfolio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25896" y="3995928"/>
            <a:ext cx="5724144" cy="960120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08192" y="4087368"/>
            <a:ext cx="5559552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20" b="0">
                <a:solidFill>
                  <a:srgbClr val="3C3C3C"/>
                </a:solidFill>
                <a:latin typeface="Arial"/>
              </a:defRPr>
            </a:pPr>
            <a:r>
              <a:t>16 Phase III trials across 9 tumor types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20" b="0">
                <a:solidFill>
                  <a:srgbClr val="3C3C3C"/>
                </a:solidFill>
                <a:latin typeface="Arial"/>
              </a:defRPr>
            </a:pPr>
            <a:r>
              <a:t>5 Phase III trials in combination with ADCs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20" b="0">
                <a:solidFill>
                  <a:srgbClr val="3C3C3C"/>
                </a:solidFill>
                <a:latin typeface="Arial"/>
              </a:defRPr>
            </a:pPr>
            <a:r>
              <a:t>Subcutaneous rilvegostomig development ongoing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956048"/>
            <a:ext cx="11338559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" y="4956048"/>
            <a:ext cx="2350008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" y="5047488"/>
            <a:ext cx="218541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20" b="1">
                <a:solidFill>
                  <a:srgbClr val="3C3C3C"/>
                </a:solidFill>
                <a:latin typeface="Arial"/>
              </a:defRPr>
            </a:pPr>
            <a:r>
              <a:t>Cell therapy &amp;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20" b="1">
                <a:solidFill>
                  <a:srgbClr val="3C3C3C"/>
                </a:solidFill>
                <a:latin typeface="Arial"/>
              </a:defRPr>
            </a:pPr>
            <a:r>
              <a:t>T-cell engagers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61488" y="4956048"/>
            <a:ext cx="3264408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43784" y="5047488"/>
            <a:ext cx="309981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20" b="0">
                <a:solidFill>
                  <a:srgbClr val="3C3C3C"/>
                </a:solidFill>
                <a:latin typeface="Arial"/>
              </a:defRPr>
            </a:pPr>
            <a:r>
              <a:t>AZD0120 | CD19/BCMA CAR-T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20" b="0">
                <a:solidFill>
                  <a:srgbClr val="3C3C3C"/>
                </a:solidFill>
                <a:latin typeface="Arial"/>
              </a:defRPr>
            </a:pPr>
            <a:r>
              <a:t>Surovatamig | CD19/CD3 TCE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25896" y="4956048"/>
            <a:ext cx="5724144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08192" y="5047488"/>
            <a:ext cx="5559552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20" b="0">
                <a:solidFill>
                  <a:srgbClr val="3C3C3C"/>
                </a:solidFill>
                <a:latin typeface="Arial"/>
              </a:defRPr>
            </a:pPr>
            <a:r>
              <a:t>AZD0120: Phase III in r/r multiple myeloma; expansion planned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20" b="0">
                <a:solidFill>
                  <a:srgbClr val="3C3C3C"/>
                </a:solidFill>
                <a:latin typeface="Arial"/>
              </a:defRPr>
            </a:pPr>
            <a:r>
              <a:t>Surovatamig: ongoing Phase III in follicular lymphoma / DLBCL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20" b="0">
                <a:solidFill>
                  <a:srgbClr val="3C3C3C"/>
                </a:solidFill>
                <a:latin typeface="Arial"/>
              </a:defRPr>
            </a:pPr>
            <a:r>
              <a:t>Both assets also in early autoimmune-disease studies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5916168"/>
            <a:ext cx="11338559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1480" y="5870448"/>
            <a:ext cx="11338560" cy="310896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1207" y="5952744"/>
            <a:ext cx="1111910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19" b="0">
                <a:solidFill>
                  <a:srgbClr val="66757C"/>
                </a:solidFill>
                <a:latin typeface="Arial"/>
              </a:defRPr>
            </a:pPr>
            <a:r>
              <a:t>Snapshot: 27 July 2026. Expected readout windows reflect the company’s outlook at that time; trial counts are not independent-asset counts.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188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6757C"/>
                </a:solidFill>
                <a:latin typeface="Arial"/>
              </a:defRPr>
            </a:pPr>
            <a:r>
              <a:t>TOP 20 MNC PROFILING  /  ASTRAZENECA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118872"/>
            <a:ext cx="3886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6757C"/>
                </a:solidFill>
                <a:latin typeface="Arial"/>
              </a:defRPr>
            </a:pPr>
            <a:r>
              <a:t>22 OCT 2026  |  v2.2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4805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227C9D"/>
                </a:solidFill>
                <a:latin typeface="Arial"/>
              </a:defRPr>
            </a:pPr>
            <a:r>
              <a:t>5 - BD Transactions | 2022–2026 YTD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41832"/>
            <a:ext cx="113385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50" b="0">
                <a:solidFill>
                  <a:srgbClr val="3C3C3C"/>
                </a:solidFill>
                <a:latin typeface="Arial"/>
              </a:defRPr>
            </a:pPr>
            <a:r>
              <a:t>Deal type, therapeutic area, modality and target profile of a 30-record public-disclosure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44752"/>
            <a:ext cx="11338560" cy="10972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391656"/>
            <a:ext cx="110185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770" b="0">
                <a:solidFill>
                  <a:srgbClr val="66757C"/>
                </a:solidFill>
                <a:latin typeface="Arial"/>
              </a:defRPr>
            </a:pPr>
            <a:r>
              <a:t>Source-linked register: official AZ annual reports / announcements. The cohort is not all company BD activity. 2026 YTD ends 21 Oct; not comparable to a full year.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75120"/>
            <a:ext cx="10698480" cy="100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720" b="0">
                <a:solidFill>
                  <a:srgbClr val="66757C"/>
                </a:solidFill>
                <a:latin typeface="Arial"/>
              </a:defRPr>
            </a:pPr>
            <a:r>
              <a:t>Source URLs, definitions and detailed data are included in the slide notes and the companion Excel workbook.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20256"/>
            <a:ext cx="274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6757C"/>
                </a:solidFill>
                <a:latin typeface="Arial"/>
              </a:defRPr>
            </a:pPr>
            <a:r>
              <a:t>5</a:t>
            </a:r>
          </a:p>
        </p:txBody>
      </p:sp>
      <p:pic>
        <p:nvPicPr>
          <p:cNvPr id="10" name="Picture 9" descr="cston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1752" y="6611112"/>
            <a:ext cx="201168" cy="16459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1673352"/>
            <a:ext cx="5522976" cy="29260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23644"/>
            <a:ext cx="534009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Deal type | number of register records by year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73352"/>
            <a:ext cx="5532120" cy="29260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723644"/>
            <a:ext cx="53492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Therapeutic area | primary TA per transaction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11480" y="2084831"/>
          <a:ext cx="5522976" cy="16459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ectangle 15"/>
          <p:cNvSpPr/>
          <p:nvPr/>
        </p:nvSpPr>
        <p:spPr>
          <a:xfrm>
            <a:off x="411480" y="3794760"/>
            <a:ext cx="82296" cy="82296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67328"/>
            <a:ext cx="1700784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66757C"/>
                </a:solidFill>
                <a:latin typeface="Arial"/>
              </a:defRPr>
            </a:pPr>
            <a:r>
              <a:t>Acquisition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794760"/>
            <a:ext cx="82296" cy="82296"/>
          </a:xfrm>
          <a:prstGeom prst="rect">
            <a:avLst/>
          </a:prstGeom>
          <a:solidFill>
            <a:srgbClr val="227C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23160" y="3767328"/>
            <a:ext cx="1700784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66757C"/>
                </a:solidFill>
                <a:latin typeface="Arial"/>
              </a:defRPr>
            </a:pPr>
            <a:r>
              <a:t>License / rights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3794760"/>
            <a:ext cx="82296" cy="82296"/>
          </a:xfrm>
          <a:prstGeom prst="rect">
            <a:avLst/>
          </a:prstGeom>
          <a:solidFill>
            <a:srgbClr val="527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3767328"/>
            <a:ext cx="1700784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66757C"/>
                </a:solidFill>
                <a:latin typeface="Arial"/>
              </a:defRPr>
            </a:pPr>
            <a:r>
              <a:t>Research / option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977640"/>
            <a:ext cx="82296" cy="82296"/>
          </a:xfrm>
          <a:prstGeom prst="rect">
            <a:avLst/>
          </a:prstGeom>
          <a:solidFill>
            <a:srgbClr val="8BA4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50208"/>
            <a:ext cx="1700784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66757C"/>
                </a:solidFill>
                <a:latin typeface="Arial"/>
              </a:defRPr>
            </a:pPr>
            <a:r>
              <a:t>Equity + clinical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3977640"/>
            <a:ext cx="82296" cy="82296"/>
          </a:xfrm>
          <a:prstGeom prst="rect">
            <a:avLst/>
          </a:prstGeom>
          <a:solidFill>
            <a:srgbClr val="C9C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23160" y="3950208"/>
            <a:ext cx="1700784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66757C"/>
                </a:solidFill>
                <a:latin typeface="Arial"/>
              </a:defRPr>
            </a:pPr>
            <a:r>
              <a:t>JV / clinical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084831"/>
            <a:ext cx="23317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C3C3C"/>
                </a:solidFill>
                <a:latin typeface="Arial"/>
              </a:defRPr>
            </a:pPr>
            <a:r>
              <a:t>Oncology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22792" y="2116836"/>
            <a:ext cx="2651760" cy="1371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11712" y="2084831"/>
            <a:ext cx="30175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3366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368296"/>
            <a:ext cx="23317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C3C3C"/>
                </a:solidFill>
                <a:latin typeface="Arial"/>
              </a:defRPr>
            </a:pPr>
            <a:r>
              <a:t>CVRM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22792" y="2400300"/>
            <a:ext cx="1687483" cy="137160"/>
          </a:xfrm>
          <a:prstGeom prst="rect">
            <a:avLst/>
          </a:prstGeom>
          <a:solidFill>
            <a:srgbClr val="227C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11712" y="2368296"/>
            <a:ext cx="30175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3366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651760"/>
            <a:ext cx="23317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C3C3C"/>
                </a:solidFill>
                <a:latin typeface="Arial"/>
              </a:defRPr>
            </a:pPr>
            <a:r>
              <a:t>Rare Disease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22792" y="2683764"/>
            <a:ext cx="964276" cy="137160"/>
          </a:xfrm>
          <a:prstGeom prst="rect">
            <a:avLst/>
          </a:prstGeom>
          <a:solidFill>
            <a:srgbClr val="227C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11712" y="2651760"/>
            <a:ext cx="30175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3366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935224"/>
            <a:ext cx="23317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C3C3C"/>
                </a:solidFill>
                <a:latin typeface="Arial"/>
              </a:defRPr>
            </a:pPr>
            <a:r>
              <a:t>Infectious Disease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22792" y="2967228"/>
            <a:ext cx="723207" cy="137160"/>
          </a:xfrm>
          <a:prstGeom prst="rect">
            <a:avLst/>
          </a:prstGeom>
          <a:solidFill>
            <a:srgbClr val="227C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11712" y="2935224"/>
            <a:ext cx="30175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3366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218687"/>
            <a:ext cx="23317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C3C3C"/>
                </a:solidFill>
                <a:latin typeface="Arial"/>
              </a:defRPr>
            </a:pPr>
            <a:r>
              <a:t>I&amp;I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22792" y="3250691"/>
            <a:ext cx="241069" cy="137160"/>
          </a:xfrm>
          <a:prstGeom prst="rect">
            <a:avLst/>
          </a:prstGeom>
          <a:solidFill>
            <a:srgbClr val="227C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11712" y="3218687"/>
            <a:ext cx="30175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336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502152"/>
            <a:ext cx="23317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3C3C3C"/>
                </a:solidFill>
                <a:latin typeface="Arial"/>
              </a:defRPr>
            </a:pPr>
            <a:r>
              <a:t>Multi-TA / undisclosed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22792" y="3534156"/>
            <a:ext cx="964276" cy="137160"/>
          </a:xfrm>
          <a:prstGeom prst="rect">
            <a:avLst/>
          </a:prstGeom>
          <a:solidFill>
            <a:srgbClr val="227C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11712" y="3502152"/>
            <a:ext cx="30175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03366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4361688"/>
            <a:ext cx="5522976" cy="29260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4411979"/>
            <a:ext cx="534009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Modality | primary classification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361688"/>
            <a:ext cx="5532120" cy="29260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59" y="4411979"/>
            <a:ext cx="53492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Target coverage | literal targets in the register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4764024"/>
            <a:ext cx="23774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Small molecule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25496" y="4764024"/>
            <a:ext cx="2743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60" b="1">
                <a:solidFill>
                  <a:srgbClr val="003366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983480"/>
            <a:ext cx="23774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Antibody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25496" y="4983480"/>
            <a:ext cx="2743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60" b="1">
                <a:solidFill>
                  <a:srgbClr val="003366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5202936"/>
            <a:ext cx="23774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Cell therapy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25496" y="5202936"/>
            <a:ext cx="2743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60" b="1">
                <a:solidFill>
                  <a:srgbClr val="003366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5422392"/>
            <a:ext cx="23774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Peptide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25496" y="5422392"/>
            <a:ext cx="2743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60" b="1">
                <a:solidFill>
                  <a:srgbClr val="003366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5641848"/>
            <a:ext cx="23774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Gene therapy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25496" y="5641848"/>
            <a:ext cx="2743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60" b="1">
                <a:solidFill>
                  <a:srgbClr val="00336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5861304"/>
            <a:ext cx="23774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ADC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25496" y="5861304"/>
            <a:ext cx="2743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60" b="1">
                <a:solidFill>
                  <a:srgbClr val="00336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36976" y="4764024"/>
            <a:ext cx="23774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Vaccine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50992" y="4764024"/>
            <a:ext cx="2743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60" b="1">
                <a:solidFill>
                  <a:srgbClr val="00336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36976" y="4983480"/>
            <a:ext cx="23774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Radioconjugate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50992" y="4983480"/>
            <a:ext cx="2743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60" b="1">
                <a:solidFill>
                  <a:srgbClr val="00336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36976" y="5202936"/>
            <a:ext cx="23774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Cell / gene platform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50992" y="5202936"/>
            <a:ext cx="2743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60" b="1">
                <a:solidFill>
                  <a:srgbClr val="00336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36976" y="5422392"/>
            <a:ext cx="23774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Delivery platform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50992" y="5422392"/>
            <a:ext cx="2743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60" b="1">
                <a:solidFill>
                  <a:srgbClr val="00336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36976" y="5641848"/>
            <a:ext cx="23774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60" b="0">
                <a:solidFill>
                  <a:srgbClr val="3C3C3C"/>
                </a:solidFill>
                <a:latin typeface="Arial"/>
              </a:defRPr>
            </a:pPr>
            <a:r>
              <a:t>Discovery platform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50992" y="5641848"/>
            <a:ext cx="2743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1060" b="1">
                <a:solidFill>
                  <a:srgbClr val="00336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17920" y="4764024"/>
            <a:ext cx="5532120" cy="338328"/>
          </a:xfrm>
          <a:prstGeom prst="rect">
            <a:avLst/>
          </a:prstGeom>
          <a:solidFill>
            <a:srgbClr val="ED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36792" y="4855464"/>
            <a:ext cx="52943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003366"/>
                </a:solidFill>
                <a:latin typeface="Arial"/>
              </a:defRPr>
            </a:pPr>
            <a:r>
              <a:t>17 records: specified targets  |  13: platform / target not singled out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17920" y="5276088"/>
            <a:ext cx="5532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30" b="0">
                <a:solidFill>
                  <a:srgbClr val="3C3C3C"/>
                </a:solidFill>
                <a:latin typeface="Arial"/>
              </a:defRPr>
            </a:pPr>
            <a:r>
              <a:t>GLP-1R; GLP-1R/GIPR • Aldosterone synthase • Lp(a)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030" b="0">
                <a:solidFill>
                  <a:srgbClr val="3C3C3C"/>
                </a:solidFill>
                <a:latin typeface="Arial"/>
              </a:defRPr>
            </a:pPr>
            <a:r>
              <a:t>ActRIIA/B • CD19/CD3 • BCMA/CD19 • CLDN18.2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030" b="0">
                <a:solidFill>
                  <a:srgbClr val="3C3C3C"/>
                </a:solidFill>
                <a:latin typeface="Arial"/>
              </a:defRPr>
            </a:pPr>
            <a:r>
              <a:t>EGFR • PSMA • TROP2 + PD-1/VEGF • PD-1/VEGF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030" b="0">
                <a:solidFill>
                  <a:srgbClr val="3C3C3C"/>
                </a:solidFill>
                <a:latin typeface="Arial"/>
              </a:defRPr>
            </a:pPr>
            <a:r>
              <a:t>TTR • PTH1R • HIF-PH • RSV/hMPV • SARS-CoV-2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17920" y="6071616"/>
            <a:ext cx="553212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30" b="0">
                <a:solidFill>
                  <a:srgbClr val="66757C"/>
                </a:solidFill>
                <a:latin typeface="Arial"/>
              </a:defRPr>
            </a:pPr>
            <a:r>
              <a:t>Named targets include multi-target combinations; full partner–asset mapping is in Excel.</a:t>
            </a:r>
          </a:p>
        </p:txBody>
      </p:sp>
      <p:sp>
        <p:nvSpPr>
          <p:cNvPr id="74" name="BD total 6"/>
          <p:cNvSpPr txBox="1"/>
          <p:nvPr/>
        </p:nvSpPr>
        <p:spPr>
          <a:xfrm>
            <a:off x="868201" y="2345443"/>
            <a:ext cx="3657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3366"/>
                </a:solidFill>
                <a:latin typeface="Arial"/>
              </a:rPr>
              <a:t>6</a:t>
            </a:r>
          </a:p>
        </p:txBody>
      </p:sp>
      <p:sp>
        <p:nvSpPr>
          <p:cNvPr id="75" name="BD total 8"/>
          <p:cNvSpPr txBox="1"/>
          <p:nvPr/>
        </p:nvSpPr>
        <p:spPr>
          <a:xfrm>
            <a:off x="1928689" y="2034116"/>
            <a:ext cx="3657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3366"/>
                </a:solidFill>
                <a:latin typeface="Arial"/>
              </a:rPr>
              <a:t>8</a:t>
            </a:r>
          </a:p>
        </p:txBody>
      </p:sp>
      <p:sp>
        <p:nvSpPr>
          <p:cNvPr id="76" name="BD total 3"/>
          <p:cNvSpPr txBox="1"/>
          <p:nvPr/>
        </p:nvSpPr>
        <p:spPr>
          <a:xfrm>
            <a:off x="2989178" y="2812625"/>
            <a:ext cx="3657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3366"/>
                </a:solidFill>
                <a:latin typeface="Arial"/>
              </a:rPr>
              <a:t>3</a:t>
            </a:r>
          </a:p>
        </p:txBody>
      </p:sp>
      <p:sp>
        <p:nvSpPr>
          <p:cNvPr id="77" name="BD total 8"/>
          <p:cNvSpPr txBox="1"/>
          <p:nvPr/>
        </p:nvSpPr>
        <p:spPr>
          <a:xfrm>
            <a:off x="4049678" y="2111865"/>
            <a:ext cx="3657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3366"/>
                </a:solidFill>
                <a:latin typeface="Arial"/>
              </a:rPr>
              <a:t>8</a:t>
            </a:r>
          </a:p>
        </p:txBody>
      </p:sp>
      <p:sp>
        <p:nvSpPr>
          <p:cNvPr id="78" name="BD total 5"/>
          <p:cNvSpPr txBox="1"/>
          <p:nvPr/>
        </p:nvSpPr>
        <p:spPr>
          <a:xfrm>
            <a:off x="5110166" y="2579034"/>
            <a:ext cx="3657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336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