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 Revenue</c:v>
                </c:pt>
              </c:strCache>
            </c:strRef>
          </c:tx>
          <c:spPr>
            <a:solidFill>
              <a:srgbClr val="227C9D"/>
            </a:solidFill>
            <a:ln>
              <a:noFill/>
            </a:ln>
          </c:spP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37.417</c:v>
                </c:pt>
                <c:pt idx="1">
                  <c:v>44.351</c:v>
                </c:pt>
                <c:pt idx="2">
                  <c:v>45.811</c:v>
                </c:pt>
                <c:pt idx="3">
                  <c:v>54.073</c:v>
                </c:pt>
                <c:pt idx="4">
                  <c:v>58.739</c:v>
                </c:pt>
              </c:numCache>
            </c:numRef>
          </c:val>
        </c:ser>
        <c:dLbls>
          <c:numFmt formatCode="0.0" sourceLinked="0"/>
          <c:txPr>
            <a:bodyPr/>
            <a:lstStyle/>
            <a:p>
              <a:pPr>
                <a:defRPr sz="1200">
                  <a:latin typeface="Arial"/>
                </a:defRPr>
              </a:pPr>
            </a:p>
          </c:txPr>
          <c:dLblPos val="outEnd"/>
          <c:showLegendKey val="0"/>
          <c:showVal val="1"/>
          <c:showCatName val="0"/>
          <c:showSerName val="0"/>
          <c:showPercent val="0"/>
          <c:showBubbleSize val="0"/>
          <c:showLeaderLines val="1"/>
        </c:dLbls>
        <c:gapWidth val="65"/>
        <c:axId val="100201"/>
        <c:axId val="100202"/>
      </c:barChart>
      <c:catAx>
        <c:axId val="100201"/>
        <c:scaling>
          <c:orientation val="minMax"/>
        </c:scaling>
        <c:delete val="0"/>
        <c:axPos val="b"/>
        <c:majorTickMark val="in"/>
        <c:minorTickMark val="none"/>
        <c:tickLblPos val="nextTo"/>
        <c:spPr>
          <a:ln>
            <a:noFill/>
          </a:ln>
        </c:spPr>
        <c:txPr>
          <a:bodyPr/>
          <a:lstStyle/>
          <a:p>
            <a:pPr>
              <a:defRPr sz="1200">
                <a:latin typeface="Arial"/>
              </a:defRPr>
            </a:pPr>
          </a:p>
        </c:txPr>
        <c:crossAx val="100202"/>
        <c:crosses val="autoZero"/>
        <c:auto val="1"/>
        <c:lblAlgn val="ctr"/>
        <c:lblOffset val="100"/>
        <c:noMultiLvlLbl val="0"/>
      </c:catAx>
      <c:valAx>
        <c:axId val="100202"/>
        <c:scaling>
          <c:max val="70.0"/>
          <c:min val="0.0"/>
        </c:scaling>
        <c:delete/>
        <c:axPos val="l"/>
        <c:majorTickMark val="out"/>
        <c:minorTickMark val="none"/>
        <c:tickLblPos val="nextTo"/>
        <c:crossAx val="100201"/>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Acquisition</c:v>
                </c:pt>
              </c:strCache>
            </c:strRef>
          </c:tx>
          <c:spPr>
            <a:solidFill>
              <a:srgbClr val="003366"/>
            </a:solidFill>
            <a:ln>
              <a:noFill/>
            </a:ln>
          </c:spPr>
          <c:cat>
            <c:strRef>
              <c:f>Sheet1!$A$2:$A$6</c:f>
              <c:strCache>
                <c:ptCount val="5"/>
                <c:pt idx="0">
                  <c:v>2022</c:v>
                </c:pt>
                <c:pt idx="1">
                  <c:v>2023</c:v>
                </c:pt>
                <c:pt idx="2">
                  <c:v>2024</c:v>
                </c:pt>
                <c:pt idx="3">
                  <c:v>2025</c:v>
                </c:pt>
                <c:pt idx="4">
                  <c:v>2026 YTD</c:v>
                </c:pt>
              </c:strCache>
            </c:strRef>
          </c:cat>
          <c:val>
            <c:numRef>
              <c:f>Sheet1!$B$2:$B$6</c:f>
              <c:numCache>
                <c:formatCode>General</c:formatCode>
                <c:ptCount val="5"/>
                <c:pt idx="0">
                  <c:v>3</c:v>
                </c:pt>
                <c:pt idx="1">
                  <c:v>3</c:v>
                </c:pt>
                <c:pt idx="2">
                  <c:v>2</c:v>
                </c:pt>
                <c:pt idx="3">
                  <c:v>3</c:v>
                </c:pt>
                <c:pt idx="4">
                  <c:v>0</c:v>
                </c:pt>
              </c:numCache>
            </c:numRef>
          </c:val>
        </c:ser>
        <c:ser>
          <c:idx val="1"/>
          <c:order val="1"/>
          <c:tx>
            <c:strRef>
              <c:f>Sheet1!$C$1</c:f>
              <c:strCache>
                <c:ptCount val="1"/>
                <c:pt idx="0">
                  <c:v>License / rights</c:v>
                </c:pt>
              </c:strCache>
            </c:strRef>
          </c:tx>
          <c:spPr>
            <a:solidFill>
              <a:srgbClr val="227C9D"/>
            </a:solidFill>
            <a:ln>
              <a:noFill/>
            </a:ln>
          </c:spPr>
          <c:cat>
            <c:strRef>
              <c:f>Sheet1!$A$2:$A$6</c:f>
              <c:strCache>
                <c:ptCount val="5"/>
                <c:pt idx="0">
                  <c:v>2022</c:v>
                </c:pt>
                <c:pt idx="1">
                  <c:v>2023</c:v>
                </c:pt>
                <c:pt idx="2">
                  <c:v>2024</c:v>
                </c:pt>
                <c:pt idx="3">
                  <c:v>2025</c:v>
                </c:pt>
                <c:pt idx="4">
                  <c:v>2026 YTD</c:v>
                </c:pt>
              </c:strCache>
            </c:strRef>
          </c:cat>
          <c:val>
            <c:numRef>
              <c:f>Sheet1!$C$2:$C$6</c:f>
              <c:numCache>
                <c:formatCode>General</c:formatCode>
                <c:ptCount val="5"/>
                <c:pt idx="0">
                  <c:v>2</c:v>
                </c:pt>
                <c:pt idx="1">
                  <c:v>3</c:v>
                </c:pt>
                <c:pt idx="2">
                  <c:v>1</c:v>
                </c:pt>
                <c:pt idx="3">
                  <c:v>1</c:v>
                </c:pt>
                <c:pt idx="4">
                  <c:v>1</c:v>
                </c:pt>
              </c:numCache>
            </c:numRef>
          </c:val>
        </c:ser>
        <c:ser>
          <c:idx val="2"/>
          <c:order val="2"/>
          <c:tx>
            <c:strRef>
              <c:f>Sheet1!$D$1</c:f>
              <c:strCache>
                <c:ptCount val="1"/>
                <c:pt idx="0">
                  <c:v>Research / option</c:v>
                </c:pt>
              </c:strCache>
            </c:strRef>
          </c:tx>
          <c:spPr>
            <a:solidFill>
              <a:srgbClr val="527F76"/>
            </a:solidFill>
            <a:ln>
              <a:noFill/>
            </a:ln>
          </c:spPr>
          <c:cat>
            <c:strRef>
              <c:f>Sheet1!$A$2:$A$6</c:f>
              <c:strCache>
                <c:ptCount val="5"/>
                <c:pt idx="0">
                  <c:v>2022</c:v>
                </c:pt>
                <c:pt idx="1">
                  <c:v>2023</c:v>
                </c:pt>
                <c:pt idx="2">
                  <c:v>2024</c:v>
                </c:pt>
                <c:pt idx="3">
                  <c:v>2025</c:v>
                </c:pt>
                <c:pt idx="4">
                  <c:v>2026 YTD</c:v>
                </c:pt>
              </c:strCache>
            </c:strRef>
          </c:cat>
          <c:val>
            <c:numRef>
              <c:f>Sheet1!$D$2:$D$6</c:f>
              <c:numCache>
                <c:formatCode>General</c:formatCode>
                <c:ptCount val="5"/>
                <c:pt idx="0">
                  <c:v>1</c:v>
                </c:pt>
                <c:pt idx="1">
                  <c:v>2</c:v>
                </c:pt>
                <c:pt idx="2">
                  <c:v>0</c:v>
                </c:pt>
                <c:pt idx="3">
                  <c:v>3</c:v>
                </c:pt>
                <c:pt idx="4">
                  <c:v>2</c:v>
                </c:pt>
              </c:numCache>
            </c:numRef>
          </c:val>
        </c:ser>
        <c:ser>
          <c:idx val="3"/>
          <c:order val="3"/>
          <c:tx>
            <c:strRef>
              <c:f>Sheet1!$E$1</c:f>
              <c:strCache>
                <c:ptCount val="1"/>
                <c:pt idx="0">
                  <c:v>Equity + clinical</c:v>
                </c:pt>
              </c:strCache>
            </c:strRef>
          </c:tx>
          <c:spPr>
            <a:solidFill>
              <a:srgbClr val="8BA4AE"/>
            </a:solidFill>
            <a:ln>
              <a:noFill/>
            </a:ln>
          </c:spPr>
          <c:cat>
            <c:strRef>
              <c:f>Sheet1!$A$2:$A$6</c:f>
              <c:strCache>
                <c:ptCount val="5"/>
                <c:pt idx="0">
                  <c:v>2022</c:v>
                </c:pt>
                <c:pt idx="1">
                  <c:v>2023</c:v>
                </c:pt>
                <c:pt idx="2">
                  <c:v>2024</c:v>
                </c:pt>
                <c:pt idx="3">
                  <c:v>2025</c:v>
                </c:pt>
                <c:pt idx="4">
                  <c:v>2026 YTD</c:v>
                </c:pt>
              </c:strCache>
            </c:strRef>
          </c:cat>
          <c:val>
            <c:numRef>
              <c:f>Sheet1!$E$2:$E$6</c:f>
              <c:numCache>
                <c:formatCode>General</c:formatCode>
                <c:ptCount val="5"/>
                <c:pt idx="0">
                  <c:v>0</c:v>
                </c:pt>
                <c:pt idx="1">
                  <c:v>0</c:v>
                </c:pt>
                <c:pt idx="2">
                  <c:v>0</c:v>
                </c:pt>
                <c:pt idx="3">
                  <c:v>0</c:v>
                </c:pt>
                <c:pt idx="4">
                  <c:v>1</c:v>
                </c:pt>
              </c:numCache>
            </c:numRef>
          </c:val>
        </c:ser>
        <c:ser>
          <c:idx val="4"/>
          <c:order val="4"/>
          <c:tx>
            <c:strRef>
              <c:f>Sheet1!$F$1</c:f>
              <c:strCache>
                <c:ptCount val="1"/>
                <c:pt idx="0">
                  <c:v>JV / clinical</c:v>
                </c:pt>
              </c:strCache>
            </c:strRef>
          </c:tx>
          <c:spPr>
            <a:solidFill>
              <a:srgbClr val="C9CCCB"/>
            </a:solidFill>
            <a:ln>
              <a:noFill/>
            </a:ln>
          </c:spPr>
          <c:cat>
            <c:strRef>
              <c:f>Sheet1!$A$2:$A$6</c:f>
              <c:strCache>
                <c:ptCount val="5"/>
                <c:pt idx="0">
                  <c:v>2022</c:v>
                </c:pt>
                <c:pt idx="1">
                  <c:v>2023</c:v>
                </c:pt>
                <c:pt idx="2">
                  <c:v>2024</c:v>
                </c:pt>
                <c:pt idx="3">
                  <c:v>2025</c:v>
                </c:pt>
                <c:pt idx="4">
                  <c:v>2026 YTD</c:v>
                </c:pt>
              </c:strCache>
            </c:strRef>
          </c:cat>
          <c:val>
            <c:numRef>
              <c:f>Sheet1!$F$2:$F$6</c:f>
              <c:numCache>
                <c:formatCode>General</c:formatCode>
                <c:ptCount val="5"/>
                <c:pt idx="0">
                  <c:v>0</c:v>
                </c:pt>
                <c:pt idx="1">
                  <c:v>0</c:v>
                </c:pt>
                <c:pt idx="2">
                  <c:v>0</c:v>
                </c:pt>
                <c:pt idx="3">
                  <c:v>1</c:v>
                </c:pt>
                <c:pt idx="4">
                  <c:v>1</c:v>
                </c:pt>
              </c:numCache>
            </c:numRef>
          </c:val>
        </c:ser>
        <c:overlap val="100"/>
        <c:axId val="100501"/>
        <c:axId val="100502"/>
      </c:barChart>
      <c:catAx>
        <c:axId val="100501"/>
        <c:scaling>
          <c:orientation val="minMax"/>
        </c:scaling>
        <c:delete val="0"/>
        <c:axPos val="b"/>
        <c:majorTickMark val="in"/>
        <c:minorTickMark val="none"/>
        <c:tickLblPos val="nextTo"/>
        <c:spPr>
          <a:ln>
            <a:noFill/>
          </a:ln>
        </c:spPr>
        <c:txPr>
          <a:bodyPr/>
          <a:lstStyle/>
          <a:p>
            <a:pPr>
              <a:defRPr sz="1000">
                <a:latin typeface="Arial"/>
              </a:defRPr>
            </a:pPr>
          </a:p>
        </c:txPr>
        <c:crossAx val="100502"/>
        <c:crosses val="autoZero"/>
        <c:auto val="1"/>
        <c:lblAlgn val="ctr"/>
        <c:lblOffset val="100"/>
        <c:noMultiLvlLbl val="0"/>
      </c:catAx>
      <c:valAx>
        <c:axId val="100502"/>
        <c:scaling>
          <c:max val="9.0"/>
          <c:min val="0.0"/>
        </c:scaling>
        <c:delete/>
        <c:axPos val="l"/>
        <c:majorTickMark val="out"/>
        <c:minorTickMark val="none"/>
        <c:tickLblPos val="nextTo"/>
        <c:crossAx val="100501"/>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AstraZeneca | Top 20 MNC Profiling | v2.1 | Prepared 22 October 2026.</a:t>
            </a:r>
          </a:p>
          <a:p>
            <a:r>
              <a:t>Financial period: five complete financial years 2021–2025, with H1 2026 separately identified. Revenue CAGR is reported nominal USD and uses four growth intervals: (2025 revenue / 2021 revenue)^(1/4)-1. It is not an organic or constant-currency CAGR; Alexion was consolidated from 21 July2021.</a:t>
            </a:r>
          </a:p>
          <a:p>
            <a:r>
              <a:t>Pipeline snapshot: official website and clinical appendix as of 27July2026. Website entries are programs/indications, not unique drug candidates. Company-reported late-stage NME counts use its own definitions. Under review means one or more major markets and does not imply a US NDA/BLA for every asset.</a:t>
            </a:r>
          </a:p>
          <a:p>
            <a:r>
              <a:t>BD period: 1Jan2022–21Oct2026. The coded register contains 30 publicly disclosed drug/platform transaction records identified from official annual-report BD/acquisition sections and official press releases. This is a documented cohort, not an exhaustive company-wide deal census. Counts and category mixes apply only to this cohort. One record per substantive agreement/control transaction; announcement and completion of the same agreement are not double-counted. Separate CSPC agreements and separate Summit clinical agreements are separate records. LogicBio/FibroGen China use closing date; SixPeaks uses the 2025 buyout exercise; timing basis is disclosed per row.</a:t>
            </a:r>
          </a:p>
          <a:p>
            <a:r>
              <a:t>For charts, each transaction has one primary type, TA and modality. Secondary TAs are retained in Excel; thus overlapping clinical indications are not summed as multiple deals. Individual targets not disclosed or not singled out in a platform agreement are explicitly marked. No implied CStone recommendations or partnering-demand assertions are included.</a:t>
            </a:r>
          </a:p>
          <a:p/>
          <a:p>
            <a:r>
              <a:t>Summary figures: FY2025 total revenue $58.739bn; FY2021 $37.417bn; reported 4-interval CAGR 11.9346%. FY2025 TA totals: oncology$25.619bn (43.6%), CVRM$12.861bn (21.9%), R&amp;I$8.866bn (15.1%), rare disease$9.126bn (15.5%).</a:t>
            </a:r>
          </a:p>
          <a:p>
            <a:r>
              <a:t>US patent calendar: Farxiga NME patent2026; Lynparza2027; Calquence NME patents2026–2032 (multiple patents). FY2025 global AZ Product Revenue (sales+alliance) Farxiga$8.405bn, Lynparza$3.279bn, Calquence$3.518bn; these are not US revenues at risk.</a:t>
            </a:r>
          </a:p>
          <a:p>
            <a:r>
              <a:t>H1 2026: group$30.672bn,+6%CER; CVRM-12%CER.</a:t>
            </a:r>
          </a:p>
          <a:p>
            <a:r>
              <a:t>Pipeline website has183 active entries, including45 classified asPhaseIII and62LCM. Company headline figures are21late-stageNMEs and4underreview; these are different denominators.</a:t>
            </a:r>
          </a:p>
          <a:p>
            <a:r>
              <a:t>R&amp;D prioritization follows all four columns of H1 presentationp24. No recommendations for CStone are inferred.</a:t>
            </a:r>
          </a:p>
          <a:p/>
          <a:p>
            <a:r>
              <a:t>SOURCES (retrieved 22Oct2026):</a:t>
            </a:r>
          </a:p>
          <a:p>
            <a:r>
              <a:t>[1] H1 &amp; Q2 2026 results, 27 Jul 2026</a:t>
            </a:r>
          </a:p>
          <a:p>
            <a:r>
              <a:t>https://www.astrazeneca.com/content/dam/az/PDF/2026/h1q2/H1-and-Q2-2026-results-announcement.pdf</a:t>
            </a:r>
          </a:p>
          <a:p/>
          <a:p>
            <a:r>
              <a:t>[2] FY &amp; Q4 2025 results, 10 Feb 2026</a:t>
            </a:r>
          </a:p>
          <a:p>
            <a:r>
              <a:t>https://www.astrazeneca.com/content/dam/az/PDF/2025/Q4-FY/Full-year-Q4-2025-results-announcement.pdf</a:t>
            </a:r>
          </a:p>
          <a:p/>
          <a:p>
            <a:r>
              <a:t>[3] Patent Expiries of Key Marketed Products, as at 10 Feb 2026</a:t>
            </a:r>
          </a:p>
          <a:p>
            <a:r>
              <a:t>https://www.astrazeneca.com/content/dam/az/Investor_Relations/annual-report-2025/pdf/AstraZeneca_Patent_Expiries_of_Key_Marketed_Products_2025.pdf</a:t>
            </a:r>
          </a:p>
          <a:p/>
          <a:p>
            <a:r>
              <a:t>[4] Official pipeline, as of 27 Jul 2026</a:t>
            </a:r>
          </a:p>
          <a:p>
            <a:r>
              <a:t>https://www.astrazeneca.com/our-therapy-areas/pipeline.html</a:t>
            </a:r>
          </a:p>
          <a:p/>
          <a:p>
            <a:r>
              <a:t>[5] H1 &amp; Q2 2026 results presentation, 27 Jul 2026</a:t>
            </a:r>
          </a:p>
          <a:p>
            <a:r>
              <a:t>https://www.astrazeneca.com/content/dam/az/PDF/2026/h1q2/H1-and-Q2-2026-results-presentation.pdf</a:t>
            </a:r>
          </a:p>
          <a:p/>
          <a:p>
            <a:r>
              <a:t>[15] FY2021 results</a:t>
            </a:r>
          </a:p>
          <a:p>
            <a:r>
              <a:t>https://www.astrazeneca.com/content/dam/az/PDF/2021/full-year/Full-year-2021-results-announcement.pdf</a:t>
            </a:r>
          </a:p>
          <a:p/>
          <a:p>
            <a:r>
              <a:t>[16] FY2022 results</a:t>
            </a:r>
          </a:p>
          <a:p>
            <a:r>
              <a:t>https://www.astrazeneca.com/content/dam/az/PDF/2022/fy/Full-year-and-Q4-2022-results-announcement.pdf</a:t>
            </a:r>
          </a:p>
          <a:p/>
          <a:p>
            <a:r>
              <a:t>[17] FY2023 results</a:t>
            </a:r>
          </a:p>
          <a:p>
            <a:r>
              <a:t>https://www.astrazeneca.com/content/dam/az/PDF/2023/fy/Full-year-and-Q4-2023-results-announcement.pdf</a:t>
            </a:r>
          </a:p>
          <a:p/>
          <a:p>
            <a:r>
              <a:t>[18] FY2024 results</a:t>
            </a:r>
          </a:p>
          <a:p>
            <a:r>
              <a:t>https://www.astrazeneca.com/content/dam/az/PDF/2024/fy/Full-year-and-Q4-2024-results-announcement.pdf</a:t>
            </a:r>
          </a:p>
          <a:p/>
          <a:p>
            <a:r>
              <a:t>[19] H1 2026 clinical trials appendix, 27 Jul 2026</a:t>
            </a:r>
          </a:p>
          <a:p>
            <a:r>
              <a:t>https://www.astrazeneca.com/content/dam/az/PDF/2026/h1q2/H1-and-Q2-2026-results-clinical-trials-appendix.pdf</a:t>
            </a:r>
          </a:p>
          <a:p/>
          <a:p>
            <a:r>
              <a:t>[20] Annual Report 2022</a:t>
            </a:r>
          </a:p>
          <a:p>
            <a:r>
              <a:t>https://www.astrazeneca.com/content/dam/az/Investor_Relations/annual-report-2022/pdf/AstraZeneca_AR_2022.pdf</a:t>
            </a:r>
          </a:p>
          <a:p/>
          <a:p>
            <a:r>
              <a:t>[21] Annual Report 2023</a:t>
            </a:r>
          </a:p>
          <a:p>
            <a:r>
              <a:t>https://www.astrazeneca.com/content/dam/az/Investor_Relations/annual-report-2023/pdf/AstraZeneca_AR_2023.pdf</a:t>
            </a:r>
          </a:p>
          <a:p/>
          <a:p>
            <a:r>
              <a:t>[22] Annual Report 2024</a:t>
            </a:r>
          </a:p>
          <a:p>
            <a:r>
              <a:t>https://www.astrazeneca.com/content/dam/az/Investor_Relations/annual-report-2024/pdf/AstraZeneca_AR_2024.pdf</a:t>
            </a:r>
          </a:p>
          <a:p/>
          <a:p>
            <a:r>
              <a:t>[23] Annual Report 2025</a:t>
            </a:r>
          </a:p>
          <a:p>
            <a:r>
              <a:t>https://www.astrazeneca.com/content/dam/az/Investor_Relations/annual-report-2025/pdf/AstraZeneca_AR_2025.pdf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AstraZeneca | Top 20 MNC Profiling | v2.1 | Prepared 22 October 2026.</a:t>
            </a:r>
          </a:p>
          <a:p>
            <a:r>
              <a:t>Financial period: five complete financial years 2021–2025, with H1 2026 separately identified. Revenue CAGR is reported nominal USD and uses four growth intervals: (2025 revenue / 2021 revenue)^(1/4)-1. It is not an organic or constant-currency CAGR; Alexion was consolidated from 21 July2021.</a:t>
            </a:r>
          </a:p>
          <a:p>
            <a:r>
              <a:t>Pipeline snapshot: official website and clinical appendix as of 27July2026. Website entries are programs/indications, not unique drug candidates. Company-reported late-stage NME counts use its own definitions. Under review means one or more major markets and does not imply a US NDA/BLA for every asset.</a:t>
            </a:r>
          </a:p>
          <a:p>
            <a:r>
              <a:t>BD period: 1Jan2022–21Oct2026. The coded register contains 30 publicly disclosed drug/platform transaction records identified from official annual-report BD/acquisition sections and official press releases. This is a documented cohort, not an exhaustive company-wide deal census. Counts and category mixes apply only to this cohort. One record per substantive agreement/control transaction; announcement and completion of the same agreement are not double-counted. Separate CSPC agreements and separate Summit clinical agreements are separate records. LogicBio/FibroGen China use closing date; SixPeaks uses the 2025 buyout exercise; timing basis is disclosed per row.</a:t>
            </a:r>
          </a:p>
          <a:p>
            <a:r>
              <a:t>For charts, each transaction has one primary type, TA and modality. Secondary TAs are retained in Excel; thus overlapping clinical indications are not summed as multiple deals. Individual targets not disclosed or not singled out in a platform agreement are explicitly marked. No implied CStone recommendations or partnering-demand assertions are included.</a:t>
            </a:r>
          </a:p>
          <a:p/>
          <a:p>
            <a:r>
              <a:t>Annual total revenue$bn:2021 37.417;2022 44.351;2023 45.811;2024 54.073;2025 58.739. CAGR=(58.739/37.417)^(1/4)-1=11.934611%.</a:t>
            </a:r>
          </a:p>
          <a:p>
            <a:r>
              <a:t>FY2025 TA total shares computed from disclosed totals, not reconstructed from products. V&amp;I+Other=$2.267bn.</a:t>
            </a:r>
          </a:p>
          <a:p>
            <a:r>
              <a:t>Right table includes all15 medicines with FY2025 AZ Product Revenue&gt;=US$1bn in Table3 of FY2025 results; no lower-revenue products are substituted to fill the calendar. PR includes Alliance Revenue and is not partner worldwide sales. Global PR is not US revenue exposure.</a:t>
            </a:r>
          </a:p>
          <a:p>
            <a:r>
              <a:t>Patent dates are NME patent dates where highlighted in the official supplement; where only other patent dates are given, these are explicitly markedother. Symbicort pMDI, Fasenra and Breztri dates are other patent dates. Strensiq NME dates are 2025–2029, with other patents 2035–2038. Expired Zoladex and Crestor are disclosed in the supplement notes. Soliris licensed US biosimilar entry1Mar2025 precedes the2027NMEpatent date. Farxiga generics launched US Q22026. Dates include granted extensions where company states; secondary patents, litigation, regulatory exclusivity and settlements can change actual commercial entry. No quantitative future revenue gap is estimated.</a:t>
            </a:r>
          </a:p>
          <a:p/>
          <a:p>
            <a:r>
              <a:t>SOURCES (retrieved 22Oct2026):</a:t>
            </a:r>
          </a:p>
          <a:p>
            <a:r>
              <a:t>[1] H1 &amp; Q2 2026 results, 27 Jul 2026</a:t>
            </a:r>
          </a:p>
          <a:p>
            <a:r>
              <a:t>https://www.astrazeneca.com/content/dam/az/PDF/2026/h1q2/H1-and-Q2-2026-results-announcement.pdf</a:t>
            </a:r>
          </a:p>
          <a:p/>
          <a:p>
            <a:r>
              <a:t>[2] FY &amp; Q4 2025 results, 10 Feb 2026</a:t>
            </a:r>
          </a:p>
          <a:p>
            <a:r>
              <a:t>https://www.astrazeneca.com/content/dam/az/PDF/2025/Q4-FY/Full-year-Q4-2025-results-announcement.pdf</a:t>
            </a:r>
          </a:p>
          <a:p/>
          <a:p>
            <a:r>
              <a:t>[3] Patent Expiries of Key Marketed Products, as at 10 Feb 2026</a:t>
            </a:r>
          </a:p>
          <a:p>
            <a:r>
              <a:t>https://www.astrazeneca.com/content/dam/az/Investor_Relations/annual-report-2025/pdf/AstraZeneca_Patent_Expiries_of_Key_Marketed_Products_2025.pdf</a:t>
            </a:r>
          </a:p>
          <a:p/>
          <a:p>
            <a:r>
              <a:t>[15] FY2021 results</a:t>
            </a:r>
          </a:p>
          <a:p>
            <a:r>
              <a:t>https://www.astrazeneca.com/content/dam/az/PDF/2021/full-year/Full-year-2021-results-announcement.pdf</a:t>
            </a:r>
          </a:p>
          <a:p/>
          <a:p>
            <a:r>
              <a:t>[16] FY2022 results</a:t>
            </a:r>
          </a:p>
          <a:p>
            <a:r>
              <a:t>https://www.astrazeneca.com/content/dam/az/PDF/2022/fy/Full-year-and-Q4-2022-results-announcement.pdf</a:t>
            </a:r>
          </a:p>
          <a:p/>
          <a:p>
            <a:r>
              <a:t>[17] FY2023 results</a:t>
            </a:r>
          </a:p>
          <a:p>
            <a:r>
              <a:t>https://www.astrazeneca.com/content/dam/az/PDF/2023/fy/Full-year-and-Q4-2023-results-announcement.pdf</a:t>
            </a:r>
          </a:p>
          <a:p/>
          <a:p>
            <a:r>
              <a:t>[18] FY2024 results</a:t>
            </a:r>
          </a:p>
          <a:p>
            <a:r>
              <a:t>https://www.astrazeneca.com/content/dam/az/PDF/2024/fy/Full-year-and-Q4-2024-results-announcement.pdf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AstraZeneca | Top 20 MNC Profiling | v2.1 | Prepared 22 October 2026.</a:t>
            </a:r>
          </a:p>
          <a:p>
            <a:r>
              <a:t>Financial period: five complete financial years 2021–2025, with H1 2026 separately identified. Revenue CAGR is reported nominal USD and uses four growth intervals: (2025 revenue / 2021 revenue)^(1/4)-1. It is not an organic or constant-currency CAGR; Alexion was consolidated from 21 July2021.</a:t>
            </a:r>
          </a:p>
          <a:p>
            <a:r>
              <a:t>Pipeline snapshot: official website and clinical appendix as of 27July2026. Website entries are programs/indications, not unique drug candidates. Company-reported late-stage NME counts use its own definitions. Under review means one or more major markets and does not imply a US NDA/BLA for every asset.</a:t>
            </a:r>
          </a:p>
          <a:p>
            <a:r>
              <a:t>BD period: 1Jan2022–21Oct2026. The coded register contains 30 publicly disclosed drug/platform transaction records identified from official annual-report BD/acquisition sections and official press releases. This is a documented cohort, not an exhaustive company-wide deal census. Counts and category mixes apply only to this cohort. One record per substantive agreement/control transaction; announcement and completion of the same agreement are not double-counted. Separate CSPC agreements and separate Summit clinical agreements are separate records. LogicBio/FibroGen China use closing date; SixPeaks uses the 2025 buyout exercise; timing basis is disclosed per row.</a:t>
            </a:r>
          </a:p>
          <a:p>
            <a:r>
              <a:t>For charts, each transaction has one primary type, TA and modality. Secondary TAs are retained in Excel; thus overlapping clinical indications are not summed as multiple deals. Individual targets not disclosed or not singled out in a platform agreement are explicitly marked. No implied CStone recommendations or partnering-demand assertions are included.</a:t>
            </a:r>
          </a:p>
          <a:p/>
          <a:p>
            <a:r>
              <a:t>Structured website extraction:191entries total,183with active stage and8removed entries. Active stages:PhaseI39;PhaseII37;PhaseIII45;LCM62. PhaseIII counts:Oncology28;CVRM8;R&amp;I4;Rare5. These are website entries, not unique assets or trial counts.</a:t>
            </a:r>
          </a:p>
          <a:p>
            <a:r>
              <a:t>Displayed PhaseIII molecular/target map covers molecules represented in the site PhaseIII bucket, including regionally approved camizestrant, Baxfendy, Wainua, Saphnelo,Tezspire and Imfinzi/Imjudo. The stage can differ by indication/geography. Combination components and alternative indications are not added to create a new unique-asset headline.</a:t>
            </a:r>
          </a:p>
          <a:p>
            <a:r>
              <a:t>First-registration/under-review NME list in July clinical appendix:tozorakimab(IL33,COPD),anselamimab(fibril-reactive mAb,ALamyloidosis),efzimfotasealfa(TNSALP enzyme replacement,HPP),gefurulimab(C5,gMG). These refer to at least one major market, not universallyUSNDA/BLA. Company headline late-stageNMEs21 remains independently company-reported and is not equated to the45entry count. All active and removed website records, all45PhaseIII records and all62LCM records are preserved with original names/indications in Excel.</a:t>
            </a:r>
          </a:p>
          <a:p/>
          <a:p>
            <a:r>
              <a:t>SOURCES (retrieved 22Oct2026):</a:t>
            </a:r>
          </a:p>
          <a:p>
            <a:r>
              <a:t>[4] Official pipeline, as of 27 Jul 2026</a:t>
            </a:r>
          </a:p>
          <a:p>
            <a:r>
              <a:t>https://www.astrazeneca.com/our-therapy-areas/pipeline.html</a:t>
            </a:r>
          </a:p>
          <a:p/>
          <a:p>
            <a:r>
              <a:t>[19] H1 2026 clinical trials appendix, 27 Jul 2026</a:t>
            </a:r>
          </a:p>
          <a:p>
            <a:r>
              <a:t>https://www.astrazeneca.com/content/dam/az/PDF/2026/h1q2/H1-and-Q2-2026-results-clinical-trials-appendix.pdf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AstraZeneca | Top 20 MNC Profiling | v2.1 | Prepared 22 October 2026.</a:t>
            </a:r>
          </a:p>
          <a:p>
            <a:r>
              <a:t>Financial period: five complete financial years 2021–2025, with H1 2026 separately identified. Revenue CAGR is reported nominal USD and uses four growth intervals: (2025 revenue / 2021 revenue)^(1/4)-1. It is not an organic or constant-currency CAGR; Alexion was consolidated from 21 July2021.</a:t>
            </a:r>
          </a:p>
          <a:p>
            <a:r>
              <a:t>Pipeline snapshot: official website and clinical appendix as of 27July2026. Website entries are programs/indications, not unique drug candidates. Company-reported late-stage NME counts use its own definitions. Under review means one or more major markets and does not imply a US NDA/BLA for every asset.</a:t>
            </a:r>
          </a:p>
          <a:p>
            <a:r>
              <a:t>BD period: 1Jan2022–21Oct2026. The coded register contains 30 publicly disclosed drug/platform transaction records identified from official annual-report BD/acquisition sections and official press releases. This is a documented cohort, not an exhaustive company-wide deal census. Counts and category mixes apply only to this cohort. One record per substantive agreement/control transaction; announcement and completion of the same agreement are not double-counted. Separate CSPC agreements and separate Summit clinical agreements are separate records. LogicBio/FibroGen China use closing date; SixPeaks uses the 2025 buyout exercise; timing basis is disclosed per row.</a:t>
            </a:r>
          </a:p>
          <a:p>
            <a:r>
              <a:t>For charts, each transaction has one primary type, TA and modality. Secondary TAs are retained in Excel; thus overlapping clinical indications are not summed as multiple deals. Individual targets not disclosed or not singled out in a platform agreement are explicitly marked. No implied CStone recommendations or partnering-demand assertions are included.</a:t>
            </a:r>
          </a:p>
          <a:p/>
          <a:p>
            <a:r>
              <a:t>This page reproduces the complete four-area framework on H1presentationp24, paraphrased rather than independently selecting favorable examples. It is a company-highlighted investment framework, not an exhaustive description of every R&amp;D project.</a:t>
            </a:r>
          </a:p>
          <a:p>
            <a:r>
              <a:t>Weight management/CVrisk:laroprovstat firstPhaseIIIdataH12027;6elecoglipronPhaseIIItrials initiated;AZD6234PhaseIIreadoutH12026;AZD6234/AZD9550PhaseIIb expectedH22026.</a:t>
            </a:r>
          </a:p>
          <a:p>
            <a:r>
              <a:t>ADCs/radioconjugates:first positivePhaseIIIdataSone-VeCLARITY-Gastric01;firstpuxi-samdataH22027Bluestar-Endometrial01;first patients dosed torvu-sam/zada-guPhaseIIIQ22026.</a:t>
            </a:r>
          </a:p>
          <a:p>
            <a:r>
              <a:t>NextgenIObispecifics:16PhaseIIItrials across9tumortypes;5PhaseIIItrials in combinationwithADCs;subcutaneousrilvegostomigdevelopmentongoing. These are trial/program metrics, not counts of independent molecules.</a:t>
            </a:r>
          </a:p>
          <a:p>
            <a:r>
              <a:t>Celltherapy/TCE:AZD0120ongoingPhaseIIIrrMM, furtherPhaseIIIinitiatingnewlydiagnosed; surovatamig ongoingPhaseIIIFL/DLBCL;AZD0120 and surovatamig earlyautoimmune trials.</a:t>
            </a:r>
          </a:p>
          <a:p>
            <a:r>
              <a:t>Timings/forward-looking statements are the company’s July2026 outlook, not subsequently revalidated forecasts.</a:t>
            </a:r>
          </a:p>
          <a:p/>
          <a:p>
            <a:r>
              <a:t>SOURCES (retrieved 22Oct2026):</a:t>
            </a:r>
          </a:p>
          <a:p>
            <a:r>
              <a:t>[5] H1 &amp; Q2 2026 results presentation, 27 Jul 2026</a:t>
            </a:r>
          </a:p>
          <a:p>
            <a:r>
              <a:t>https://www.astrazeneca.com/content/dam/az/PDF/2026/h1q2/H1-and-Q2-2026-results-presentation.pdf</a:t>
            </a:r>
          </a:p>
          <a:p/>
          <a:p>
            <a:r>
              <a:t>[19] H1 2026 clinical trials appendix, 27 Jul 2026</a:t>
            </a:r>
          </a:p>
          <a:p>
            <a:r>
              <a:t>https://www.astrazeneca.com/content/dam/az/PDF/2026/h1q2/H1-and-Q2-2026-results-clinical-trials-appendix.pdf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AstraZeneca | Top 20 MNC Profiling | v2.1 | Prepared 22 October 2026.</a:t>
            </a:r>
          </a:p>
          <a:p>
            <a:r>
              <a:t>Financial period: five complete financial years 2021–2025, with H1 2026 separately identified. Revenue CAGR is reported nominal USD and uses four growth intervals: (2025 revenue / 2021 revenue)^(1/4)-1. It is not an organic or constant-currency CAGR; Alexion was consolidated from 21 July2021.</a:t>
            </a:r>
          </a:p>
          <a:p>
            <a:r>
              <a:t>Pipeline snapshot: official website and clinical appendix as of 27July2026. Website entries are programs/indications, not unique drug candidates. Company-reported late-stage NME counts use its own definitions. Under review means one or more major markets and does not imply a US NDA/BLA for every asset.</a:t>
            </a:r>
          </a:p>
          <a:p>
            <a:r>
              <a:t>BD period: 1Jan2022–21Oct2026. The coded register contains 30 publicly disclosed drug/platform transaction records identified from official annual-report BD/acquisition sections and official press releases. This is a documented cohort, not an exhaustive company-wide deal census. Counts and category mixes apply only to this cohort. One record per substantive agreement/control transaction; announcement and completion of the same agreement are not double-counted. Separate CSPC agreements and separate Summit clinical agreements are separate records. LogicBio/FibroGen China use closing date; SixPeaks uses the 2025 buyout exercise; timing basis is disclosed per row.</a:t>
            </a:r>
          </a:p>
          <a:p>
            <a:r>
              <a:t>For charts, each transaction has one primary type, TA and modality. Secondary TAs are retained in Excel; thus overlapping clinical indications are not summed as multiple deals. Individual targets not disclosed or not singled out in a platform agreement are explicitly marked. No implied CStone recommendations or partnering-demand assertions are included.</a:t>
            </a:r>
          </a:p>
          <a:p/>
          <a:p>
            <a:r>
              <a:t>All30records in companionExcel. Year counts:2022 6;2023 8;2024 3;2025 8;2026YTD5. Primary deal types:11acquisitions,8licenses/asset-rights,8research/option/licenses,1equity+clinical,2JV/clinical. Year table is based on announcement except expressly disclosed closing/buyoutexercise dates.</a:t>
            </a:r>
          </a:p>
          <a:p>
            <a:r>
              <a:t>PrimaryTAcounts:Oncology11;CVRM7;Rare4;Infectious3;I&amp;I1;Multi-TA/undisclosed4. Secondaryareas retained in raw register.</a:t>
            </a:r>
          </a:p>
          <a:p>
            <a:r>
              <a:t>Primarymodalitycounts:Smallmolecule7;Antibody6;Celltherapy4;Peptide3;Gene2;ADC2;Vaccine2;RC1;cell/geneplatform1;delivery1;discovery1. Mixed transactions assigned one primary modality, with asset/target description preserving additionalcomponents.</a:t>
            </a:r>
          </a:p>
          <a:p>
            <a:r>
              <a:t>17records disclose a specific target or targetpair/pathogen;13platform/multi-target records do not single out one target. Targetrow17 includes RSV/hMPV and SARSCoV2 antigen portfolios, not necessarily individually specified protein epitopes. Detailed literal target entries retained rather than backfilling undisclosedtargets from assumptions.</a:t>
            </a:r>
          </a:p>
          <a:p>
            <a:r>
              <a:t>The cohort containsasset/programandplatform/control deals; size and number of assets perdeal are not comparable. Do not infer target marketshare or company-wide annual transactionactivity from this sample.</a:t>
            </a:r>
          </a:p>
          <a:p/>
          <a:p>
            <a:r>
              <a:t>SOURCES (retrieved 22Oct2026):</a:t>
            </a:r>
          </a:p>
          <a:p>
            <a:r>
              <a:t>[6] Summit equity investment / clinical collaboration announced, 28 Sep 2026</a:t>
            </a:r>
          </a:p>
          <a:p>
            <a:r>
              <a:t>https://www.astrazeneca.com/media-centre/press-releases/2026/astrazeneca-announces-equity-investment-summit.html</a:t>
            </a:r>
          </a:p>
          <a:p/>
          <a:p>
            <a:r>
              <a:t>[8] Datroway + ivonescimab clinical collaboration, 2 Oct 2026</a:t>
            </a:r>
          </a:p>
          <a:p>
            <a:r>
              <a:t>https://www.astrazeneca.com/media-centre/press-releases/2026/az-ds-collaboration-with-summit-for-datroway.html</a:t>
            </a:r>
          </a:p>
          <a:p/>
          <a:p>
            <a:r>
              <a:t>[10] CSPC weight-management collaboration, 30 Jan 2026</a:t>
            </a:r>
          </a:p>
          <a:p>
            <a:r>
              <a:t>https://www.astrazeneca.com/media-centre/press-releases/2026/astrazeneca-agrees-obesity-and-t2d-deal-with-cspc.html</a:t>
            </a:r>
          </a:p>
          <a:p/>
          <a:p>
            <a:r>
              <a:t>[11] insitro discovery collaboration, 15 Oct 2026</a:t>
            </a:r>
          </a:p>
          <a:p>
            <a:r>
              <a:t>https://www.astrazeneca.com/media-centre/press-releases/2026/astrazeneca-announces-new-strategic-collaboration-with-insitro-for-difficult-to-treat-cardiometabolic-diseases.html</a:t>
            </a:r>
          </a:p>
          <a:p/>
          <a:p>
            <a:r>
              <a:t>[21] Annual Report 2023</a:t>
            </a:r>
          </a:p>
          <a:p>
            <a:r>
              <a:t>https://www.astrazeneca.com/content/dam/az/Investor_Relations/annual-report-2023/pdf/AstraZeneca_AR_2023.pdf</a:t>
            </a:r>
          </a:p>
          <a:p/>
          <a:p>
            <a:r>
              <a:t>[23] Annual Report 2025</a:t>
            </a:r>
          </a:p>
          <a:p>
            <a:r>
              <a:t>https://www.astrazeneca.com/content/dam/az/Investor_Relations/annual-report-2025/pdf/AstraZeneca_AR_2025.pdf</a:t>
            </a:r>
          </a:p>
          <a:p/>
          <a:p>
            <a:r>
              <a:t>[24] Neurimmune — official transaction disclosure</a:t>
            </a:r>
          </a:p>
          <a:p>
            <a:r>
              <a:t>https://www.astrazeneca.com/media-centre/press-releases/2022/astrazeneca-and-neurimmune-sign-deal-for-ni006.html</a:t>
            </a:r>
          </a:p>
          <a:p/>
          <a:p>
            <a:r>
              <a:t>[25] Scorpion — official transaction disclosure</a:t>
            </a:r>
          </a:p>
          <a:p>
            <a:r>
              <a:t>https://www.astrazeneca.com/media-centre/press-releases/2022/astrazeneca-and-scorpion-therapeutics-enter-agreement-to-discover-develop-and-commercialise-novel-cancer-treatments-against-undruggable-targets.html</a:t>
            </a:r>
          </a:p>
          <a:p/>
          <a:p>
            <a:r>
              <a:t>[26] RQ Biotechnology — official transaction disclosure</a:t>
            </a:r>
          </a:p>
          <a:p>
            <a:r>
              <a:t>https://www.astrazeneca.com/media-centre/press-releases/2022/astrazeneca-signs-licence-agreement-with-rq-biotechnology-for-monoclonal-antibodies-against-covid-19.html</a:t>
            </a:r>
          </a:p>
          <a:p/>
          <a:p>
            <a:r>
              <a:t>[27] TeneoTwo — official transaction disclosure</a:t>
            </a:r>
          </a:p>
          <a:p>
            <a:r>
              <a:t>https://www.astrazeneca.com/media-centre/press-releases/2022/astrazeneca-to-acquire-teneotwo-and-t-cell-engager.html</a:t>
            </a:r>
          </a:p>
          <a:p/>
          <a:p>
            <a:r>
              <a:t>[28] Neogene — official transaction disclosure</a:t>
            </a:r>
          </a:p>
          <a:p>
            <a:r>
              <a:t>https://www.astrazeneca.com/media-centre/press-releases/2022/astrazeneca-to-acquire-neogene-therapeutics-accelerating-ambition-in-oncology-cell-therapy.html</a:t>
            </a:r>
          </a:p>
          <a:p/>
          <a:p>
            <a:r>
              <a:t>[29] CinCor — official transaction disclosure</a:t>
            </a:r>
          </a:p>
          <a:p>
            <a:r>
              <a:t>https://www.astrazeneca.com/media-centre/press-releases/2023/astrazeneca-acquire-cincor-for-cardiorenal-asset.html</a:t>
            </a:r>
          </a:p>
          <a:p/>
          <a:p>
            <a:r>
              <a:t>[30] KYM Biosciences — official transaction disclosure</a:t>
            </a:r>
          </a:p>
          <a:p>
            <a:r>
              <a:t>https://www.astrazeneca.com/media-centre/press-releases/2023/astrazeneca-enters-license-agreement-with-kym-biosciences-for-cmg901-a-claudin-182-antibody-drug-conjugate.html</a:t>
            </a:r>
          </a:p>
          <a:p/>
          <a:p>
            <a:r>
              <a:t>[31] Quell — official transaction disclosure</a:t>
            </a:r>
          </a:p>
          <a:p>
            <a:r>
              <a:t>https://www.astrazeneca.com/media-centre/press-releases/2023/astrazeneca-agreement-with-quell-therapeutics.html</a:t>
            </a:r>
          </a:p>
          <a:p/>
          <a:p>
            <a:r>
              <a:t>[32] Pfizer portfolio — official transaction disclosure</a:t>
            </a:r>
          </a:p>
          <a:p>
            <a:r>
              <a:t>https://www.astrazeneca.com/media-centre/press-releases/2023/alexion-enters-gene-therapy-agreement-with-pfizer.html</a:t>
            </a:r>
          </a:p>
          <a:p/>
          <a:p>
            <a:r>
              <a:t>[33] Cellectis — official transaction disclosure</a:t>
            </a:r>
          </a:p>
          <a:p>
            <a:r>
              <a:t>https://www.astrazeneca.com/media-centre/press-releases/2023/astrazeneca-cell-and-gene-therapy-deal-w-cellectis.html</a:t>
            </a:r>
          </a:p>
          <a:p/>
          <a:p>
            <a:r>
              <a:t>[34] Eccogene — official transaction disclosure</a:t>
            </a:r>
          </a:p>
          <a:p>
            <a:r>
              <a:t>https://www.astrazeneca.com/media-centre/press-releases/2023/agreement-with-eccogene-for-clinical-stage-glp-1ra.html</a:t>
            </a:r>
          </a:p>
          <a:p/>
          <a:p>
            <a:r>
              <a:t>[35] Icosavax — official transaction disclosure</a:t>
            </a:r>
          </a:p>
          <a:p>
            <a:r>
              <a:t>https://www.astrazeneca.com/media-centre/press-releases/2023/astrazeneca-to-acquire-icosavax-including-potential-first-in-class-rsv-and-hmpv-combination-vaccine-with-positive-phase-ii-data.html</a:t>
            </a:r>
          </a:p>
          <a:p/>
          <a:p>
            <a:r>
              <a:t>[36] Gracell — official transaction disclosure</a:t>
            </a:r>
          </a:p>
          <a:p>
            <a:r>
              <a:t>https://www.astrazeneca.com/media-centre/press-releases/2023/astrazeneca-to-acquire-gracell-furthering-cell-therapy-ambition-across-oncology-and-autoimmune-diseases.html</a:t>
            </a:r>
          </a:p>
          <a:p/>
          <a:p>
            <a:r>
              <a:t>[37] Amolyt — official transaction disclosure</a:t>
            </a:r>
          </a:p>
          <a:p>
            <a:r>
              <a:t>https://www.astrazeneca.com/media-centre/press-releases/2024/astrazeneca-to-acquire-amolyt.html</a:t>
            </a:r>
          </a:p>
          <a:p/>
          <a:p>
            <a:r>
              <a:t>[38] Fusion — official transaction disclosure</a:t>
            </a:r>
          </a:p>
          <a:p>
            <a:r>
              <a:t>https://www.astrazeneca.com/media-centre/press-releases/2024/astrazeneca-to-acquire-fusion.html</a:t>
            </a:r>
          </a:p>
          <a:p/>
          <a:p>
            <a:r>
              <a:t>[39] CSPC | Lp(a) — official transaction disclosure</a:t>
            </a:r>
          </a:p>
          <a:p>
            <a:r>
              <a:t>https://www.astrazeneca.com/media-centre/press-releases/2024/astrazeneca-licenses-lipid-lowering-lpa-asset.html</a:t>
            </a:r>
          </a:p>
          <a:p/>
          <a:p>
            <a:r>
              <a:t>[40] Alteogen — official transaction disclosure</a:t>
            </a:r>
          </a:p>
          <a:p>
            <a:r>
              <a:t>https://www.astrazeneca.com/media-centre/press-releases/2025/astrazeneca-enters-license-agreement-with-alteogen-for-subcutaneous-formulations-of-multiple-oncology-assets.html</a:t>
            </a:r>
          </a:p>
          <a:p/>
          <a:p>
            <a:r>
              <a:t>[41] EsoBiotec — official transaction disclosure</a:t>
            </a:r>
          </a:p>
          <a:p>
            <a:r>
              <a:t>https://www.astrazeneca.com/media-centre/press-releases/2025/astrazeneca-to-acquire-esobiotec.html</a:t>
            </a:r>
          </a:p>
          <a:p/>
          <a:p>
            <a:r>
              <a:t>[42] Harbour BioMed — official transaction disclosure</a:t>
            </a:r>
          </a:p>
          <a:p>
            <a:r>
              <a:t>https://www.astrazeneca.com/media-centre/press-releases/2025/astrazeneca-invests-2-and-half-bn-in-beijing-r-and-d-and-manufacturing.html</a:t>
            </a:r>
          </a:p>
          <a:p/>
          <a:p>
            <a:r>
              <a:t>[43] CSPC | discovery — official transaction disclosure</a:t>
            </a:r>
          </a:p>
          <a:p>
            <a:r>
              <a:t>https://www.astrazeneca.com/media-centre/press-releases/2025/astrazeneca-enters-into-collaboration-with-cspc.html</a:t>
            </a:r>
          </a:p>
          <a:p/>
          <a:p>
            <a:r>
              <a:t>[44] Dizal — official transaction disclosure</a:t>
            </a:r>
          </a:p>
          <a:p>
            <a:r>
              <a:t>https://www.astrazeneca.com/media-centre/press-releases/2026/astrazeneca-licenses-novel-egfr-inhibitor.html</a:t>
            </a:r>
          </a:p>
          <a:p>
            <a:r>
              <a:t>v2.1 compatibility repair: chart axis IDs reassigned to small positive integers. Five annual total labels are standard editable text boxes; if the BD register changes, update these totals along with the chart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 Id="rId4" Type="http://schemas.openxmlformats.org/officeDocument/2006/relationships/chart" Target="../charts/chart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18872"/>
            <a:ext cx="6400800" cy="182880"/>
          </a:xfrm>
          <a:prstGeom prst="rect">
            <a:avLst/>
          </a:prstGeom>
          <a:noFill/>
        </p:spPr>
        <p:txBody>
          <a:bodyPr wrap="square" lIns="0" rIns="0" tIns="0" bIns="0">
            <a:spAutoFit/>
          </a:bodyPr>
          <a:lstStyle/>
          <a:p>
            <a:pPr>
              <a:spcBef>
                <a:spcPts val="0"/>
              </a:spcBef>
              <a:spcAft>
                <a:spcPts val="300"/>
              </a:spcAft>
              <a:defRPr sz="900" b="1">
                <a:solidFill>
                  <a:srgbClr val="66757C"/>
                </a:solidFill>
                <a:latin typeface="Arial"/>
              </a:defRPr>
            </a:pPr>
            <a:r>
              <a:t>TOP 20 MNC PROFILING  /  ASTRAZENECA</a:t>
            </a:r>
          </a:p>
        </p:txBody>
      </p:sp>
      <p:sp>
        <p:nvSpPr>
          <p:cNvPr id="3" name="TextBox 2"/>
          <p:cNvSpPr txBox="1"/>
          <p:nvPr/>
        </p:nvSpPr>
        <p:spPr>
          <a:xfrm>
            <a:off x="7863840" y="118872"/>
            <a:ext cx="3886200" cy="182880"/>
          </a:xfrm>
          <a:prstGeom prst="rect">
            <a:avLst/>
          </a:prstGeom>
          <a:noFill/>
        </p:spPr>
        <p:txBody>
          <a:bodyPr wrap="square" lIns="0" rIns="0" tIns="0" bIns="0">
            <a:spAutoFit/>
          </a:bodyPr>
          <a:lstStyle/>
          <a:p>
            <a:pPr algn="r">
              <a:spcBef>
                <a:spcPts val="0"/>
              </a:spcBef>
              <a:spcAft>
                <a:spcPts val="300"/>
              </a:spcAft>
              <a:defRPr sz="900" b="1">
                <a:solidFill>
                  <a:srgbClr val="66757C"/>
                </a:solidFill>
                <a:latin typeface="Arial"/>
              </a:defRPr>
            </a:pPr>
            <a:r>
              <a:t>22 OCT 2026  |  v2.1</a:t>
            </a:r>
          </a:p>
        </p:txBody>
      </p:sp>
      <p:sp>
        <p:nvSpPr>
          <p:cNvPr id="4" name="TextBox 3"/>
          <p:cNvSpPr txBox="1"/>
          <p:nvPr/>
        </p:nvSpPr>
        <p:spPr>
          <a:xfrm>
            <a:off x="411480" y="448056"/>
            <a:ext cx="11338560" cy="365760"/>
          </a:xfrm>
          <a:prstGeom prst="rect">
            <a:avLst/>
          </a:prstGeom>
          <a:noFill/>
        </p:spPr>
        <p:txBody>
          <a:bodyPr wrap="square" lIns="0" rIns="0" tIns="0" bIns="0">
            <a:spAutoFit/>
          </a:bodyPr>
          <a:lstStyle/>
          <a:p>
            <a:pPr>
              <a:spcBef>
                <a:spcPts val="0"/>
              </a:spcBef>
              <a:spcAft>
                <a:spcPts val="300"/>
              </a:spcAft>
              <a:defRPr sz="2300" b="1">
                <a:solidFill>
                  <a:srgbClr val="227C9D"/>
                </a:solidFill>
                <a:latin typeface="Arial"/>
              </a:defRPr>
            </a:pPr>
            <a:r>
              <a:t>1 - Executive Summary</a:t>
            </a:r>
          </a:p>
        </p:txBody>
      </p:sp>
      <p:sp>
        <p:nvSpPr>
          <p:cNvPr id="5" name="TextBox 4"/>
          <p:cNvSpPr txBox="1"/>
          <p:nvPr/>
        </p:nvSpPr>
        <p:spPr>
          <a:xfrm>
            <a:off x="411480" y="941832"/>
            <a:ext cx="11338560" cy="347472"/>
          </a:xfrm>
          <a:prstGeom prst="rect">
            <a:avLst/>
          </a:prstGeom>
          <a:noFill/>
        </p:spPr>
        <p:txBody>
          <a:bodyPr wrap="square" lIns="0" rIns="0" tIns="0" bIns="0">
            <a:spAutoFit/>
          </a:bodyPr>
          <a:lstStyle/>
          <a:p>
            <a:pPr>
              <a:spcBef>
                <a:spcPts val="0"/>
              </a:spcBef>
              <a:spcAft>
                <a:spcPts val="300"/>
              </a:spcAft>
              <a:defRPr sz="1450" b="0">
                <a:solidFill>
                  <a:srgbClr val="3C3C3C"/>
                </a:solidFill>
                <a:latin typeface="Arial"/>
              </a:defRPr>
            </a:pPr>
            <a:r>
              <a:t>Revenue growth, US patent expiry profile, late-stage assets and disclosed R&amp;D priorities</a:t>
            </a:r>
          </a:p>
        </p:txBody>
      </p:sp>
      <p:sp>
        <p:nvSpPr>
          <p:cNvPr id="6" name="Rectangle 5"/>
          <p:cNvSpPr/>
          <p:nvPr/>
        </p:nvSpPr>
        <p:spPr>
          <a:xfrm>
            <a:off x="411480" y="1444752"/>
            <a:ext cx="11338560" cy="10972"/>
          </a:xfrm>
          <a:prstGeom prst="rect">
            <a:avLst/>
          </a:prstGeom>
          <a:solidFill>
            <a:srgbClr val="D8E1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11480" y="6391656"/>
            <a:ext cx="11018520" cy="246888"/>
          </a:xfrm>
          <a:prstGeom prst="rect">
            <a:avLst/>
          </a:prstGeom>
          <a:noFill/>
        </p:spPr>
        <p:txBody>
          <a:bodyPr wrap="square" lIns="0" rIns="0" tIns="0" bIns="0">
            <a:spAutoFit/>
          </a:bodyPr>
          <a:lstStyle/>
          <a:p>
            <a:pPr>
              <a:spcBef>
                <a:spcPts val="0"/>
              </a:spcBef>
              <a:spcAft>
                <a:spcPts val="300"/>
              </a:spcAft>
              <a:defRPr sz="770" b="0">
                <a:solidFill>
                  <a:srgbClr val="66757C"/>
                </a:solidFill>
                <a:latin typeface="Arial"/>
              </a:defRPr>
            </a:pPr>
            <a:r>
              <a:t>[1–5,15–23] AZ financial / pipeline disclosures; BD counts refer to the 30-record source-linked cohort, 2022–2026 YTD. CAGR: reported USD, 2021–2025.</a:t>
            </a:r>
          </a:p>
        </p:txBody>
      </p:sp>
      <p:sp>
        <p:nvSpPr>
          <p:cNvPr id="8" name="TextBox 7"/>
          <p:cNvSpPr txBox="1"/>
          <p:nvPr/>
        </p:nvSpPr>
        <p:spPr>
          <a:xfrm>
            <a:off x="411480" y="6675120"/>
            <a:ext cx="10698480" cy="100584"/>
          </a:xfrm>
          <a:prstGeom prst="rect">
            <a:avLst/>
          </a:prstGeom>
          <a:noFill/>
        </p:spPr>
        <p:txBody>
          <a:bodyPr wrap="square" lIns="0" rIns="0" tIns="0" bIns="0">
            <a:spAutoFit/>
          </a:bodyPr>
          <a:lstStyle/>
          <a:p>
            <a:pPr>
              <a:spcBef>
                <a:spcPts val="0"/>
              </a:spcBef>
              <a:spcAft>
                <a:spcPts val="300"/>
              </a:spcAft>
              <a:defRPr sz="720" b="0">
                <a:solidFill>
                  <a:srgbClr val="66757C"/>
                </a:solidFill>
                <a:latin typeface="Arial"/>
              </a:defRPr>
            </a:pPr>
            <a:r>
              <a:t>Source URLs, definitions and detailed data are included in the slide notes and the companion Excel workbook.</a:t>
            </a:r>
          </a:p>
        </p:txBody>
      </p:sp>
      <p:sp>
        <p:nvSpPr>
          <p:cNvPr id="9" name="TextBox 8"/>
          <p:cNvSpPr txBox="1"/>
          <p:nvPr/>
        </p:nvSpPr>
        <p:spPr>
          <a:xfrm>
            <a:off x="11247120" y="6620256"/>
            <a:ext cx="274320" cy="164592"/>
          </a:xfrm>
          <a:prstGeom prst="rect">
            <a:avLst/>
          </a:prstGeom>
          <a:noFill/>
        </p:spPr>
        <p:txBody>
          <a:bodyPr wrap="square" lIns="0" rIns="0" tIns="0" bIns="0">
            <a:spAutoFit/>
          </a:bodyPr>
          <a:lstStyle/>
          <a:p>
            <a:pPr algn="r">
              <a:spcBef>
                <a:spcPts val="0"/>
              </a:spcBef>
              <a:spcAft>
                <a:spcPts val="300"/>
              </a:spcAft>
              <a:defRPr sz="900" b="0">
                <a:solidFill>
                  <a:srgbClr val="66757C"/>
                </a:solidFill>
                <a:latin typeface="Arial"/>
              </a:defRPr>
            </a:pPr>
            <a:r>
              <a:t>1</a:t>
            </a:r>
          </a:p>
        </p:txBody>
      </p:sp>
      <p:pic>
        <p:nvPicPr>
          <p:cNvPr id="10" name="Picture 9" descr="cstone-mark.png"/>
          <p:cNvPicPr>
            <a:picLocks noChangeAspect="1"/>
          </p:cNvPicPr>
          <p:nvPr/>
        </p:nvPicPr>
        <p:blipFill>
          <a:blip r:embed="rId2"/>
          <a:stretch>
            <a:fillRect/>
          </a:stretch>
        </p:blipFill>
        <p:spPr>
          <a:xfrm>
            <a:off x="11731752" y="6611112"/>
            <a:ext cx="201168" cy="164592"/>
          </a:xfrm>
          <a:prstGeom prst="rect">
            <a:avLst/>
          </a:prstGeom>
        </p:spPr>
      </p:pic>
      <p:sp>
        <p:nvSpPr>
          <p:cNvPr id="11" name="Rectangle 10"/>
          <p:cNvSpPr/>
          <p:nvPr/>
        </p:nvSpPr>
        <p:spPr>
          <a:xfrm>
            <a:off x="411480" y="1691640"/>
            <a:ext cx="2743200" cy="932688"/>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530352" y="1810512"/>
            <a:ext cx="2505456" cy="164592"/>
          </a:xfrm>
          <a:prstGeom prst="rect">
            <a:avLst/>
          </a:prstGeom>
          <a:noFill/>
        </p:spPr>
        <p:txBody>
          <a:bodyPr wrap="square" lIns="0" rIns="0" tIns="0" bIns="0">
            <a:spAutoFit/>
          </a:bodyPr>
          <a:lstStyle/>
          <a:p>
            <a:pPr>
              <a:spcBef>
                <a:spcPts val="0"/>
              </a:spcBef>
              <a:spcAft>
                <a:spcPts val="300"/>
              </a:spcAft>
              <a:defRPr sz="930" b="1">
                <a:solidFill>
                  <a:srgbClr val="66757C"/>
                </a:solidFill>
                <a:latin typeface="Arial"/>
              </a:defRPr>
            </a:pPr>
            <a:r>
              <a:t>FY2025 TOTAL REVENUE</a:t>
            </a:r>
          </a:p>
        </p:txBody>
      </p:sp>
      <p:sp>
        <p:nvSpPr>
          <p:cNvPr id="13" name="TextBox 12"/>
          <p:cNvSpPr txBox="1"/>
          <p:nvPr/>
        </p:nvSpPr>
        <p:spPr>
          <a:xfrm>
            <a:off x="530352" y="2011680"/>
            <a:ext cx="2505456" cy="329184"/>
          </a:xfrm>
          <a:prstGeom prst="rect">
            <a:avLst/>
          </a:prstGeom>
          <a:noFill/>
        </p:spPr>
        <p:txBody>
          <a:bodyPr wrap="square" lIns="0" rIns="0" tIns="0" bIns="0">
            <a:spAutoFit/>
          </a:bodyPr>
          <a:lstStyle/>
          <a:p>
            <a:pPr>
              <a:spcBef>
                <a:spcPts val="0"/>
              </a:spcBef>
              <a:spcAft>
                <a:spcPts val="300"/>
              </a:spcAft>
              <a:defRPr sz="2500" b="1">
                <a:solidFill>
                  <a:srgbClr val="003366"/>
                </a:solidFill>
                <a:latin typeface="Arial"/>
              </a:defRPr>
            </a:pPr>
            <a:r>
              <a:t>$58.7bn</a:t>
            </a:r>
          </a:p>
        </p:txBody>
      </p:sp>
      <p:sp>
        <p:nvSpPr>
          <p:cNvPr id="14" name="TextBox 13"/>
          <p:cNvSpPr txBox="1"/>
          <p:nvPr/>
        </p:nvSpPr>
        <p:spPr>
          <a:xfrm>
            <a:off x="530352" y="2414016"/>
            <a:ext cx="2505456" cy="146304"/>
          </a:xfrm>
          <a:prstGeom prst="rect">
            <a:avLst/>
          </a:prstGeom>
          <a:noFill/>
        </p:spPr>
        <p:txBody>
          <a:bodyPr wrap="square" lIns="0" rIns="0" tIns="0" bIns="0">
            <a:spAutoFit/>
          </a:bodyPr>
          <a:lstStyle/>
          <a:p>
            <a:pPr>
              <a:spcBef>
                <a:spcPts val="0"/>
              </a:spcBef>
              <a:spcAft>
                <a:spcPts val="300"/>
              </a:spcAft>
              <a:defRPr sz="869" b="0">
                <a:solidFill>
                  <a:srgbClr val="66757C"/>
                </a:solidFill>
                <a:latin typeface="Arial"/>
              </a:defRPr>
            </a:pPr>
            <a:r>
              <a:t>2021: $37.4bn</a:t>
            </a:r>
          </a:p>
        </p:txBody>
      </p:sp>
      <p:sp>
        <p:nvSpPr>
          <p:cNvPr id="15" name="Rectangle 14"/>
          <p:cNvSpPr/>
          <p:nvPr/>
        </p:nvSpPr>
        <p:spPr>
          <a:xfrm>
            <a:off x="3273552" y="1691640"/>
            <a:ext cx="2743200" cy="932688"/>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3392424" y="1810512"/>
            <a:ext cx="2505456" cy="164592"/>
          </a:xfrm>
          <a:prstGeom prst="rect">
            <a:avLst/>
          </a:prstGeom>
          <a:noFill/>
        </p:spPr>
        <p:txBody>
          <a:bodyPr wrap="square" lIns="0" rIns="0" tIns="0" bIns="0">
            <a:spAutoFit/>
          </a:bodyPr>
          <a:lstStyle/>
          <a:p>
            <a:pPr>
              <a:spcBef>
                <a:spcPts val="0"/>
              </a:spcBef>
              <a:spcAft>
                <a:spcPts val="300"/>
              </a:spcAft>
              <a:defRPr sz="930" b="1">
                <a:solidFill>
                  <a:srgbClr val="66757C"/>
                </a:solidFill>
                <a:latin typeface="Arial"/>
              </a:defRPr>
            </a:pPr>
            <a:r>
              <a:t>2021–2025 REVENUE CAGR</a:t>
            </a:r>
          </a:p>
        </p:txBody>
      </p:sp>
      <p:sp>
        <p:nvSpPr>
          <p:cNvPr id="17" name="TextBox 16"/>
          <p:cNvSpPr txBox="1"/>
          <p:nvPr/>
        </p:nvSpPr>
        <p:spPr>
          <a:xfrm>
            <a:off x="3392424" y="2011680"/>
            <a:ext cx="2505456" cy="329184"/>
          </a:xfrm>
          <a:prstGeom prst="rect">
            <a:avLst/>
          </a:prstGeom>
          <a:noFill/>
        </p:spPr>
        <p:txBody>
          <a:bodyPr wrap="square" lIns="0" rIns="0" tIns="0" bIns="0">
            <a:spAutoFit/>
          </a:bodyPr>
          <a:lstStyle/>
          <a:p>
            <a:pPr>
              <a:spcBef>
                <a:spcPts val="0"/>
              </a:spcBef>
              <a:spcAft>
                <a:spcPts val="300"/>
              </a:spcAft>
              <a:defRPr sz="2500" b="1">
                <a:solidFill>
                  <a:srgbClr val="003366"/>
                </a:solidFill>
                <a:latin typeface="Arial"/>
              </a:defRPr>
            </a:pPr>
            <a:r>
              <a:t>11.9%</a:t>
            </a:r>
          </a:p>
        </p:txBody>
      </p:sp>
      <p:sp>
        <p:nvSpPr>
          <p:cNvPr id="18" name="TextBox 17"/>
          <p:cNvSpPr txBox="1"/>
          <p:nvPr/>
        </p:nvSpPr>
        <p:spPr>
          <a:xfrm>
            <a:off x="3392424" y="2414016"/>
            <a:ext cx="2505456" cy="146304"/>
          </a:xfrm>
          <a:prstGeom prst="rect">
            <a:avLst/>
          </a:prstGeom>
          <a:noFill/>
        </p:spPr>
        <p:txBody>
          <a:bodyPr wrap="square" lIns="0" rIns="0" tIns="0" bIns="0">
            <a:spAutoFit/>
          </a:bodyPr>
          <a:lstStyle/>
          <a:p>
            <a:pPr>
              <a:spcBef>
                <a:spcPts val="0"/>
              </a:spcBef>
              <a:spcAft>
                <a:spcPts val="300"/>
              </a:spcAft>
              <a:defRPr sz="869" b="0">
                <a:solidFill>
                  <a:srgbClr val="66757C"/>
                </a:solidFill>
                <a:latin typeface="Arial"/>
              </a:defRPr>
            </a:pPr>
            <a:r>
              <a:t>Reported USD; four growth intervals</a:t>
            </a:r>
          </a:p>
        </p:txBody>
      </p:sp>
      <p:sp>
        <p:nvSpPr>
          <p:cNvPr id="19" name="Rectangle 18"/>
          <p:cNvSpPr/>
          <p:nvPr/>
        </p:nvSpPr>
        <p:spPr>
          <a:xfrm>
            <a:off x="6135624" y="1691640"/>
            <a:ext cx="2743200" cy="932688"/>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254496" y="1810512"/>
            <a:ext cx="2505456" cy="164592"/>
          </a:xfrm>
          <a:prstGeom prst="rect">
            <a:avLst/>
          </a:prstGeom>
          <a:noFill/>
        </p:spPr>
        <p:txBody>
          <a:bodyPr wrap="square" lIns="0" rIns="0" tIns="0" bIns="0">
            <a:spAutoFit/>
          </a:bodyPr>
          <a:lstStyle/>
          <a:p>
            <a:pPr>
              <a:spcBef>
                <a:spcPts val="0"/>
              </a:spcBef>
              <a:spcAft>
                <a:spcPts val="300"/>
              </a:spcAft>
              <a:defRPr sz="930" b="1">
                <a:solidFill>
                  <a:srgbClr val="66757C"/>
                </a:solidFill>
                <a:latin typeface="Arial"/>
              </a:defRPr>
            </a:pPr>
            <a:r>
              <a:t>LATE-STAGE NMEs</a:t>
            </a:r>
          </a:p>
        </p:txBody>
      </p:sp>
      <p:sp>
        <p:nvSpPr>
          <p:cNvPr id="21" name="TextBox 20"/>
          <p:cNvSpPr txBox="1"/>
          <p:nvPr/>
        </p:nvSpPr>
        <p:spPr>
          <a:xfrm>
            <a:off x="6254496" y="2011680"/>
            <a:ext cx="2505456" cy="329184"/>
          </a:xfrm>
          <a:prstGeom prst="rect">
            <a:avLst/>
          </a:prstGeom>
          <a:noFill/>
        </p:spPr>
        <p:txBody>
          <a:bodyPr wrap="square" lIns="0" rIns="0" tIns="0" bIns="0">
            <a:spAutoFit/>
          </a:bodyPr>
          <a:lstStyle/>
          <a:p>
            <a:pPr>
              <a:spcBef>
                <a:spcPts val="0"/>
              </a:spcBef>
              <a:spcAft>
                <a:spcPts val="300"/>
              </a:spcAft>
              <a:defRPr sz="2500" b="1">
                <a:solidFill>
                  <a:srgbClr val="003366"/>
                </a:solidFill>
                <a:latin typeface="Arial"/>
              </a:defRPr>
            </a:pPr>
            <a:r>
              <a:t>21</a:t>
            </a:r>
          </a:p>
        </p:txBody>
      </p:sp>
      <p:sp>
        <p:nvSpPr>
          <p:cNvPr id="22" name="TextBox 21"/>
          <p:cNvSpPr txBox="1"/>
          <p:nvPr/>
        </p:nvSpPr>
        <p:spPr>
          <a:xfrm>
            <a:off x="6254496" y="2414016"/>
            <a:ext cx="2505456" cy="146304"/>
          </a:xfrm>
          <a:prstGeom prst="rect">
            <a:avLst/>
          </a:prstGeom>
          <a:noFill/>
        </p:spPr>
        <p:txBody>
          <a:bodyPr wrap="square" lIns="0" rIns="0" tIns="0" bIns="0">
            <a:spAutoFit/>
          </a:bodyPr>
          <a:lstStyle/>
          <a:p>
            <a:pPr>
              <a:spcBef>
                <a:spcPts val="0"/>
              </a:spcBef>
              <a:spcAft>
                <a:spcPts val="300"/>
              </a:spcAft>
              <a:defRPr sz="869" b="0">
                <a:solidFill>
                  <a:srgbClr val="66757C"/>
                </a:solidFill>
                <a:latin typeface="Arial"/>
              </a:defRPr>
            </a:pPr>
            <a:r>
              <a:t>Company-reported, Jul 2026</a:t>
            </a:r>
          </a:p>
        </p:txBody>
      </p:sp>
      <p:sp>
        <p:nvSpPr>
          <p:cNvPr id="23" name="Rectangle 22"/>
          <p:cNvSpPr/>
          <p:nvPr/>
        </p:nvSpPr>
        <p:spPr>
          <a:xfrm>
            <a:off x="8997696" y="1691640"/>
            <a:ext cx="2752344" cy="932688"/>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9116568" y="1810512"/>
            <a:ext cx="2514600" cy="164592"/>
          </a:xfrm>
          <a:prstGeom prst="rect">
            <a:avLst/>
          </a:prstGeom>
          <a:noFill/>
        </p:spPr>
        <p:txBody>
          <a:bodyPr wrap="square" lIns="0" rIns="0" tIns="0" bIns="0">
            <a:spAutoFit/>
          </a:bodyPr>
          <a:lstStyle/>
          <a:p>
            <a:pPr>
              <a:spcBef>
                <a:spcPts val="0"/>
              </a:spcBef>
              <a:spcAft>
                <a:spcPts val="300"/>
              </a:spcAft>
              <a:defRPr sz="930" b="1">
                <a:solidFill>
                  <a:srgbClr val="66757C"/>
                </a:solidFill>
                <a:latin typeface="Arial"/>
              </a:defRPr>
            </a:pPr>
            <a:r>
              <a:t>NMEs UNDER REVIEW</a:t>
            </a:r>
          </a:p>
        </p:txBody>
      </p:sp>
      <p:sp>
        <p:nvSpPr>
          <p:cNvPr id="25" name="TextBox 24"/>
          <p:cNvSpPr txBox="1"/>
          <p:nvPr/>
        </p:nvSpPr>
        <p:spPr>
          <a:xfrm>
            <a:off x="9116568" y="2011680"/>
            <a:ext cx="2514600" cy="329184"/>
          </a:xfrm>
          <a:prstGeom prst="rect">
            <a:avLst/>
          </a:prstGeom>
          <a:noFill/>
        </p:spPr>
        <p:txBody>
          <a:bodyPr wrap="square" lIns="0" rIns="0" tIns="0" bIns="0">
            <a:spAutoFit/>
          </a:bodyPr>
          <a:lstStyle/>
          <a:p>
            <a:pPr>
              <a:spcBef>
                <a:spcPts val="0"/>
              </a:spcBef>
              <a:spcAft>
                <a:spcPts val="300"/>
              </a:spcAft>
              <a:defRPr sz="2500" b="1">
                <a:solidFill>
                  <a:srgbClr val="003366"/>
                </a:solidFill>
                <a:latin typeface="Arial"/>
              </a:defRPr>
            </a:pPr>
            <a:r>
              <a:t>4</a:t>
            </a:r>
          </a:p>
        </p:txBody>
      </p:sp>
      <p:sp>
        <p:nvSpPr>
          <p:cNvPr id="26" name="TextBox 25"/>
          <p:cNvSpPr txBox="1"/>
          <p:nvPr/>
        </p:nvSpPr>
        <p:spPr>
          <a:xfrm>
            <a:off x="9116568" y="2414016"/>
            <a:ext cx="2514600" cy="146304"/>
          </a:xfrm>
          <a:prstGeom prst="rect">
            <a:avLst/>
          </a:prstGeom>
          <a:noFill/>
        </p:spPr>
        <p:txBody>
          <a:bodyPr wrap="square" lIns="0" rIns="0" tIns="0" bIns="0">
            <a:spAutoFit/>
          </a:bodyPr>
          <a:lstStyle/>
          <a:p>
            <a:pPr>
              <a:spcBef>
                <a:spcPts val="0"/>
              </a:spcBef>
              <a:spcAft>
                <a:spcPts val="300"/>
              </a:spcAft>
              <a:defRPr sz="869" b="0">
                <a:solidFill>
                  <a:srgbClr val="66757C"/>
                </a:solidFill>
                <a:latin typeface="Arial"/>
              </a:defRPr>
            </a:pPr>
            <a:r>
              <a:t>One or more major markets, Jul 2026</a:t>
            </a:r>
          </a:p>
        </p:txBody>
      </p:sp>
      <p:sp>
        <p:nvSpPr>
          <p:cNvPr id="27" name="Rectangle 26"/>
          <p:cNvSpPr/>
          <p:nvPr/>
        </p:nvSpPr>
        <p:spPr>
          <a:xfrm>
            <a:off x="411480" y="2898648"/>
            <a:ext cx="1920240" cy="502920"/>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530352" y="3026664"/>
            <a:ext cx="1682496" cy="274320"/>
          </a:xfrm>
          <a:prstGeom prst="rect">
            <a:avLst/>
          </a:prstGeom>
          <a:noFill/>
        </p:spPr>
        <p:txBody>
          <a:bodyPr wrap="square" lIns="0" rIns="0" tIns="0" bIns="0">
            <a:spAutoFit/>
          </a:bodyPr>
          <a:lstStyle/>
          <a:p>
            <a:pPr>
              <a:spcBef>
                <a:spcPts val="0"/>
              </a:spcBef>
              <a:spcAft>
                <a:spcPts val="300"/>
              </a:spcAft>
              <a:defRPr sz="1200" b="1">
                <a:solidFill>
                  <a:srgbClr val="227C9D"/>
                </a:solidFill>
                <a:latin typeface="Arial"/>
              </a:defRPr>
            </a:pPr>
            <a:r>
              <a:t>Revenue mix</a:t>
            </a:r>
          </a:p>
        </p:txBody>
      </p:sp>
      <p:sp>
        <p:nvSpPr>
          <p:cNvPr id="29" name="TextBox 28"/>
          <p:cNvSpPr txBox="1"/>
          <p:nvPr/>
        </p:nvSpPr>
        <p:spPr>
          <a:xfrm>
            <a:off x="2514600" y="2939796"/>
            <a:ext cx="8595360" cy="448056"/>
          </a:xfrm>
          <a:prstGeom prst="rect">
            <a:avLst/>
          </a:prstGeom>
          <a:noFill/>
        </p:spPr>
        <p:txBody>
          <a:bodyPr wrap="square" lIns="0" rIns="0" tIns="0" bIns="0">
            <a:spAutoFit/>
          </a:bodyPr>
          <a:lstStyle/>
          <a:p>
            <a:pPr>
              <a:spcBef>
                <a:spcPts val="0"/>
              </a:spcBef>
              <a:spcAft>
                <a:spcPts val="300"/>
              </a:spcAft>
              <a:defRPr sz="1200" b="0">
                <a:solidFill>
                  <a:srgbClr val="3C3C3C"/>
                </a:solidFill>
                <a:latin typeface="Arial"/>
              </a:defRPr>
            </a:pPr>
            <a:r>
              <a:t>Oncology was the largest TA in 2025: $25.6bn, or 43.6% of total revenue. CVRM contributed $12.9bn; R&amp;I $8.9bn; Rare Disease $9.1bn.</a:t>
            </a:r>
          </a:p>
        </p:txBody>
      </p:sp>
      <p:sp>
        <p:nvSpPr>
          <p:cNvPr id="30" name="TextBox 29"/>
          <p:cNvSpPr txBox="1"/>
          <p:nvPr/>
        </p:nvSpPr>
        <p:spPr>
          <a:xfrm>
            <a:off x="11201400" y="3026664"/>
            <a:ext cx="548640" cy="192024"/>
          </a:xfrm>
          <a:prstGeom prst="rect">
            <a:avLst/>
          </a:prstGeom>
          <a:noFill/>
        </p:spPr>
        <p:txBody>
          <a:bodyPr wrap="square" lIns="0" rIns="0" tIns="0" bIns="0">
            <a:spAutoFit/>
          </a:bodyPr>
          <a:lstStyle/>
          <a:p>
            <a:pPr algn="r">
              <a:spcBef>
                <a:spcPts val="0"/>
              </a:spcBef>
              <a:spcAft>
                <a:spcPts val="300"/>
              </a:spcAft>
              <a:defRPr sz="900" b="0">
                <a:solidFill>
                  <a:srgbClr val="66757C"/>
                </a:solidFill>
                <a:latin typeface="Arial"/>
              </a:defRPr>
            </a:pPr>
            <a:r>
              <a:t>p.2</a:t>
            </a:r>
          </a:p>
        </p:txBody>
      </p:sp>
      <p:sp>
        <p:nvSpPr>
          <p:cNvPr id="31" name="Rectangle 30"/>
          <p:cNvSpPr/>
          <p:nvPr/>
        </p:nvSpPr>
        <p:spPr>
          <a:xfrm>
            <a:off x="411480" y="3474720"/>
            <a:ext cx="1920240" cy="502920"/>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30352" y="3602736"/>
            <a:ext cx="1682496" cy="274320"/>
          </a:xfrm>
          <a:prstGeom prst="rect">
            <a:avLst/>
          </a:prstGeom>
          <a:noFill/>
        </p:spPr>
        <p:txBody>
          <a:bodyPr wrap="square" lIns="0" rIns="0" tIns="0" bIns="0">
            <a:spAutoFit/>
          </a:bodyPr>
          <a:lstStyle/>
          <a:p>
            <a:pPr>
              <a:spcBef>
                <a:spcPts val="0"/>
              </a:spcBef>
              <a:spcAft>
                <a:spcPts val="300"/>
              </a:spcAft>
              <a:defRPr sz="1200" b="1">
                <a:solidFill>
                  <a:srgbClr val="227C9D"/>
                </a:solidFill>
                <a:latin typeface="Arial"/>
              </a:defRPr>
            </a:pPr>
            <a:r>
              <a:t>US patent profile</a:t>
            </a:r>
          </a:p>
        </p:txBody>
      </p:sp>
      <p:sp>
        <p:nvSpPr>
          <p:cNvPr id="33" name="TextBox 32"/>
          <p:cNvSpPr txBox="1"/>
          <p:nvPr/>
        </p:nvSpPr>
        <p:spPr>
          <a:xfrm>
            <a:off x="2514600" y="3515868"/>
            <a:ext cx="8595360" cy="448056"/>
          </a:xfrm>
          <a:prstGeom prst="rect">
            <a:avLst/>
          </a:prstGeom>
          <a:noFill/>
        </p:spPr>
        <p:txBody>
          <a:bodyPr wrap="square" lIns="0" rIns="0" tIns="0" bIns="0">
            <a:spAutoFit/>
          </a:bodyPr>
          <a:lstStyle/>
          <a:p>
            <a:pPr>
              <a:spcBef>
                <a:spcPts val="0"/>
              </a:spcBef>
              <a:spcAft>
                <a:spcPts val="300"/>
              </a:spcAft>
              <a:defRPr sz="1200" b="0">
                <a:solidFill>
                  <a:srgbClr val="3C3C3C"/>
                </a:solidFill>
                <a:latin typeface="Arial"/>
              </a:defRPr>
            </a:pPr>
            <a:r>
              <a:t>Farxiga’s US NME patent expires in 2026; Lynparza’s in 2027. Calquence has US NME patents spanning 2026–2032. Their 2025 global Product Revenues were $8.4bn, $3.3bn and $3.5bn.</a:t>
            </a:r>
          </a:p>
        </p:txBody>
      </p:sp>
      <p:sp>
        <p:nvSpPr>
          <p:cNvPr id="34" name="TextBox 33"/>
          <p:cNvSpPr txBox="1"/>
          <p:nvPr/>
        </p:nvSpPr>
        <p:spPr>
          <a:xfrm>
            <a:off x="11201400" y="3602736"/>
            <a:ext cx="548640" cy="192024"/>
          </a:xfrm>
          <a:prstGeom prst="rect">
            <a:avLst/>
          </a:prstGeom>
          <a:noFill/>
        </p:spPr>
        <p:txBody>
          <a:bodyPr wrap="square" lIns="0" rIns="0" tIns="0" bIns="0">
            <a:spAutoFit/>
          </a:bodyPr>
          <a:lstStyle/>
          <a:p>
            <a:pPr algn="r">
              <a:spcBef>
                <a:spcPts val="0"/>
              </a:spcBef>
              <a:spcAft>
                <a:spcPts val="300"/>
              </a:spcAft>
              <a:defRPr sz="900" b="0">
                <a:solidFill>
                  <a:srgbClr val="66757C"/>
                </a:solidFill>
                <a:latin typeface="Arial"/>
              </a:defRPr>
            </a:pPr>
            <a:r>
              <a:t>p.2</a:t>
            </a:r>
          </a:p>
        </p:txBody>
      </p:sp>
      <p:sp>
        <p:nvSpPr>
          <p:cNvPr id="35" name="Rectangle 34"/>
          <p:cNvSpPr/>
          <p:nvPr/>
        </p:nvSpPr>
        <p:spPr>
          <a:xfrm>
            <a:off x="411480" y="4050791"/>
            <a:ext cx="1920240" cy="502920"/>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530352" y="4178807"/>
            <a:ext cx="1682496" cy="274320"/>
          </a:xfrm>
          <a:prstGeom prst="rect">
            <a:avLst/>
          </a:prstGeom>
          <a:noFill/>
        </p:spPr>
        <p:txBody>
          <a:bodyPr wrap="square" lIns="0" rIns="0" tIns="0" bIns="0">
            <a:spAutoFit/>
          </a:bodyPr>
          <a:lstStyle/>
          <a:p>
            <a:pPr>
              <a:spcBef>
                <a:spcPts val="0"/>
              </a:spcBef>
              <a:spcAft>
                <a:spcPts val="300"/>
              </a:spcAft>
              <a:defRPr sz="1200" b="1">
                <a:solidFill>
                  <a:srgbClr val="227C9D"/>
                </a:solidFill>
                <a:latin typeface="Arial"/>
              </a:defRPr>
            </a:pPr>
            <a:r>
              <a:t>Late-stage portfolio</a:t>
            </a:r>
          </a:p>
        </p:txBody>
      </p:sp>
      <p:sp>
        <p:nvSpPr>
          <p:cNvPr id="37" name="TextBox 36"/>
          <p:cNvSpPr txBox="1"/>
          <p:nvPr/>
        </p:nvSpPr>
        <p:spPr>
          <a:xfrm>
            <a:off x="2514600" y="4091939"/>
            <a:ext cx="8595360" cy="448056"/>
          </a:xfrm>
          <a:prstGeom prst="rect">
            <a:avLst/>
          </a:prstGeom>
          <a:noFill/>
        </p:spPr>
        <p:txBody>
          <a:bodyPr wrap="square" lIns="0" rIns="0" tIns="0" bIns="0">
            <a:spAutoFit/>
          </a:bodyPr>
          <a:lstStyle/>
          <a:p>
            <a:pPr>
              <a:spcBef>
                <a:spcPts val="0"/>
              </a:spcBef>
              <a:spcAft>
                <a:spcPts val="300"/>
              </a:spcAft>
              <a:defRPr sz="1200" b="0">
                <a:solidFill>
                  <a:srgbClr val="3C3C3C"/>
                </a:solidFill>
                <a:latin typeface="Arial"/>
              </a:defRPr>
            </a:pPr>
            <a:r>
              <a:t>The website lists 45 Phase III program entries across Oncology (28), CVRM (8), R&amp;I (4) and Rare Disease (5). The asset–target map and registration-stage list are shown separately.</a:t>
            </a:r>
          </a:p>
        </p:txBody>
      </p:sp>
      <p:sp>
        <p:nvSpPr>
          <p:cNvPr id="38" name="TextBox 37"/>
          <p:cNvSpPr txBox="1"/>
          <p:nvPr/>
        </p:nvSpPr>
        <p:spPr>
          <a:xfrm>
            <a:off x="11201400" y="4178807"/>
            <a:ext cx="548640" cy="192024"/>
          </a:xfrm>
          <a:prstGeom prst="rect">
            <a:avLst/>
          </a:prstGeom>
          <a:noFill/>
        </p:spPr>
        <p:txBody>
          <a:bodyPr wrap="square" lIns="0" rIns="0" tIns="0" bIns="0">
            <a:spAutoFit/>
          </a:bodyPr>
          <a:lstStyle/>
          <a:p>
            <a:pPr algn="r">
              <a:spcBef>
                <a:spcPts val="0"/>
              </a:spcBef>
              <a:spcAft>
                <a:spcPts val="300"/>
              </a:spcAft>
              <a:defRPr sz="900" b="0">
                <a:solidFill>
                  <a:srgbClr val="66757C"/>
                </a:solidFill>
                <a:latin typeface="Arial"/>
              </a:defRPr>
            </a:pPr>
            <a:r>
              <a:t>p.3</a:t>
            </a:r>
          </a:p>
        </p:txBody>
      </p:sp>
      <p:sp>
        <p:nvSpPr>
          <p:cNvPr id="39" name="Rectangle 38"/>
          <p:cNvSpPr/>
          <p:nvPr/>
        </p:nvSpPr>
        <p:spPr>
          <a:xfrm>
            <a:off x="411480" y="4626864"/>
            <a:ext cx="1920240" cy="502920"/>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530352" y="4754880"/>
            <a:ext cx="1682496" cy="274320"/>
          </a:xfrm>
          <a:prstGeom prst="rect">
            <a:avLst/>
          </a:prstGeom>
          <a:noFill/>
        </p:spPr>
        <p:txBody>
          <a:bodyPr wrap="square" lIns="0" rIns="0" tIns="0" bIns="0">
            <a:spAutoFit/>
          </a:bodyPr>
          <a:lstStyle/>
          <a:p>
            <a:pPr>
              <a:spcBef>
                <a:spcPts val="0"/>
              </a:spcBef>
              <a:spcAft>
                <a:spcPts val="300"/>
              </a:spcAft>
              <a:defRPr sz="1200" b="1">
                <a:solidFill>
                  <a:srgbClr val="227C9D"/>
                </a:solidFill>
                <a:latin typeface="Arial"/>
              </a:defRPr>
            </a:pPr>
            <a:r>
              <a:t>R&amp;D investment areas</a:t>
            </a:r>
          </a:p>
        </p:txBody>
      </p:sp>
      <p:sp>
        <p:nvSpPr>
          <p:cNvPr id="41" name="TextBox 40"/>
          <p:cNvSpPr txBox="1"/>
          <p:nvPr/>
        </p:nvSpPr>
        <p:spPr>
          <a:xfrm>
            <a:off x="2514600" y="4668012"/>
            <a:ext cx="8595360" cy="448056"/>
          </a:xfrm>
          <a:prstGeom prst="rect">
            <a:avLst/>
          </a:prstGeom>
          <a:noFill/>
        </p:spPr>
        <p:txBody>
          <a:bodyPr wrap="square" lIns="0" rIns="0" tIns="0" bIns="0">
            <a:spAutoFit/>
          </a:bodyPr>
          <a:lstStyle/>
          <a:p>
            <a:pPr>
              <a:spcBef>
                <a:spcPts val="0"/>
              </a:spcBef>
              <a:spcAft>
                <a:spcPts val="300"/>
              </a:spcAft>
              <a:defRPr sz="1200" b="0">
                <a:solidFill>
                  <a:srgbClr val="3C3C3C"/>
                </a:solidFill>
                <a:latin typeface="Arial"/>
              </a:defRPr>
            </a:pPr>
            <a:r>
              <a:t>AZ highlights four areas: weight management / CV risk factors; ADCs / radioconjugates; next-generation IO bispecifics; cell therapy / T-cell engagers.</a:t>
            </a:r>
          </a:p>
        </p:txBody>
      </p:sp>
      <p:sp>
        <p:nvSpPr>
          <p:cNvPr id="42" name="TextBox 41"/>
          <p:cNvSpPr txBox="1"/>
          <p:nvPr/>
        </p:nvSpPr>
        <p:spPr>
          <a:xfrm>
            <a:off x="11201400" y="4754880"/>
            <a:ext cx="548640" cy="192024"/>
          </a:xfrm>
          <a:prstGeom prst="rect">
            <a:avLst/>
          </a:prstGeom>
          <a:noFill/>
        </p:spPr>
        <p:txBody>
          <a:bodyPr wrap="square" lIns="0" rIns="0" tIns="0" bIns="0">
            <a:spAutoFit/>
          </a:bodyPr>
          <a:lstStyle/>
          <a:p>
            <a:pPr algn="r">
              <a:spcBef>
                <a:spcPts val="0"/>
              </a:spcBef>
              <a:spcAft>
                <a:spcPts val="300"/>
              </a:spcAft>
              <a:defRPr sz="900" b="0">
                <a:solidFill>
                  <a:srgbClr val="66757C"/>
                </a:solidFill>
                <a:latin typeface="Arial"/>
              </a:defRPr>
            </a:pPr>
            <a:r>
              <a:t>p.4</a:t>
            </a:r>
          </a:p>
        </p:txBody>
      </p:sp>
      <p:sp>
        <p:nvSpPr>
          <p:cNvPr id="43" name="Rectangle 42"/>
          <p:cNvSpPr/>
          <p:nvPr/>
        </p:nvSpPr>
        <p:spPr>
          <a:xfrm>
            <a:off x="411480" y="5202936"/>
            <a:ext cx="1920240" cy="502920"/>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30352" y="5330951"/>
            <a:ext cx="1682496" cy="274320"/>
          </a:xfrm>
          <a:prstGeom prst="rect">
            <a:avLst/>
          </a:prstGeom>
          <a:noFill/>
        </p:spPr>
        <p:txBody>
          <a:bodyPr wrap="square" lIns="0" rIns="0" tIns="0" bIns="0">
            <a:spAutoFit/>
          </a:bodyPr>
          <a:lstStyle/>
          <a:p>
            <a:pPr>
              <a:spcBef>
                <a:spcPts val="0"/>
              </a:spcBef>
              <a:spcAft>
                <a:spcPts val="300"/>
              </a:spcAft>
              <a:defRPr sz="1200" b="1">
                <a:solidFill>
                  <a:srgbClr val="227C9D"/>
                </a:solidFill>
                <a:latin typeface="Arial"/>
              </a:defRPr>
            </a:pPr>
            <a:r>
              <a:t>BD record</a:t>
            </a:r>
          </a:p>
        </p:txBody>
      </p:sp>
      <p:sp>
        <p:nvSpPr>
          <p:cNvPr id="45" name="TextBox 44"/>
          <p:cNvSpPr txBox="1"/>
          <p:nvPr/>
        </p:nvSpPr>
        <p:spPr>
          <a:xfrm>
            <a:off x="2514600" y="5244083"/>
            <a:ext cx="8595360" cy="448056"/>
          </a:xfrm>
          <a:prstGeom prst="rect">
            <a:avLst/>
          </a:prstGeom>
          <a:noFill/>
        </p:spPr>
        <p:txBody>
          <a:bodyPr wrap="square" lIns="0" rIns="0" tIns="0" bIns="0">
            <a:spAutoFit/>
          </a:bodyPr>
          <a:lstStyle/>
          <a:p>
            <a:pPr>
              <a:spcBef>
                <a:spcPts val="0"/>
              </a:spcBef>
              <a:spcAft>
                <a:spcPts val="300"/>
              </a:spcAft>
              <a:defRPr sz="1200" b="0">
                <a:solidFill>
                  <a:srgbClr val="3C3C3C"/>
                </a:solidFill>
                <a:latin typeface="Arial"/>
              </a:defRPr>
            </a:pPr>
            <a:r>
              <a:t>The coded 2022–2026 YTD cohort contains 30 transactions: 11 acquisitions, 8 asset-rights licenses, 8 research / option agreements, and 3 equity / JV / clinical collaborations.</a:t>
            </a:r>
          </a:p>
        </p:txBody>
      </p:sp>
      <p:sp>
        <p:nvSpPr>
          <p:cNvPr id="46" name="TextBox 45"/>
          <p:cNvSpPr txBox="1"/>
          <p:nvPr/>
        </p:nvSpPr>
        <p:spPr>
          <a:xfrm>
            <a:off x="11201400" y="5330951"/>
            <a:ext cx="548640" cy="192024"/>
          </a:xfrm>
          <a:prstGeom prst="rect">
            <a:avLst/>
          </a:prstGeom>
          <a:noFill/>
        </p:spPr>
        <p:txBody>
          <a:bodyPr wrap="square" lIns="0" rIns="0" tIns="0" bIns="0">
            <a:spAutoFit/>
          </a:bodyPr>
          <a:lstStyle/>
          <a:p>
            <a:pPr algn="r">
              <a:spcBef>
                <a:spcPts val="0"/>
              </a:spcBef>
              <a:spcAft>
                <a:spcPts val="300"/>
              </a:spcAft>
              <a:defRPr sz="900" b="0">
                <a:solidFill>
                  <a:srgbClr val="66757C"/>
                </a:solidFill>
                <a:latin typeface="Arial"/>
              </a:defRPr>
            </a:pPr>
            <a:r>
              <a:t>p.5</a:t>
            </a:r>
          </a:p>
        </p:txBody>
      </p:sp>
      <p:sp>
        <p:nvSpPr>
          <p:cNvPr id="47" name="Rectangle 46"/>
          <p:cNvSpPr/>
          <p:nvPr/>
        </p:nvSpPr>
        <p:spPr>
          <a:xfrm>
            <a:off x="411480" y="5934456"/>
            <a:ext cx="11338560" cy="265176"/>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521207" y="5989320"/>
            <a:ext cx="11109960" cy="164592"/>
          </a:xfrm>
          <a:prstGeom prst="rect">
            <a:avLst/>
          </a:prstGeom>
          <a:noFill/>
        </p:spPr>
        <p:txBody>
          <a:bodyPr wrap="square" lIns="0" rIns="0" tIns="0" bIns="0">
            <a:spAutoFit/>
          </a:bodyPr>
          <a:lstStyle/>
          <a:p>
            <a:pPr>
              <a:spcBef>
                <a:spcPts val="0"/>
              </a:spcBef>
              <a:spcAft>
                <a:spcPts val="300"/>
              </a:spcAft>
              <a:defRPr sz="960" b="0">
                <a:solidFill>
                  <a:srgbClr val="3C3C3C"/>
                </a:solidFill>
                <a:latin typeface="Arial"/>
              </a:defRPr>
            </a:pPr>
            <a:r>
              <a:t>H1 2026 update: Total Revenue $30.7bn (+6% CER); CVRM –12% CER. AZ attributes headwinds to Farxiga US LOE and China volume-based procurement.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18872"/>
            <a:ext cx="6400800" cy="182880"/>
          </a:xfrm>
          <a:prstGeom prst="rect">
            <a:avLst/>
          </a:prstGeom>
          <a:noFill/>
        </p:spPr>
        <p:txBody>
          <a:bodyPr wrap="square" lIns="0" rIns="0" tIns="0" bIns="0">
            <a:spAutoFit/>
          </a:bodyPr>
          <a:lstStyle/>
          <a:p>
            <a:pPr>
              <a:spcBef>
                <a:spcPts val="0"/>
              </a:spcBef>
              <a:spcAft>
                <a:spcPts val="300"/>
              </a:spcAft>
              <a:defRPr sz="900" b="1">
                <a:solidFill>
                  <a:srgbClr val="66757C"/>
                </a:solidFill>
                <a:latin typeface="Arial"/>
              </a:defRPr>
            </a:pPr>
            <a:r>
              <a:t>TOP 20 MNC PROFILING  /  ASTRAZENECA</a:t>
            </a:r>
          </a:p>
        </p:txBody>
      </p:sp>
      <p:sp>
        <p:nvSpPr>
          <p:cNvPr id="3" name="TextBox 2"/>
          <p:cNvSpPr txBox="1"/>
          <p:nvPr/>
        </p:nvSpPr>
        <p:spPr>
          <a:xfrm>
            <a:off x="7863840" y="118872"/>
            <a:ext cx="3886200" cy="182880"/>
          </a:xfrm>
          <a:prstGeom prst="rect">
            <a:avLst/>
          </a:prstGeom>
          <a:noFill/>
        </p:spPr>
        <p:txBody>
          <a:bodyPr wrap="square" lIns="0" rIns="0" tIns="0" bIns="0">
            <a:spAutoFit/>
          </a:bodyPr>
          <a:lstStyle/>
          <a:p>
            <a:pPr algn="r">
              <a:spcBef>
                <a:spcPts val="0"/>
              </a:spcBef>
              <a:spcAft>
                <a:spcPts val="300"/>
              </a:spcAft>
              <a:defRPr sz="900" b="1">
                <a:solidFill>
                  <a:srgbClr val="66757C"/>
                </a:solidFill>
                <a:latin typeface="Arial"/>
              </a:defRPr>
            </a:pPr>
            <a:r>
              <a:t>22 OCT 2026  |  v2.1</a:t>
            </a:r>
          </a:p>
        </p:txBody>
      </p:sp>
      <p:sp>
        <p:nvSpPr>
          <p:cNvPr id="4" name="TextBox 3"/>
          <p:cNvSpPr txBox="1"/>
          <p:nvPr/>
        </p:nvSpPr>
        <p:spPr>
          <a:xfrm>
            <a:off x="411480" y="448056"/>
            <a:ext cx="11338560" cy="365760"/>
          </a:xfrm>
          <a:prstGeom prst="rect">
            <a:avLst/>
          </a:prstGeom>
          <a:noFill/>
        </p:spPr>
        <p:txBody>
          <a:bodyPr wrap="square" lIns="0" rIns="0" tIns="0" bIns="0">
            <a:spAutoFit/>
          </a:bodyPr>
          <a:lstStyle/>
          <a:p>
            <a:pPr>
              <a:spcBef>
                <a:spcPts val="0"/>
              </a:spcBef>
              <a:spcAft>
                <a:spcPts val="300"/>
              </a:spcAft>
              <a:defRPr sz="2300" b="1">
                <a:solidFill>
                  <a:srgbClr val="227C9D"/>
                </a:solidFill>
                <a:latin typeface="Arial"/>
              </a:defRPr>
            </a:pPr>
            <a:r>
              <a:t>2 - Revenue &amp; US Patent Profile</a:t>
            </a:r>
          </a:p>
        </p:txBody>
      </p:sp>
      <p:sp>
        <p:nvSpPr>
          <p:cNvPr id="5" name="TextBox 4"/>
          <p:cNvSpPr txBox="1"/>
          <p:nvPr/>
        </p:nvSpPr>
        <p:spPr>
          <a:xfrm>
            <a:off x="411480" y="941832"/>
            <a:ext cx="11338560" cy="347472"/>
          </a:xfrm>
          <a:prstGeom prst="rect">
            <a:avLst/>
          </a:prstGeom>
          <a:noFill/>
        </p:spPr>
        <p:txBody>
          <a:bodyPr wrap="square" lIns="0" rIns="0" tIns="0" bIns="0">
            <a:spAutoFit/>
          </a:bodyPr>
          <a:lstStyle/>
          <a:p>
            <a:pPr>
              <a:spcBef>
                <a:spcPts val="0"/>
              </a:spcBef>
              <a:spcAft>
                <a:spcPts val="300"/>
              </a:spcAft>
              <a:defRPr sz="1450" b="0">
                <a:solidFill>
                  <a:srgbClr val="3C3C3C"/>
                </a:solidFill>
                <a:latin typeface="Arial"/>
              </a:defRPr>
            </a:pPr>
            <a:r>
              <a:t>Five full financial years; US patent dates shown alongside each major product and its TA</a:t>
            </a:r>
          </a:p>
        </p:txBody>
      </p:sp>
      <p:sp>
        <p:nvSpPr>
          <p:cNvPr id="6" name="Rectangle 5"/>
          <p:cNvSpPr/>
          <p:nvPr/>
        </p:nvSpPr>
        <p:spPr>
          <a:xfrm>
            <a:off x="411480" y="1444752"/>
            <a:ext cx="11338560" cy="10972"/>
          </a:xfrm>
          <a:prstGeom prst="rect">
            <a:avLst/>
          </a:prstGeom>
          <a:solidFill>
            <a:srgbClr val="D8E1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11480" y="6391656"/>
            <a:ext cx="11018520" cy="246888"/>
          </a:xfrm>
          <a:prstGeom prst="rect">
            <a:avLst/>
          </a:prstGeom>
          <a:noFill/>
        </p:spPr>
        <p:txBody>
          <a:bodyPr wrap="square" lIns="0" rIns="0" tIns="0" bIns="0">
            <a:spAutoFit/>
          </a:bodyPr>
          <a:lstStyle/>
          <a:p>
            <a:pPr>
              <a:spcBef>
                <a:spcPts val="0"/>
              </a:spcBef>
              <a:spcAft>
                <a:spcPts val="300"/>
              </a:spcAft>
              <a:defRPr sz="770" b="0">
                <a:solidFill>
                  <a:srgbClr val="66757C"/>
                </a:solidFill>
                <a:latin typeface="Arial"/>
              </a:defRPr>
            </a:pPr>
            <a:r>
              <a:t>[2,3,15–18] FY results and patent supplement (10 Feb 2026). PR = global AZ Product Revenue. 2021 includes Alexion from 21 Jul; CAGR includes scope / FX effects.</a:t>
            </a:r>
          </a:p>
        </p:txBody>
      </p:sp>
      <p:sp>
        <p:nvSpPr>
          <p:cNvPr id="8" name="TextBox 7"/>
          <p:cNvSpPr txBox="1"/>
          <p:nvPr/>
        </p:nvSpPr>
        <p:spPr>
          <a:xfrm>
            <a:off x="411480" y="6675120"/>
            <a:ext cx="10698480" cy="100584"/>
          </a:xfrm>
          <a:prstGeom prst="rect">
            <a:avLst/>
          </a:prstGeom>
          <a:noFill/>
        </p:spPr>
        <p:txBody>
          <a:bodyPr wrap="square" lIns="0" rIns="0" tIns="0" bIns="0">
            <a:spAutoFit/>
          </a:bodyPr>
          <a:lstStyle/>
          <a:p>
            <a:pPr>
              <a:spcBef>
                <a:spcPts val="0"/>
              </a:spcBef>
              <a:spcAft>
                <a:spcPts val="300"/>
              </a:spcAft>
              <a:defRPr sz="720" b="0">
                <a:solidFill>
                  <a:srgbClr val="66757C"/>
                </a:solidFill>
                <a:latin typeface="Arial"/>
              </a:defRPr>
            </a:pPr>
            <a:r>
              <a:t>Source URLs, definitions and detailed data are included in the slide notes and the companion Excel workbook.</a:t>
            </a:r>
          </a:p>
        </p:txBody>
      </p:sp>
      <p:sp>
        <p:nvSpPr>
          <p:cNvPr id="9" name="TextBox 8"/>
          <p:cNvSpPr txBox="1"/>
          <p:nvPr/>
        </p:nvSpPr>
        <p:spPr>
          <a:xfrm>
            <a:off x="11247120" y="6620256"/>
            <a:ext cx="274320" cy="164592"/>
          </a:xfrm>
          <a:prstGeom prst="rect">
            <a:avLst/>
          </a:prstGeom>
          <a:noFill/>
        </p:spPr>
        <p:txBody>
          <a:bodyPr wrap="square" lIns="0" rIns="0" tIns="0" bIns="0">
            <a:spAutoFit/>
          </a:bodyPr>
          <a:lstStyle/>
          <a:p>
            <a:pPr algn="r">
              <a:spcBef>
                <a:spcPts val="0"/>
              </a:spcBef>
              <a:spcAft>
                <a:spcPts val="300"/>
              </a:spcAft>
              <a:defRPr sz="900" b="0">
                <a:solidFill>
                  <a:srgbClr val="66757C"/>
                </a:solidFill>
                <a:latin typeface="Arial"/>
              </a:defRPr>
            </a:pPr>
            <a:r>
              <a:t>2</a:t>
            </a:r>
          </a:p>
        </p:txBody>
      </p:sp>
      <p:pic>
        <p:nvPicPr>
          <p:cNvPr id="10" name="Picture 9" descr="cstone-mark.png"/>
          <p:cNvPicPr>
            <a:picLocks noChangeAspect="1"/>
          </p:cNvPicPr>
          <p:nvPr/>
        </p:nvPicPr>
        <p:blipFill>
          <a:blip r:embed="rId2"/>
          <a:stretch>
            <a:fillRect/>
          </a:stretch>
        </p:blipFill>
        <p:spPr>
          <a:xfrm>
            <a:off x="11731752" y="6611112"/>
            <a:ext cx="201168" cy="164592"/>
          </a:xfrm>
          <a:prstGeom prst="rect">
            <a:avLst/>
          </a:prstGeom>
        </p:spPr>
      </p:pic>
      <p:sp>
        <p:nvSpPr>
          <p:cNvPr id="11" name="Rectangle 10"/>
          <p:cNvSpPr/>
          <p:nvPr/>
        </p:nvSpPr>
        <p:spPr>
          <a:xfrm>
            <a:off x="411480" y="1673352"/>
            <a:ext cx="4956048" cy="292608"/>
          </a:xfrm>
          <a:prstGeom prst="rect">
            <a:avLst/>
          </a:prstGeom>
          <a:solidFill>
            <a:srgbClr val="00336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502920" y="1723644"/>
            <a:ext cx="4773168" cy="210312"/>
          </a:xfrm>
          <a:prstGeom prst="rect">
            <a:avLst/>
          </a:prstGeom>
          <a:noFill/>
        </p:spPr>
        <p:txBody>
          <a:bodyPr wrap="square" lIns="0" rIns="0" tIns="0" bIns="0">
            <a:spAutoFit/>
          </a:bodyPr>
          <a:lstStyle/>
          <a:p>
            <a:pPr>
              <a:spcBef>
                <a:spcPts val="0"/>
              </a:spcBef>
              <a:spcAft>
                <a:spcPts val="300"/>
              </a:spcAft>
              <a:defRPr sz="1200" b="1">
                <a:solidFill>
                  <a:srgbClr val="FFFFFF"/>
                </a:solidFill>
                <a:latin typeface="Arial"/>
              </a:defRPr>
            </a:pPr>
            <a:r>
              <a:t>Annual Total Revenue | US$bn</a:t>
            </a:r>
          </a:p>
        </p:txBody>
      </p:sp>
      <p:sp>
        <p:nvSpPr>
          <p:cNvPr id="13" name="Rectangle 12"/>
          <p:cNvSpPr/>
          <p:nvPr/>
        </p:nvSpPr>
        <p:spPr>
          <a:xfrm>
            <a:off x="5596128" y="1673352"/>
            <a:ext cx="6153912" cy="292608"/>
          </a:xfrm>
          <a:prstGeom prst="rect">
            <a:avLst/>
          </a:prstGeom>
          <a:solidFill>
            <a:srgbClr val="00336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5687568" y="1723644"/>
            <a:ext cx="5971032" cy="210312"/>
          </a:xfrm>
          <a:prstGeom prst="rect">
            <a:avLst/>
          </a:prstGeom>
          <a:noFill/>
        </p:spPr>
        <p:txBody>
          <a:bodyPr wrap="square" lIns="0" rIns="0" tIns="0" bIns="0">
            <a:spAutoFit/>
          </a:bodyPr>
          <a:lstStyle/>
          <a:p>
            <a:pPr>
              <a:spcBef>
                <a:spcPts val="0"/>
              </a:spcBef>
              <a:spcAft>
                <a:spcPts val="300"/>
              </a:spcAft>
              <a:defRPr sz="1200" b="1">
                <a:solidFill>
                  <a:srgbClr val="FFFFFF"/>
                </a:solidFill>
                <a:latin typeface="Arial"/>
              </a:defRPr>
            </a:pPr>
            <a:r>
              <a:t>FY2025 PR ≥$1bn | US patent expiry¹</a:t>
            </a:r>
          </a:p>
        </p:txBody>
      </p:sp>
      <p:sp>
        <p:nvSpPr>
          <p:cNvPr id="15" name="TextBox 14"/>
          <p:cNvSpPr txBox="1"/>
          <p:nvPr/>
        </p:nvSpPr>
        <p:spPr>
          <a:xfrm>
            <a:off x="521207" y="2066543"/>
            <a:ext cx="4709160" cy="237744"/>
          </a:xfrm>
          <a:prstGeom prst="rect">
            <a:avLst/>
          </a:prstGeom>
          <a:noFill/>
        </p:spPr>
        <p:txBody>
          <a:bodyPr wrap="square" lIns="0" rIns="0" tIns="0" bIns="0">
            <a:spAutoFit/>
          </a:bodyPr>
          <a:lstStyle/>
          <a:p>
            <a:pPr>
              <a:spcBef>
                <a:spcPts val="0"/>
              </a:spcBef>
              <a:spcAft>
                <a:spcPts val="300"/>
              </a:spcAft>
              <a:defRPr sz="1600" b="1">
                <a:solidFill>
                  <a:srgbClr val="227C9D"/>
                </a:solidFill>
                <a:latin typeface="Arial"/>
              </a:defRPr>
            </a:pPr>
            <a:r>
              <a:t>2021–2025 CAGR: 11.9%</a:t>
            </a:r>
          </a:p>
        </p:txBody>
      </p:sp>
      <p:graphicFrame>
        <p:nvGraphicFramePr>
          <p:cNvPr id="16" name="Chart 15"/>
          <p:cNvGraphicFramePr>
            <a:graphicFrameLocks noGrp="1"/>
          </p:cNvGraphicFramePr>
          <p:nvPr/>
        </p:nvGraphicFramePr>
        <p:xfrm>
          <a:off x="411480" y="2505456"/>
          <a:ext cx="4956048" cy="2414016"/>
        </p:xfrm>
        <a:graphic>
          <a:graphicData uri="http://schemas.openxmlformats.org/drawingml/2006/chart">
            <c:chart xmlns:c="http://schemas.openxmlformats.org/drawingml/2006/chart" r:id="rId4"/>
          </a:graphicData>
        </a:graphic>
      </p:graphicFrame>
      <p:sp>
        <p:nvSpPr>
          <p:cNvPr id="17" name="TextBox 16"/>
          <p:cNvSpPr txBox="1"/>
          <p:nvPr/>
        </p:nvSpPr>
        <p:spPr>
          <a:xfrm>
            <a:off x="411480" y="5093208"/>
            <a:ext cx="4956048" cy="228600"/>
          </a:xfrm>
          <a:prstGeom prst="rect">
            <a:avLst/>
          </a:prstGeom>
          <a:noFill/>
        </p:spPr>
        <p:txBody>
          <a:bodyPr wrap="square" lIns="0" rIns="0" tIns="0" bIns="0">
            <a:spAutoFit/>
          </a:bodyPr>
          <a:lstStyle/>
          <a:p>
            <a:pPr>
              <a:spcBef>
                <a:spcPts val="0"/>
              </a:spcBef>
              <a:spcAft>
                <a:spcPts val="300"/>
              </a:spcAft>
              <a:defRPr sz="1150" b="1">
                <a:solidFill>
                  <a:srgbClr val="003366"/>
                </a:solidFill>
                <a:latin typeface="Arial"/>
              </a:defRPr>
            </a:pPr>
            <a:r>
              <a:t>FY2025 revenue by TA | share of total</a:t>
            </a:r>
          </a:p>
        </p:txBody>
      </p:sp>
      <p:sp>
        <p:nvSpPr>
          <p:cNvPr id="18" name="Rectangle 17"/>
          <p:cNvSpPr/>
          <p:nvPr/>
        </p:nvSpPr>
        <p:spPr>
          <a:xfrm>
            <a:off x="411480" y="5440680"/>
            <a:ext cx="2161579" cy="219456"/>
          </a:xfrm>
          <a:prstGeom prst="rect">
            <a:avLst/>
          </a:prstGeom>
          <a:solidFill>
            <a:srgbClr val="00336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2573059" y="5440680"/>
            <a:ext cx="1085134" cy="219456"/>
          </a:xfrm>
          <a:prstGeom prst="rect">
            <a:avLst/>
          </a:prstGeom>
          <a:solidFill>
            <a:srgbClr val="227C9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3658193" y="5440680"/>
            <a:ext cx="748060" cy="219456"/>
          </a:xfrm>
          <a:prstGeom prst="rect">
            <a:avLst/>
          </a:prstGeom>
          <a:solidFill>
            <a:srgbClr val="8BA4A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4406254" y="5440680"/>
            <a:ext cx="769997" cy="219456"/>
          </a:xfrm>
          <a:prstGeom prst="rect">
            <a:avLst/>
          </a:prstGeom>
          <a:solidFill>
            <a:srgbClr val="527F7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5176252" y="5440680"/>
            <a:ext cx="191275" cy="219456"/>
          </a:xfrm>
          <a:prstGeom prst="rect">
            <a:avLst/>
          </a:prstGeom>
          <a:solidFill>
            <a:srgbClr val="C9CCC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411480" y="5824728"/>
            <a:ext cx="82296" cy="82296"/>
          </a:xfrm>
          <a:prstGeom prst="rect">
            <a:avLst/>
          </a:prstGeom>
          <a:solidFill>
            <a:srgbClr val="00336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548640" y="5797296"/>
            <a:ext cx="1527048" cy="164592"/>
          </a:xfrm>
          <a:prstGeom prst="rect">
            <a:avLst/>
          </a:prstGeom>
          <a:noFill/>
        </p:spPr>
        <p:txBody>
          <a:bodyPr wrap="square" lIns="0" rIns="0" tIns="0" bIns="0">
            <a:spAutoFit/>
          </a:bodyPr>
          <a:lstStyle/>
          <a:p>
            <a:pPr>
              <a:spcBef>
                <a:spcPts val="0"/>
              </a:spcBef>
              <a:spcAft>
                <a:spcPts val="300"/>
              </a:spcAft>
              <a:defRPr sz="869" b="0">
                <a:solidFill>
                  <a:srgbClr val="3C3C3C"/>
                </a:solidFill>
                <a:latin typeface="Arial"/>
              </a:defRPr>
            </a:pPr>
            <a:r>
              <a:t>Oncology: 43.6%</a:t>
            </a:r>
          </a:p>
        </p:txBody>
      </p:sp>
      <p:sp>
        <p:nvSpPr>
          <p:cNvPr id="25" name="Rectangle 24"/>
          <p:cNvSpPr/>
          <p:nvPr/>
        </p:nvSpPr>
        <p:spPr>
          <a:xfrm>
            <a:off x="2093976" y="5824728"/>
            <a:ext cx="82296" cy="82296"/>
          </a:xfrm>
          <a:prstGeom prst="rect">
            <a:avLst/>
          </a:prstGeom>
          <a:solidFill>
            <a:srgbClr val="227C9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2231136" y="5797296"/>
            <a:ext cx="1527048" cy="164592"/>
          </a:xfrm>
          <a:prstGeom prst="rect">
            <a:avLst/>
          </a:prstGeom>
          <a:noFill/>
        </p:spPr>
        <p:txBody>
          <a:bodyPr wrap="square" lIns="0" rIns="0" tIns="0" bIns="0">
            <a:spAutoFit/>
          </a:bodyPr>
          <a:lstStyle/>
          <a:p>
            <a:pPr>
              <a:spcBef>
                <a:spcPts val="0"/>
              </a:spcBef>
              <a:spcAft>
                <a:spcPts val="300"/>
              </a:spcAft>
              <a:defRPr sz="869" b="0">
                <a:solidFill>
                  <a:srgbClr val="3C3C3C"/>
                </a:solidFill>
                <a:latin typeface="Arial"/>
              </a:defRPr>
            </a:pPr>
            <a:r>
              <a:t>CVRM: 21.9%</a:t>
            </a:r>
          </a:p>
        </p:txBody>
      </p:sp>
      <p:sp>
        <p:nvSpPr>
          <p:cNvPr id="27" name="Rectangle 26"/>
          <p:cNvSpPr/>
          <p:nvPr/>
        </p:nvSpPr>
        <p:spPr>
          <a:xfrm>
            <a:off x="3776472" y="5824728"/>
            <a:ext cx="82296" cy="82296"/>
          </a:xfrm>
          <a:prstGeom prst="rect">
            <a:avLst/>
          </a:prstGeom>
          <a:solidFill>
            <a:srgbClr val="8BA4A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3913632" y="5797296"/>
            <a:ext cx="1527048" cy="164592"/>
          </a:xfrm>
          <a:prstGeom prst="rect">
            <a:avLst/>
          </a:prstGeom>
          <a:noFill/>
        </p:spPr>
        <p:txBody>
          <a:bodyPr wrap="square" lIns="0" rIns="0" tIns="0" bIns="0">
            <a:spAutoFit/>
          </a:bodyPr>
          <a:lstStyle/>
          <a:p>
            <a:pPr>
              <a:spcBef>
                <a:spcPts val="0"/>
              </a:spcBef>
              <a:spcAft>
                <a:spcPts val="300"/>
              </a:spcAft>
              <a:defRPr sz="869" b="0">
                <a:solidFill>
                  <a:srgbClr val="3C3C3C"/>
                </a:solidFill>
                <a:latin typeface="Arial"/>
              </a:defRPr>
            </a:pPr>
            <a:r>
              <a:t>R&amp;I: 15.1%</a:t>
            </a:r>
          </a:p>
        </p:txBody>
      </p:sp>
      <p:sp>
        <p:nvSpPr>
          <p:cNvPr id="29" name="Rectangle 28"/>
          <p:cNvSpPr/>
          <p:nvPr/>
        </p:nvSpPr>
        <p:spPr>
          <a:xfrm>
            <a:off x="411480" y="6035040"/>
            <a:ext cx="82296" cy="82296"/>
          </a:xfrm>
          <a:prstGeom prst="rect">
            <a:avLst/>
          </a:prstGeom>
          <a:solidFill>
            <a:srgbClr val="527F7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548640" y="6007608"/>
            <a:ext cx="1527048" cy="164592"/>
          </a:xfrm>
          <a:prstGeom prst="rect">
            <a:avLst/>
          </a:prstGeom>
          <a:noFill/>
        </p:spPr>
        <p:txBody>
          <a:bodyPr wrap="square" lIns="0" rIns="0" tIns="0" bIns="0">
            <a:spAutoFit/>
          </a:bodyPr>
          <a:lstStyle/>
          <a:p>
            <a:pPr>
              <a:spcBef>
                <a:spcPts val="0"/>
              </a:spcBef>
              <a:spcAft>
                <a:spcPts val="300"/>
              </a:spcAft>
              <a:defRPr sz="869" b="0">
                <a:solidFill>
                  <a:srgbClr val="3C3C3C"/>
                </a:solidFill>
                <a:latin typeface="Arial"/>
              </a:defRPr>
            </a:pPr>
            <a:r>
              <a:t>Rare Disease: 15.5%</a:t>
            </a:r>
          </a:p>
        </p:txBody>
      </p:sp>
      <p:sp>
        <p:nvSpPr>
          <p:cNvPr id="31" name="Rectangle 30"/>
          <p:cNvSpPr/>
          <p:nvPr/>
        </p:nvSpPr>
        <p:spPr>
          <a:xfrm>
            <a:off x="2093976" y="6035040"/>
            <a:ext cx="82296" cy="82296"/>
          </a:xfrm>
          <a:prstGeom prst="rect">
            <a:avLst/>
          </a:prstGeom>
          <a:solidFill>
            <a:srgbClr val="C9CCC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231136" y="6007608"/>
            <a:ext cx="1527048" cy="164592"/>
          </a:xfrm>
          <a:prstGeom prst="rect">
            <a:avLst/>
          </a:prstGeom>
          <a:noFill/>
        </p:spPr>
        <p:txBody>
          <a:bodyPr wrap="square" lIns="0" rIns="0" tIns="0" bIns="0">
            <a:spAutoFit/>
          </a:bodyPr>
          <a:lstStyle/>
          <a:p>
            <a:pPr>
              <a:spcBef>
                <a:spcPts val="0"/>
              </a:spcBef>
              <a:spcAft>
                <a:spcPts val="300"/>
              </a:spcAft>
              <a:defRPr sz="869" b="0">
                <a:solidFill>
                  <a:srgbClr val="3C3C3C"/>
                </a:solidFill>
                <a:latin typeface="Arial"/>
              </a:defRPr>
            </a:pPr>
            <a:r>
              <a:t>V&amp;I / Other: 3.9%</a:t>
            </a:r>
          </a:p>
        </p:txBody>
      </p:sp>
      <p:sp>
        <p:nvSpPr>
          <p:cNvPr id="33" name="Rectangle 32"/>
          <p:cNvSpPr/>
          <p:nvPr/>
        </p:nvSpPr>
        <p:spPr>
          <a:xfrm>
            <a:off x="5596128" y="2057400"/>
            <a:ext cx="1207008" cy="283464"/>
          </a:xfrm>
          <a:prstGeom prst="rect">
            <a:avLst/>
          </a:prstGeom>
          <a:solidFill>
            <a:srgbClr val="00336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5669280" y="2098548"/>
            <a:ext cx="1060704" cy="237744"/>
          </a:xfrm>
          <a:prstGeom prst="rect">
            <a:avLst/>
          </a:prstGeom>
          <a:noFill/>
        </p:spPr>
        <p:txBody>
          <a:bodyPr wrap="square" lIns="0" rIns="0" tIns="0" bIns="0">
            <a:spAutoFit/>
          </a:bodyPr>
          <a:lstStyle/>
          <a:p>
            <a:pPr>
              <a:spcBef>
                <a:spcPts val="0"/>
              </a:spcBef>
              <a:spcAft>
                <a:spcPts val="300"/>
              </a:spcAft>
              <a:defRPr sz="1019" b="1">
                <a:solidFill>
                  <a:srgbClr val="FFFFFF"/>
                </a:solidFill>
                <a:latin typeface="Arial"/>
              </a:defRPr>
            </a:pPr>
            <a:r>
              <a:t>Product</a:t>
            </a:r>
          </a:p>
        </p:txBody>
      </p:sp>
      <p:sp>
        <p:nvSpPr>
          <p:cNvPr id="35" name="Rectangle 34"/>
          <p:cNvSpPr/>
          <p:nvPr/>
        </p:nvSpPr>
        <p:spPr>
          <a:xfrm>
            <a:off x="6803136" y="2057400"/>
            <a:ext cx="566928" cy="283464"/>
          </a:xfrm>
          <a:prstGeom prst="rect">
            <a:avLst/>
          </a:prstGeom>
          <a:solidFill>
            <a:srgbClr val="00336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6876288" y="2098548"/>
            <a:ext cx="420623" cy="237744"/>
          </a:xfrm>
          <a:prstGeom prst="rect">
            <a:avLst/>
          </a:prstGeom>
          <a:noFill/>
        </p:spPr>
        <p:txBody>
          <a:bodyPr wrap="square" lIns="0" rIns="0" tIns="0" bIns="0">
            <a:spAutoFit/>
          </a:bodyPr>
          <a:lstStyle/>
          <a:p>
            <a:pPr>
              <a:spcBef>
                <a:spcPts val="0"/>
              </a:spcBef>
              <a:spcAft>
                <a:spcPts val="300"/>
              </a:spcAft>
              <a:defRPr sz="1019" b="1">
                <a:solidFill>
                  <a:srgbClr val="FFFFFF"/>
                </a:solidFill>
                <a:latin typeface="Arial"/>
              </a:defRPr>
            </a:pPr>
            <a:r>
              <a:t>TA</a:t>
            </a:r>
          </a:p>
        </p:txBody>
      </p:sp>
      <p:sp>
        <p:nvSpPr>
          <p:cNvPr id="37" name="Rectangle 36"/>
          <p:cNvSpPr/>
          <p:nvPr/>
        </p:nvSpPr>
        <p:spPr>
          <a:xfrm>
            <a:off x="7370064" y="2057400"/>
            <a:ext cx="704088" cy="283464"/>
          </a:xfrm>
          <a:prstGeom prst="rect">
            <a:avLst/>
          </a:prstGeom>
          <a:solidFill>
            <a:srgbClr val="00336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7443216" y="2098548"/>
            <a:ext cx="557784" cy="237744"/>
          </a:xfrm>
          <a:prstGeom prst="rect">
            <a:avLst/>
          </a:prstGeom>
          <a:noFill/>
        </p:spPr>
        <p:txBody>
          <a:bodyPr wrap="square" lIns="0" rIns="0" tIns="0" bIns="0">
            <a:spAutoFit/>
          </a:bodyPr>
          <a:lstStyle/>
          <a:p>
            <a:pPr>
              <a:spcBef>
                <a:spcPts val="0"/>
              </a:spcBef>
              <a:spcAft>
                <a:spcPts val="300"/>
              </a:spcAft>
              <a:defRPr sz="1019" b="1">
                <a:solidFill>
                  <a:srgbClr val="FFFFFF"/>
                </a:solidFill>
                <a:latin typeface="Arial"/>
              </a:defRPr>
            </a:pPr>
            <a:r>
              <a:t>PR $bn</a:t>
            </a:r>
          </a:p>
        </p:txBody>
      </p:sp>
      <p:sp>
        <p:nvSpPr>
          <p:cNvPr id="39" name="Rectangle 38"/>
          <p:cNvSpPr/>
          <p:nvPr/>
        </p:nvSpPr>
        <p:spPr>
          <a:xfrm>
            <a:off x="8074152" y="2057400"/>
            <a:ext cx="3675887" cy="283464"/>
          </a:xfrm>
          <a:prstGeom prst="rect">
            <a:avLst/>
          </a:prstGeom>
          <a:solidFill>
            <a:srgbClr val="00336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8147304" y="2098548"/>
            <a:ext cx="3529583" cy="237744"/>
          </a:xfrm>
          <a:prstGeom prst="rect">
            <a:avLst/>
          </a:prstGeom>
          <a:noFill/>
        </p:spPr>
        <p:txBody>
          <a:bodyPr wrap="square" lIns="0" rIns="0" tIns="0" bIns="0">
            <a:spAutoFit/>
          </a:bodyPr>
          <a:lstStyle/>
          <a:p>
            <a:pPr>
              <a:spcBef>
                <a:spcPts val="0"/>
              </a:spcBef>
              <a:spcAft>
                <a:spcPts val="300"/>
              </a:spcAft>
              <a:defRPr sz="1019" b="1">
                <a:solidFill>
                  <a:srgbClr val="FFFFFF"/>
                </a:solidFill>
                <a:latin typeface="Arial"/>
              </a:defRPr>
            </a:pPr>
            <a:r>
              <a:t>US patent dates</a:t>
            </a:r>
          </a:p>
        </p:txBody>
      </p:sp>
      <p:sp>
        <p:nvSpPr>
          <p:cNvPr id="41" name="Rectangle 40"/>
          <p:cNvSpPr/>
          <p:nvPr/>
        </p:nvSpPr>
        <p:spPr>
          <a:xfrm>
            <a:off x="5596128" y="2340864"/>
            <a:ext cx="1207008"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669280" y="2382012"/>
            <a:ext cx="1060704" cy="169164"/>
          </a:xfrm>
          <a:prstGeom prst="rect">
            <a:avLst/>
          </a:prstGeom>
          <a:noFill/>
        </p:spPr>
        <p:txBody>
          <a:bodyPr wrap="square" lIns="0" rIns="0" tIns="0" bIns="0">
            <a:spAutoFit/>
          </a:bodyPr>
          <a:lstStyle/>
          <a:p>
            <a:pPr>
              <a:spcBef>
                <a:spcPts val="0"/>
              </a:spcBef>
              <a:spcAft>
                <a:spcPts val="300"/>
              </a:spcAft>
              <a:defRPr sz="1019" b="1">
                <a:solidFill>
                  <a:srgbClr val="3C3C3C"/>
                </a:solidFill>
                <a:latin typeface="Arial"/>
              </a:defRPr>
            </a:pPr>
            <a:r>
              <a:t>Zoladex</a:t>
            </a:r>
          </a:p>
        </p:txBody>
      </p:sp>
      <p:sp>
        <p:nvSpPr>
          <p:cNvPr id="43" name="Rectangle 42"/>
          <p:cNvSpPr/>
          <p:nvPr/>
        </p:nvSpPr>
        <p:spPr>
          <a:xfrm>
            <a:off x="6803136" y="2340864"/>
            <a:ext cx="566928"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6876288" y="2382012"/>
            <a:ext cx="42062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Onc</a:t>
            </a:r>
          </a:p>
        </p:txBody>
      </p:sp>
      <p:sp>
        <p:nvSpPr>
          <p:cNvPr id="45" name="Rectangle 44"/>
          <p:cNvSpPr/>
          <p:nvPr/>
        </p:nvSpPr>
        <p:spPr>
          <a:xfrm>
            <a:off x="7370064" y="2340864"/>
            <a:ext cx="704088"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7443216" y="2382012"/>
            <a:ext cx="557784"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1.15</a:t>
            </a:r>
          </a:p>
        </p:txBody>
      </p:sp>
      <p:sp>
        <p:nvSpPr>
          <p:cNvPr id="47" name="Rectangle 46"/>
          <p:cNvSpPr/>
          <p:nvPr/>
        </p:nvSpPr>
        <p:spPr>
          <a:xfrm>
            <a:off x="8074152" y="2340864"/>
            <a:ext cx="3675887"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8147304" y="2382012"/>
            <a:ext cx="352958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Expired in all major markets</a:t>
            </a:r>
          </a:p>
        </p:txBody>
      </p:sp>
      <p:sp>
        <p:nvSpPr>
          <p:cNvPr id="49" name="Rectangle 48"/>
          <p:cNvSpPr/>
          <p:nvPr/>
        </p:nvSpPr>
        <p:spPr>
          <a:xfrm>
            <a:off x="5596128" y="2555748"/>
            <a:ext cx="1207008" cy="2148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669280" y="2596896"/>
            <a:ext cx="1060704" cy="169164"/>
          </a:xfrm>
          <a:prstGeom prst="rect">
            <a:avLst/>
          </a:prstGeom>
          <a:noFill/>
        </p:spPr>
        <p:txBody>
          <a:bodyPr wrap="square" lIns="0" rIns="0" tIns="0" bIns="0">
            <a:spAutoFit/>
          </a:bodyPr>
          <a:lstStyle/>
          <a:p>
            <a:pPr>
              <a:spcBef>
                <a:spcPts val="0"/>
              </a:spcBef>
              <a:spcAft>
                <a:spcPts val="300"/>
              </a:spcAft>
              <a:defRPr sz="1019" b="1">
                <a:solidFill>
                  <a:srgbClr val="3C3C3C"/>
                </a:solidFill>
                <a:latin typeface="Arial"/>
              </a:defRPr>
            </a:pPr>
            <a:r>
              <a:t>Crestor</a:t>
            </a:r>
          </a:p>
        </p:txBody>
      </p:sp>
      <p:sp>
        <p:nvSpPr>
          <p:cNvPr id="51" name="Rectangle 50"/>
          <p:cNvSpPr/>
          <p:nvPr/>
        </p:nvSpPr>
        <p:spPr>
          <a:xfrm>
            <a:off x="6803136" y="2555748"/>
            <a:ext cx="566928" cy="2148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6876288" y="2596896"/>
            <a:ext cx="42062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CVRM</a:t>
            </a:r>
          </a:p>
        </p:txBody>
      </p:sp>
      <p:sp>
        <p:nvSpPr>
          <p:cNvPr id="53" name="Rectangle 52"/>
          <p:cNvSpPr/>
          <p:nvPr/>
        </p:nvSpPr>
        <p:spPr>
          <a:xfrm>
            <a:off x="7370064" y="2555748"/>
            <a:ext cx="704088" cy="2148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7443216" y="2596896"/>
            <a:ext cx="557784"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1.22</a:t>
            </a:r>
          </a:p>
        </p:txBody>
      </p:sp>
      <p:sp>
        <p:nvSpPr>
          <p:cNvPr id="55" name="Rectangle 54"/>
          <p:cNvSpPr/>
          <p:nvPr/>
        </p:nvSpPr>
        <p:spPr>
          <a:xfrm>
            <a:off x="8074152" y="2555748"/>
            <a:ext cx="3675887" cy="2148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8147304" y="2596896"/>
            <a:ext cx="352958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Expired in all major markets</a:t>
            </a:r>
          </a:p>
        </p:txBody>
      </p:sp>
      <p:sp>
        <p:nvSpPr>
          <p:cNvPr id="57" name="Rectangle 56"/>
          <p:cNvSpPr/>
          <p:nvPr/>
        </p:nvSpPr>
        <p:spPr>
          <a:xfrm>
            <a:off x="5596128" y="2770632"/>
            <a:ext cx="1207008"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5669280" y="2811779"/>
            <a:ext cx="1060704" cy="169164"/>
          </a:xfrm>
          <a:prstGeom prst="rect">
            <a:avLst/>
          </a:prstGeom>
          <a:noFill/>
        </p:spPr>
        <p:txBody>
          <a:bodyPr wrap="square" lIns="0" rIns="0" tIns="0" bIns="0">
            <a:spAutoFit/>
          </a:bodyPr>
          <a:lstStyle/>
          <a:p>
            <a:pPr>
              <a:spcBef>
                <a:spcPts val="0"/>
              </a:spcBef>
              <a:spcAft>
                <a:spcPts val="300"/>
              </a:spcAft>
              <a:defRPr sz="1019" b="1">
                <a:solidFill>
                  <a:srgbClr val="3C3C3C"/>
                </a:solidFill>
                <a:latin typeface="Arial"/>
              </a:defRPr>
            </a:pPr>
            <a:r>
              <a:t>Symbicort</a:t>
            </a:r>
          </a:p>
        </p:txBody>
      </p:sp>
      <p:sp>
        <p:nvSpPr>
          <p:cNvPr id="59" name="Rectangle 58"/>
          <p:cNvSpPr/>
          <p:nvPr/>
        </p:nvSpPr>
        <p:spPr>
          <a:xfrm>
            <a:off x="6803136" y="2770632"/>
            <a:ext cx="566928"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6876288" y="2811779"/>
            <a:ext cx="42062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R&amp;I</a:t>
            </a:r>
          </a:p>
        </p:txBody>
      </p:sp>
      <p:sp>
        <p:nvSpPr>
          <p:cNvPr id="61" name="Rectangle 60"/>
          <p:cNvSpPr/>
          <p:nvPr/>
        </p:nvSpPr>
        <p:spPr>
          <a:xfrm>
            <a:off x="7370064" y="2770632"/>
            <a:ext cx="704088"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7443216" y="2811779"/>
            <a:ext cx="557784"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2.88</a:t>
            </a:r>
          </a:p>
        </p:txBody>
      </p:sp>
      <p:sp>
        <p:nvSpPr>
          <p:cNvPr id="63" name="Rectangle 62"/>
          <p:cNvSpPr/>
          <p:nvPr/>
        </p:nvSpPr>
        <p:spPr>
          <a:xfrm>
            <a:off x="8074152" y="2770632"/>
            <a:ext cx="3675887"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TextBox 63"/>
          <p:cNvSpPr txBox="1"/>
          <p:nvPr/>
        </p:nvSpPr>
        <p:spPr>
          <a:xfrm>
            <a:off x="8147304" y="2811779"/>
            <a:ext cx="352958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2025–2029 (other; pMDI)</a:t>
            </a:r>
          </a:p>
        </p:txBody>
      </p:sp>
      <p:sp>
        <p:nvSpPr>
          <p:cNvPr id="65" name="Rectangle 64"/>
          <p:cNvSpPr/>
          <p:nvPr/>
        </p:nvSpPr>
        <p:spPr>
          <a:xfrm>
            <a:off x="5596128" y="2985515"/>
            <a:ext cx="1207008" cy="2148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5669280" y="3026663"/>
            <a:ext cx="1060704" cy="169164"/>
          </a:xfrm>
          <a:prstGeom prst="rect">
            <a:avLst/>
          </a:prstGeom>
          <a:noFill/>
        </p:spPr>
        <p:txBody>
          <a:bodyPr wrap="square" lIns="0" rIns="0" tIns="0" bIns="0">
            <a:spAutoFit/>
          </a:bodyPr>
          <a:lstStyle/>
          <a:p>
            <a:pPr>
              <a:spcBef>
                <a:spcPts val="0"/>
              </a:spcBef>
              <a:spcAft>
                <a:spcPts val="300"/>
              </a:spcAft>
              <a:defRPr sz="1019" b="1">
                <a:solidFill>
                  <a:srgbClr val="3C3C3C"/>
                </a:solidFill>
                <a:latin typeface="Arial"/>
              </a:defRPr>
            </a:pPr>
            <a:r>
              <a:t>Strensiq</a:t>
            </a:r>
          </a:p>
        </p:txBody>
      </p:sp>
      <p:sp>
        <p:nvSpPr>
          <p:cNvPr id="67" name="Rectangle 66"/>
          <p:cNvSpPr/>
          <p:nvPr/>
        </p:nvSpPr>
        <p:spPr>
          <a:xfrm>
            <a:off x="6803136" y="2985515"/>
            <a:ext cx="566928" cy="2148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6876288" y="3026663"/>
            <a:ext cx="42062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RD</a:t>
            </a:r>
          </a:p>
        </p:txBody>
      </p:sp>
      <p:sp>
        <p:nvSpPr>
          <p:cNvPr id="69" name="Rectangle 68"/>
          <p:cNvSpPr/>
          <p:nvPr/>
        </p:nvSpPr>
        <p:spPr>
          <a:xfrm>
            <a:off x="7370064" y="2985515"/>
            <a:ext cx="704088" cy="2148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7443216" y="3026663"/>
            <a:ext cx="557784"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1.68</a:t>
            </a:r>
          </a:p>
        </p:txBody>
      </p:sp>
      <p:sp>
        <p:nvSpPr>
          <p:cNvPr id="71" name="Rectangle 70"/>
          <p:cNvSpPr/>
          <p:nvPr/>
        </p:nvSpPr>
        <p:spPr>
          <a:xfrm>
            <a:off x="8074152" y="2985515"/>
            <a:ext cx="3675887" cy="2148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8147304" y="3026663"/>
            <a:ext cx="352958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2025–2029; other 2035–2038</a:t>
            </a:r>
          </a:p>
        </p:txBody>
      </p:sp>
      <p:sp>
        <p:nvSpPr>
          <p:cNvPr id="73" name="Rectangle 72"/>
          <p:cNvSpPr/>
          <p:nvPr/>
        </p:nvSpPr>
        <p:spPr>
          <a:xfrm>
            <a:off x="5596128" y="3200399"/>
            <a:ext cx="1207008"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5669280" y="3241547"/>
            <a:ext cx="1060704" cy="169164"/>
          </a:xfrm>
          <a:prstGeom prst="rect">
            <a:avLst/>
          </a:prstGeom>
          <a:noFill/>
        </p:spPr>
        <p:txBody>
          <a:bodyPr wrap="square" lIns="0" rIns="0" tIns="0" bIns="0">
            <a:spAutoFit/>
          </a:bodyPr>
          <a:lstStyle/>
          <a:p>
            <a:pPr>
              <a:spcBef>
                <a:spcPts val="0"/>
              </a:spcBef>
              <a:spcAft>
                <a:spcPts val="300"/>
              </a:spcAft>
              <a:defRPr sz="1019" b="1">
                <a:solidFill>
                  <a:srgbClr val="3C3C3C"/>
                </a:solidFill>
                <a:latin typeface="Arial"/>
              </a:defRPr>
            </a:pPr>
            <a:r>
              <a:t>Farxiga</a:t>
            </a:r>
          </a:p>
        </p:txBody>
      </p:sp>
      <p:sp>
        <p:nvSpPr>
          <p:cNvPr id="75" name="Rectangle 74"/>
          <p:cNvSpPr/>
          <p:nvPr/>
        </p:nvSpPr>
        <p:spPr>
          <a:xfrm>
            <a:off x="6803136" y="3200399"/>
            <a:ext cx="566928"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6876288" y="3241547"/>
            <a:ext cx="42062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CVRM</a:t>
            </a:r>
          </a:p>
        </p:txBody>
      </p:sp>
      <p:sp>
        <p:nvSpPr>
          <p:cNvPr id="77" name="Rectangle 76"/>
          <p:cNvSpPr/>
          <p:nvPr/>
        </p:nvSpPr>
        <p:spPr>
          <a:xfrm>
            <a:off x="7370064" y="3200399"/>
            <a:ext cx="704088"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TextBox 77"/>
          <p:cNvSpPr txBox="1"/>
          <p:nvPr/>
        </p:nvSpPr>
        <p:spPr>
          <a:xfrm>
            <a:off x="7443216" y="3241547"/>
            <a:ext cx="557784"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8.40</a:t>
            </a:r>
          </a:p>
        </p:txBody>
      </p:sp>
      <p:sp>
        <p:nvSpPr>
          <p:cNvPr id="79" name="Rectangle 78"/>
          <p:cNvSpPr/>
          <p:nvPr/>
        </p:nvSpPr>
        <p:spPr>
          <a:xfrm>
            <a:off x="8074152" y="3200399"/>
            <a:ext cx="3675887"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8147304" y="3241547"/>
            <a:ext cx="352958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2026</a:t>
            </a:r>
          </a:p>
        </p:txBody>
      </p:sp>
      <p:sp>
        <p:nvSpPr>
          <p:cNvPr id="81" name="Rectangle 80"/>
          <p:cNvSpPr/>
          <p:nvPr/>
        </p:nvSpPr>
        <p:spPr>
          <a:xfrm>
            <a:off x="5596128" y="3415283"/>
            <a:ext cx="1207008" cy="2148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TextBox 81"/>
          <p:cNvSpPr txBox="1"/>
          <p:nvPr/>
        </p:nvSpPr>
        <p:spPr>
          <a:xfrm>
            <a:off x="5669280" y="3456431"/>
            <a:ext cx="1060704" cy="169164"/>
          </a:xfrm>
          <a:prstGeom prst="rect">
            <a:avLst/>
          </a:prstGeom>
          <a:noFill/>
        </p:spPr>
        <p:txBody>
          <a:bodyPr wrap="square" lIns="0" rIns="0" tIns="0" bIns="0">
            <a:spAutoFit/>
          </a:bodyPr>
          <a:lstStyle/>
          <a:p>
            <a:pPr>
              <a:spcBef>
                <a:spcPts val="0"/>
              </a:spcBef>
              <a:spcAft>
                <a:spcPts val="300"/>
              </a:spcAft>
              <a:defRPr sz="1019" b="1">
                <a:solidFill>
                  <a:srgbClr val="3C3C3C"/>
                </a:solidFill>
                <a:latin typeface="Arial"/>
              </a:defRPr>
            </a:pPr>
            <a:r>
              <a:t>Calquence</a:t>
            </a:r>
          </a:p>
        </p:txBody>
      </p:sp>
      <p:sp>
        <p:nvSpPr>
          <p:cNvPr id="83" name="Rectangle 82"/>
          <p:cNvSpPr/>
          <p:nvPr/>
        </p:nvSpPr>
        <p:spPr>
          <a:xfrm>
            <a:off x="6803136" y="3415283"/>
            <a:ext cx="566928" cy="2148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TextBox 83"/>
          <p:cNvSpPr txBox="1"/>
          <p:nvPr/>
        </p:nvSpPr>
        <p:spPr>
          <a:xfrm>
            <a:off x="6876288" y="3456431"/>
            <a:ext cx="42062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Onc</a:t>
            </a:r>
          </a:p>
        </p:txBody>
      </p:sp>
      <p:sp>
        <p:nvSpPr>
          <p:cNvPr id="85" name="Rectangle 84"/>
          <p:cNvSpPr/>
          <p:nvPr/>
        </p:nvSpPr>
        <p:spPr>
          <a:xfrm>
            <a:off x="7370064" y="3415283"/>
            <a:ext cx="704088" cy="2148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TextBox 85"/>
          <p:cNvSpPr txBox="1"/>
          <p:nvPr/>
        </p:nvSpPr>
        <p:spPr>
          <a:xfrm>
            <a:off x="7443216" y="3456431"/>
            <a:ext cx="557784"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3.52</a:t>
            </a:r>
          </a:p>
        </p:txBody>
      </p:sp>
      <p:sp>
        <p:nvSpPr>
          <p:cNvPr id="87" name="Rectangle 86"/>
          <p:cNvSpPr/>
          <p:nvPr/>
        </p:nvSpPr>
        <p:spPr>
          <a:xfrm>
            <a:off x="8074152" y="3415283"/>
            <a:ext cx="3675887" cy="2148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TextBox 87"/>
          <p:cNvSpPr txBox="1"/>
          <p:nvPr/>
        </p:nvSpPr>
        <p:spPr>
          <a:xfrm>
            <a:off x="8147304" y="3456431"/>
            <a:ext cx="352958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2026–2032</a:t>
            </a:r>
          </a:p>
        </p:txBody>
      </p:sp>
      <p:sp>
        <p:nvSpPr>
          <p:cNvPr id="89" name="Rectangle 88"/>
          <p:cNvSpPr/>
          <p:nvPr/>
        </p:nvSpPr>
        <p:spPr>
          <a:xfrm>
            <a:off x="5596128" y="3630167"/>
            <a:ext cx="1207008"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TextBox 89"/>
          <p:cNvSpPr txBox="1"/>
          <p:nvPr/>
        </p:nvSpPr>
        <p:spPr>
          <a:xfrm>
            <a:off x="5669280" y="3671315"/>
            <a:ext cx="1060704" cy="169164"/>
          </a:xfrm>
          <a:prstGeom prst="rect">
            <a:avLst/>
          </a:prstGeom>
          <a:noFill/>
        </p:spPr>
        <p:txBody>
          <a:bodyPr wrap="square" lIns="0" rIns="0" tIns="0" bIns="0">
            <a:spAutoFit/>
          </a:bodyPr>
          <a:lstStyle/>
          <a:p>
            <a:pPr>
              <a:spcBef>
                <a:spcPts val="0"/>
              </a:spcBef>
              <a:spcAft>
                <a:spcPts val="300"/>
              </a:spcAft>
              <a:defRPr sz="1019" b="1">
                <a:solidFill>
                  <a:srgbClr val="3C3C3C"/>
                </a:solidFill>
                <a:latin typeface="Arial"/>
              </a:defRPr>
            </a:pPr>
            <a:r>
              <a:t>Lynparza</a:t>
            </a:r>
          </a:p>
        </p:txBody>
      </p:sp>
      <p:sp>
        <p:nvSpPr>
          <p:cNvPr id="91" name="Rectangle 90"/>
          <p:cNvSpPr/>
          <p:nvPr/>
        </p:nvSpPr>
        <p:spPr>
          <a:xfrm>
            <a:off x="6803136" y="3630167"/>
            <a:ext cx="566928"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TextBox 91"/>
          <p:cNvSpPr txBox="1"/>
          <p:nvPr/>
        </p:nvSpPr>
        <p:spPr>
          <a:xfrm>
            <a:off x="6876288" y="3671315"/>
            <a:ext cx="42062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Onc</a:t>
            </a:r>
          </a:p>
        </p:txBody>
      </p:sp>
      <p:sp>
        <p:nvSpPr>
          <p:cNvPr id="93" name="Rectangle 92"/>
          <p:cNvSpPr/>
          <p:nvPr/>
        </p:nvSpPr>
        <p:spPr>
          <a:xfrm>
            <a:off x="7370064" y="3630167"/>
            <a:ext cx="704088"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TextBox 93"/>
          <p:cNvSpPr txBox="1"/>
          <p:nvPr/>
        </p:nvSpPr>
        <p:spPr>
          <a:xfrm>
            <a:off x="7443216" y="3671315"/>
            <a:ext cx="557784"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3.28</a:t>
            </a:r>
          </a:p>
        </p:txBody>
      </p:sp>
      <p:sp>
        <p:nvSpPr>
          <p:cNvPr id="95" name="Rectangle 94"/>
          <p:cNvSpPr/>
          <p:nvPr/>
        </p:nvSpPr>
        <p:spPr>
          <a:xfrm>
            <a:off x="8074152" y="3630167"/>
            <a:ext cx="3675887"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TextBox 95"/>
          <p:cNvSpPr txBox="1"/>
          <p:nvPr/>
        </p:nvSpPr>
        <p:spPr>
          <a:xfrm>
            <a:off x="8147304" y="3671315"/>
            <a:ext cx="352958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2027</a:t>
            </a:r>
          </a:p>
        </p:txBody>
      </p:sp>
      <p:sp>
        <p:nvSpPr>
          <p:cNvPr id="97" name="Rectangle 96"/>
          <p:cNvSpPr/>
          <p:nvPr/>
        </p:nvSpPr>
        <p:spPr>
          <a:xfrm>
            <a:off x="5596128" y="3845051"/>
            <a:ext cx="1207008" cy="2148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TextBox 97"/>
          <p:cNvSpPr txBox="1"/>
          <p:nvPr/>
        </p:nvSpPr>
        <p:spPr>
          <a:xfrm>
            <a:off x="5669280" y="3886199"/>
            <a:ext cx="1060704" cy="169164"/>
          </a:xfrm>
          <a:prstGeom prst="rect">
            <a:avLst/>
          </a:prstGeom>
          <a:noFill/>
        </p:spPr>
        <p:txBody>
          <a:bodyPr wrap="square" lIns="0" rIns="0" tIns="0" bIns="0">
            <a:spAutoFit/>
          </a:bodyPr>
          <a:lstStyle/>
          <a:p>
            <a:pPr>
              <a:spcBef>
                <a:spcPts val="0"/>
              </a:spcBef>
              <a:spcAft>
                <a:spcPts val="300"/>
              </a:spcAft>
              <a:defRPr sz="1019" b="1">
                <a:solidFill>
                  <a:srgbClr val="3C3C3C"/>
                </a:solidFill>
                <a:latin typeface="Arial"/>
              </a:defRPr>
            </a:pPr>
            <a:r>
              <a:t>Soliris</a:t>
            </a:r>
          </a:p>
        </p:txBody>
      </p:sp>
      <p:sp>
        <p:nvSpPr>
          <p:cNvPr id="99" name="Rectangle 98"/>
          <p:cNvSpPr/>
          <p:nvPr/>
        </p:nvSpPr>
        <p:spPr>
          <a:xfrm>
            <a:off x="6803136" y="3845051"/>
            <a:ext cx="566928" cy="2148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TextBox 99"/>
          <p:cNvSpPr txBox="1"/>
          <p:nvPr/>
        </p:nvSpPr>
        <p:spPr>
          <a:xfrm>
            <a:off x="6876288" y="3886199"/>
            <a:ext cx="42062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RD</a:t>
            </a:r>
          </a:p>
        </p:txBody>
      </p:sp>
      <p:sp>
        <p:nvSpPr>
          <p:cNvPr id="101" name="Rectangle 100"/>
          <p:cNvSpPr/>
          <p:nvPr/>
        </p:nvSpPr>
        <p:spPr>
          <a:xfrm>
            <a:off x="7370064" y="3845051"/>
            <a:ext cx="704088" cy="2148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TextBox 101"/>
          <p:cNvSpPr txBox="1"/>
          <p:nvPr/>
        </p:nvSpPr>
        <p:spPr>
          <a:xfrm>
            <a:off x="7443216" y="3886199"/>
            <a:ext cx="557784"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1.84</a:t>
            </a:r>
          </a:p>
        </p:txBody>
      </p:sp>
      <p:sp>
        <p:nvSpPr>
          <p:cNvPr id="103" name="Rectangle 102"/>
          <p:cNvSpPr/>
          <p:nvPr/>
        </p:nvSpPr>
        <p:spPr>
          <a:xfrm>
            <a:off x="8074152" y="3845051"/>
            <a:ext cx="3675887" cy="2148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TextBox 103"/>
          <p:cNvSpPr txBox="1"/>
          <p:nvPr/>
        </p:nvSpPr>
        <p:spPr>
          <a:xfrm>
            <a:off x="8147304" y="3886199"/>
            <a:ext cx="352958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2027; biosimilar entry 2025²</a:t>
            </a:r>
          </a:p>
        </p:txBody>
      </p:sp>
      <p:sp>
        <p:nvSpPr>
          <p:cNvPr id="105" name="Rectangle 104"/>
          <p:cNvSpPr/>
          <p:nvPr/>
        </p:nvSpPr>
        <p:spPr>
          <a:xfrm>
            <a:off x="5596128" y="4059935"/>
            <a:ext cx="1207008"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6" name="TextBox 105"/>
          <p:cNvSpPr txBox="1"/>
          <p:nvPr/>
        </p:nvSpPr>
        <p:spPr>
          <a:xfrm>
            <a:off x="5669280" y="4101083"/>
            <a:ext cx="1060704" cy="169164"/>
          </a:xfrm>
          <a:prstGeom prst="rect">
            <a:avLst/>
          </a:prstGeom>
          <a:noFill/>
        </p:spPr>
        <p:txBody>
          <a:bodyPr wrap="square" lIns="0" rIns="0" tIns="0" bIns="0">
            <a:spAutoFit/>
          </a:bodyPr>
          <a:lstStyle/>
          <a:p>
            <a:pPr>
              <a:spcBef>
                <a:spcPts val="0"/>
              </a:spcBef>
              <a:spcAft>
                <a:spcPts val="300"/>
              </a:spcAft>
              <a:defRPr sz="1019" b="1">
                <a:solidFill>
                  <a:srgbClr val="3C3C3C"/>
                </a:solidFill>
                <a:latin typeface="Arial"/>
              </a:defRPr>
            </a:pPr>
            <a:r>
              <a:t>Fasenra</a:t>
            </a:r>
          </a:p>
        </p:txBody>
      </p:sp>
      <p:sp>
        <p:nvSpPr>
          <p:cNvPr id="107" name="Rectangle 106"/>
          <p:cNvSpPr/>
          <p:nvPr/>
        </p:nvSpPr>
        <p:spPr>
          <a:xfrm>
            <a:off x="6803136" y="4059935"/>
            <a:ext cx="566928"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extBox 107"/>
          <p:cNvSpPr txBox="1"/>
          <p:nvPr/>
        </p:nvSpPr>
        <p:spPr>
          <a:xfrm>
            <a:off x="6876288" y="4101083"/>
            <a:ext cx="42062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R&amp;I</a:t>
            </a:r>
          </a:p>
        </p:txBody>
      </p:sp>
      <p:sp>
        <p:nvSpPr>
          <p:cNvPr id="109" name="Rectangle 108"/>
          <p:cNvSpPr/>
          <p:nvPr/>
        </p:nvSpPr>
        <p:spPr>
          <a:xfrm>
            <a:off x="7370064" y="4059935"/>
            <a:ext cx="704088"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TextBox 109"/>
          <p:cNvSpPr txBox="1"/>
          <p:nvPr/>
        </p:nvSpPr>
        <p:spPr>
          <a:xfrm>
            <a:off x="7443216" y="4101083"/>
            <a:ext cx="557784"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1.98</a:t>
            </a:r>
          </a:p>
        </p:txBody>
      </p:sp>
      <p:sp>
        <p:nvSpPr>
          <p:cNvPr id="111" name="Rectangle 110"/>
          <p:cNvSpPr/>
          <p:nvPr/>
        </p:nvSpPr>
        <p:spPr>
          <a:xfrm>
            <a:off x="8074152" y="4059935"/>
            <a:ext cx="3675887"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2" name="TextBox 111"/>
          <p:cNvSpPr txBox="1"/>
          <p:nvPr/>
        </p:nvSpPr>
        <p:spPr>
          <a:xfrm>
            <a:off x="8147304" y="4101083"/>
            <a:ext cx="352958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2028–2034 (other)</a:t>
            </a:r>
          </a:p>
        </p:txBody>
      </p:sp>
      <p:sp>
        <p:nvSpPr>
          <p:cNvPr id="113" name="Rectangle 112"/>
          <p:cNvSpPr/>
          <p:nvPr/>
        </p:nvSpPr>
        <p:spPr>
          <a:xfrm>
            <a:off x="5596128" y="4274820"/>
            <a:ext cx="1207008" cy="2148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4" name="TextBox 113"/>
          <p:cNvSpPr txBox="1"/>
          <p:nvPr/>
        </p:nvSpPr>
        <p:spPr>
          <a:xfrm>
            <a:off x="5669280" y="4315968"/>
            <a:ext cx="1060704" cy="169164"/>
          </a:xfrm>
          <a:prstGeom prst="rect">
            <a:avLst/>
          </a:prstGeom>
          <a:noFill/>
        </p:spPr>
        <p:txBody>
          <a:bodyPr wrap="square" lIns="0" rIns="0" tIns="0" bIns="0">
            <a:spAutoFit/>
          </a:bodyPr>
          <a:lstStyle/>
          <a:p>
            <a:pPr>
              <a:spcBef>
                <a:spcPts val="0"/>
              </a:spcBef>
              <a:spcAft>
                <a:spcPts val="300"/>
              </a:spcAft>
              <a:defRPr sz="1019" b="1">
                <a:solidFill>
                  <a:srgbClr val="3C3C3C"/>
                </a:solidFill>
                <a:latin typeface="Arial"/>
              </a:defRPr>
            </a:pPr>
            <a:r>
              <a:t>Breztri</a:t>
            </a:r>
          </a:p>
        </p:txBody>
      </p:sp>
      <p:sp>
        <p:nvSpPr>
          <p:cNvPr id="115" name="Rectangle 114"/>
          <p:cNvSpPr/>
          <p:nvPr/>
        </p:nvSpPr>
        <p:spPr>
          <a:xfrm>
            <a:off x="6803136" y="4274820"/>
            <a:ext cx="566928" cy="2148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6" name="TextBox 115"/>
          <p:cNvSpPr txBox="1"/>
          <p:nvPr/>
        </p:nvSpPr>
        <p:spPr>
          <a:xfrm>
            <a:off x="6876288" y="4315968"/>
            <a:ext cx="42062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R&amp;I</a:t>
            </a:r>
          </a:p>
        </p:txBody>
      </p:sp>
      <p:sp>
        <p:nvSpPr>
          <p:cNvPr id="117" name="Rectangle 116"/>
          <p:cNvSpPr/>
          <p:nvPr/>
        </p:nvSpPr>
        <p:spPr>
          <a:xfrm>
            <a:off x="7370064" y="4274820"/>
            <a:ext cx="704088" cy="2148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8" name="TextBox 117"/>
          <p:cNvSpPr txBox="1"/>
          <p:nvPr/>
        </p:nvSpPr>
        <p:spPr>
          <a:xfrm>
            <a:off x="7443216" y="4315968"/>
            <a:ext cx="557784"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1.20</a:t>
            </a:r>
          </a:p>
        </p:txBody>
      </p:sp>
      <p:sp>
        <p:nvSpPr>
          <p:cNvPr id="119" name="Rectangle 118"/>
          <p:cNvSpPr/>
          <p:nvPr/>
        </p:nvSpPr>
        <p:spPr>
          <a:xfrm>
            <a:off x="8074152" y="4274820"/>
            <a:ext cx="3675887" cy="2148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TextBox 119"/>
          <p:cNvSpPr txBox="1"/>
          <p:nvPr/>
        </p:nvSpPr>
        <p:spPr>
          <a:xfrm>
            <a:off x="8147304" y="4315968"/>
            <a:ext cx="352958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2030–2038 (other)</a:t>
            </a:r>
          </a:p>
        </p:txBody>
      </p:sp>
      <p:sp>
        <p:nvSpPr>
          <p:cNvPr id="121" name="Rectangle 120"/>
          <p:cNvSpPr/>
          <p:nvPr/>
        </p:nvSpPr>
        <p:spPr>
          <a:xfrm>
            <a:off x="5596128" y="4489704"/>
            <a:ext cx="1207008"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2" name="TextBox 121"/>
          <p:cNvSpPr txBox="1"/>
          <p:nvPr/>
        </p:nvSpPr>
        <p:spPr>
          <a:xfrm>
            <a:off x="5669280" y="4530852"/>
            <a:ext cx="1060704" cy="169164"/>
          </a:xfrm>
          <a:prstGeom prst="rect">
            <a:avLst/>
          </a:prstGeom>
          <a:noFill/>
        </p:spPr>
        <p:txBody>
          <a:bodyPr wrap="square" lIns="0" rIns="0" tIns="0" bIns="0">
            <a:spAutoFit/>
          </a:bodyPr>
          <a:lstStyle/>
          <a:p>
            <a:pPr>
              <a:spcBef>
                <a:spcPts val="0"/>
              </a:spcBef>
              <a:spcAft>
                <a:spcPts val="300"/>
              </a:spcAft>
              <a:defRPr sz="1019" b="1">
                <a:solidFill>
                  <a:srgbClr val="3C3C3C"/>
                </a:solidFill>
                <a:latin typeface="Arial"/>
              </a:defRPr>
            </a:pPr>
            <a:r>
              <a:t>Imfinzi</a:t>
            </a:r>
          </a:p>
        </p:txBody>
      </p:sp>
      <p:sp>
        <p:nvSpPr>
          <p:cNvPr id="123" name="Rectangle 122"/>
          <p:cNvSpPr/>
          <p:nvPr/>
        </p:nvSpPr>
        <p:spPr>
          <a:xfrm>
            <a:off x="6803136" y="4489704"/>
            <a:ext cx="566928"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4" name="TextBox 123"/>
          <p:cNvSpPr txBox="1"/>
          <p:nvPr/>
        </p:nvSpPr>
        <p:spPr>
          <a:xfrm>
            <a:off x="6876288" y="4530852"/>
            <a:ext cx="42062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Onc</a:t>
            </a:r>
          </a:p>
        </p:txBody>
      </p:sp>
      <p:sp>
        <p:nvSpPr>
          <p:cNvPr id="125" name="Rectangle 124"/>
          <p:cNvSpPr/>
          <p:nvPr/>
        </p:nvSpPr>
        <p:spPr>
          <a:xfrm>
            <a:off x="7370064" y="4489704"/>
            <a:ext cx="704088"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6" name="TextBox 125"/>
          <p:cNvSpPr txBox="1"/>
          <p:nvPr/>
        </p:nvSpPr>
        <p:spPr>
          <a:xfrm>
            <a:off x="7443216" y="4530852"/>
            <a:ext cx="557784"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6.06</a:t>
            </a:r>
          </a:p>
        </p:txBody>
      </p:sp>
      <p:sp>
        <p:nvSpPr>
          <p:cNvPr id="127" name="Rectangle 126"/>
          <p:cNvSpPr/>
          <p:nvPr/>
        </p:nvSpPr>
        <p:spPr>
          <a:xfrm>
            <a:off x="8074152" y="4489704"/>
            <a:ext cx="3675887"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8" name="TextBox 127"/>
          <p:cNvSpPr txBox="1"/>
          <p:nvPr/>
        </p:nvSpPr>
        <p:spPr>
          <a:xfrm>
            <a:off x="8147304" y="4530852"/>
            <a:ext cx="352958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2031</a:t>
            </a:r>
          </a:p>
        </p:txBody>
      </p:sp>
      <p:sp>
        <p:nvSpPr>
          <p:cNvPr id="129" name="Rectangle 128"/>
          <p:cNvSpPr/>
          <p:nvPr/>
        </p:nvSpPr>
        <p:spPr>
          <a:xfrm>
            <a:off x="5596128" y="4704588"/>
            <a:ext cx="1207008" cy="2148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0" name="TextBox 129"/>
          <p:cNvSpPr txBox="1"/>
          <p:nvPr/>
        </p:nvSpPr>
        <p:spPr>
          <a:xfrm>
            <a:off x="5669280" y="4745736"/>
            <a:ext cx="1060704" cy="169164"/>
          </a:xfrm>
          <a:prstGeom prst="rect">
            <a:avLst/>
          </a:prstGeom>
          <a:noFill/>
        </p:spPr>
        <p:txBody>
          <a:bodyPr wrap="square" lIns="0" rIns="0" tIns="0" bIns="0">
            <a:spAutoFit/>
          </a:bodyPr>
          <a:lstStyle/>
          <a:p>
            <a:pPr>
              <a:spcBef>
                <a:spcPts val="0"/>
              </a:spcBef>
              <a:spcAft>
                <a:spcPts val="300"/>
              </a:spcAft>
              <a:defRPr sz="1019" b="1">
                <a:solidFill>
                  <a:srgbClr val="3C3C3C"/>
                </a:solidFill>
                <a:latin typeface="Arial"/>
              </a:defRPr>
            </a:pPr>
            <a:r>
              <a:t>Tagrisso</a:t>
            </a:r>
          </a:p>
        </p:txBody>
      </p:sp>
      <p:sp>
        <p:nvSpPr>
          <p:cNvPr id="131" name="Rectangle 130"/>
          <p:cNvSpPr/>
          <p:nvPr/>
        </p:nvSpPr>
        <p:spPr>
          <a:xfrm>
            <a:off x="6803136" y="4704588"/>
            <a:ext cx="566928" cy="2148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2" name="TextBox 131"/>
          <p:cNvSpPr txBox="1"/>
          <p:nvPr/>
        </p:nvSpPr>
        <p:spPr>
          <a:xfrm>
            <a:off x="6876288" y="4745736"/>
            <a:ext cx="42062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Onc</a:t>
            </a:r>
          </a:p>
        </p:txBody>
      </p:sp>
      <p:sp>
        <p:nvSpPr>
          <p:cNvPr id="133" name="Rectangle 132"/>
          <p:cNvSpPr/>
          <p:nvPr/>
        </p:nvSpPr>
        <p:spPr>
          <a:xfrm>
            <a:off x="7370064" y="4704588"/>
            <a:ext cx="704088" cy="2148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4" name="TextBox 133"/>
          <p:cNvSpPr txBox="1"/>
          <p:nvPr/>
        </p:nvSpPr>
        <p:spPr>
          <a:xfrm>
            <a:off x="7443216" y="4745736"/>
            <a:ext cx="557784"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7.25</a:t>
            </a:r>
          </a:p>
        </p:txBody>
      </p:sp>
      <p:sp>
        <p:nvSpPr>
          <p:cNvPr id="135" name="Rectangle 134"/>
          <p:cNvSpPr/>
          <p:nvPr/>
        </p:nvSpPr>
        <p:spPr>
          <a:xfrm>
            <a:off x="8074152" y="4704588"/>
            <a:ext cx="3675887" cy="2148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TextBox 135"/>
          <p:cNvSpPr txBox="1"/>
          <p:nvPr/>
        </p:nvSpPr>
        <p:spPr>
          <a:xfrm>
            <a:off x="8147304" y="4745736"/>
            <a:ext cx="352958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2032</a:t>
            </a:r>
          </a:p>
        </p:txBody>
      </p:sp>
      <p:sp>
        <p:nvSpPr>
          <p:cNvPr id="137" name="Rectangle 136"/>
          <p:cNvSpPr/>
          <p:nvPr/>
        </p:nvSpPr>
        <p:spPr>
          <a:xfrm>
            <a:off x="5596128" y="4919472"/>
            <a:ext cx="1207008"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8" name="TextBox 137"/>
          <p:cNvSpPr txBox="1"/>
          <p:nvPr/>
        </p:nvSpPr>
        <p:spPr>
          <a:xfrm>
            <a:off x="5669280" y="4960620"/>
            <a:ext cx="1060704" cy="169164"/>
          </a:xfrm>
          <a:prstGeom prst="rect">
            <a:avLst/>
          </a:prstGeom>
          <a:noFill/>
        </p:spPr>
        <p:txBody>
          <a:bodyPr wrap="square" lIns="0" rIns="0" tIns="0" bIns="0">
            <a:spAutoFit/>
          </a:bodyPr>
          <a:lstStyle/>
          <a:p>
            <a:pPr>
              <a:spcBef>
                <a:spcPts val="0"/>
              </a:spcBef>
              <a:spcAft>
                <a:spcPts val="300"/>
              </a:spcAft>
              <a:defRPr sz="1019" b="1">
                <a:solidFill>
                  <a:srgbClr val="3C3C3C"/>
                </a:solidFill>
                <a:latin typeface="Arial"/>
              </a:defRPr>
            </a:pPr>
            <a:r>
              <a:t>Enhertu</a:t>
            </a:r>
          </a:p>
        </p:txBody>
      </p:sp>
      <p:sp>
        <p:nvSpPr>
          <p:cNvPr id="139" name="Rectangle 138"/>
          <p:cNvSpPr/>
          <p:nvPr/>
        </p:nvSpPr>
        <p:spPr>
          <a:xfrm>
            <a:off x="6803136" y="4919472"/>
            <a:ext cx="566928"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0" name="TextBox 139"/>
          <p:cNvSpPr txBox="1"/>
          <p:nvPr/>
        </p:nvSpPr>
        <p:spPr>
          <a:xfrm>
            <a:off x="6876288" y="4960620"/>
            <a:ext cx="42062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Onc</a:t>
            </a:r>
          </a:p>
        </p:txBody>
      </p:sp>
      <p:sp>
        <p:nvSpPr>
          <p:cNvPr id="141" name="Rectangle 140"/>
          <p:cNvSpPr/>
          <p:nvPr/>
        </p:nvSpPr>
        <p:spPr>
          <a:xfrm>
            <a:off x="7370064" y="4919472"/>
            <a:ext cx="704088"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2" name="TextBox 141"/>
          <p:cNvSpPr txBox="1"/>
          <p:nvPr/>
        </p:nvSpPr>
        <p:spPr>
          <a:xfrm>
            <a:off x="7443216" y="4960620"/>
            <a:ext cx="557784"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2.77</a:t>
            </a:r>
          </a:p>
        </p:txBody>
      </p:sp>
      <p:sp>
        <p:nvSpPr>
          <p:cNvPr id="143" name="Rectangle 142"/>
          <p:cNvSpPr/>
          <p:nvPr/>
        </p:nvSpPr>
        <p:spPr>
          <a:xfrm>
            <a:off x="8074152" y="4919472"/>
            <a:ext cx="3675887"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4" name="TextBox 143"/>
          <p:cNvSpPr txBox="1"/>
          <p:nvPr/>
        </p:nvSpPr>
        <p:spPr>
          <a:xfrm>
            <a:off x="8147304" y="4960620"/>
            <a:ext cx="352958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2033</a:t>
            </a:r>
          </a:p>
        </p:txBody>
      </p:sp>
      <p:sp>
        <p:nvSpPr>
          <p:cNvPr id="145" name="Rectangle 144"/>
          <p:cNvSpPr/>
          <p:nvPr/>
        </p:nvSpPr>
        <p:spPr>
          <a:xfrm>
            <a:off x="5596128" y="5134356"/>
            <a:ext cx="1207008" cy="2148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6" name="TextBox 145"/>
          <p:cNvSpPr txBox="1"/>
          <p:nvPr/>
        </p:nvSpPr>
        <p:spPr>
          <a:xfrm>
            <a:off x="5669280" y="5175504"/>
            <a:ext cx="1060704" cy="169164"/>
          </a:xfrm>
          <a:prstGeom prst="rect">
            <a:avLst/>
          </a:prstGeom>
          <a:noFill/>
        </p:spPr>
        <p:txBody>
          <a:bodyPr wrap="square" lIns="0" rIns="0" tIns="0" bIns="0">
            <a:spAutoFit/>
          </a:bodyPr>
          <a:lstStyle/>
          <a:p>
            <a:pPr>
              <a:spcBef>
                <a:spcPts val="0"/>
              </a:spcBef>
              <a:spcAft>
                <a:spcPts val="300"/>
              </a:spcAft>
              <a:defRPr sz="1019" b="1">
                <a:solidFill>
                  <a:srgbClr val="3C3C3C"/>
                </a:solidFill>
                <a:latin typeface="Arial"/>
              </a:defRPr>
            </a:pPr>
            <a:r>
              <a:t>Tezspire</a:t>
            </a:r>
          </a:p>
        </p:txBody>
      </p:sp>
      <p:sp>
        <p:nvSpPr>
          <p:cNvPr id="147" name="Rectangle 146"/>
          <p:cNvSpPr/>
          <p:nvPr/>
        </p:nvSpPr>
        <p:spPr>
          <a:xfrm>
            <a:off x="6803136" y="5134356"/>
            <a:ext cx="566928" cy="2148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8" name="TextBox 147"/>
          <p:cNvSpPr txBox="1"/>
          <p:nvPr/>
        </p:nvSpPr>
        <p:spPr>
          <a:xfrm>
            <a:off x="6876288" y="5175504"/>
            <a:ext cx="42062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R&amp;I</a:t>
            </a:r>
          </a:p>
        </p:txBody>
      </p:sp>
      <p:sp>
        <p:nvSpPr>
          <p:cNvPr id="149" name="Rectangle 148"/>
          <p:cNvSpPr/>
          <p:nvPr/>
        </p:nvSpPr>
        <p:spPr>
          <a:xfrm>
            <a:off x="7370064" y="5134356"/>
            <a:ext cx="704088" cy="2148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0" name="TextBox 149"/>
          <p:cNvSpPr txBox="1"/>
          <p:nvPr/>
        </p:nvSpPr>
        <p:spPr>
          <a:xfrm>
            <a:off x="7443216" y="5175504"/>
            <a:ext cx="557784"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1.13</a:t>
            </a:r>
          </a:p>
        </p:txBody>
      </p:sp>
      <p:sp>
        <p:nvSpPr>
          <p:cNvPr id="151" name="Rectangle 150"/>
          <p:cNvSpPr/>
          <p:nvPr/>
        </p:nvSpPr>
        <p:spPr>
          <a:xfrm>
            <a:off x="8074152" y="5134356"/>
            <a:ext cx="3675887" cy="2148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2" name="TextBox 151"/>
          <p:cNvSpPr txBox="1"/>
          <p:nvPr/>
        </p:nvSpPr>
        <p:spPr>
          <a:xfrm>
            <a:off x="8147304" y="5175504"/>
            <a:ext cx="352958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2033</a:t>
            </a:r>
          </a:p>
        </p:txBody>
      </p:sp>
      <p:sp>
        <p:nvSpPr>
          <p:cNvPr id="153" name="Rectangle 152"/>
          <p:cNvSpPr/>
          <p:nvPr/>
        </p:nvSpPr>
        <p:spPr>
          <a:xfrm>
            <a:off x="5596128" y="5349240"/>
            <a:ext cx="1207008"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4" name="TextBox 153"/>
          <p:cNvSpPr txBox="1"/>
          <p:nvPr/>
        </p:nvSpPr>
        <p:spPr>
          <a:xfrm>
            <a:off x="5669280" y="5390388"/>
            <a:ext cx="1060704" cy="169164"/>
          </a:xfrm>
          <a:prstGeom prst="rect">
            <a:avLst/>
          </a:prstGeom>
          <a:noFill/>
        </p:spPr>
        <p:txBody>
          <a:bodyPr wrap="square" lIns="0" rIns="0" tIns="0" bIns="0">
            <a:spAutoFit/>
          </a:bodyPr>
          <a:lstStyle/>
          <a:p>
            <a:pPr>
              <a:spcBef>
                <a:spcPts val="0"/>
              </a:spcBef>
              <a:spcAft>
                <a:spcPts val="300"/>
              </a:spcAft>
              <a:defRPr sz="1019" b="1">
                <a:solidFill>
                  <a:srgbClr val="3C3C3C"/>
                </a:solidFill>
                <a:latin typeface="Arial"/>
              </a:defRPr>
            </a:pPr>
            <a:r>
              <a:t>Ultomiris</a:t>
            </a:r>
          </a:p>
        </p:txBody>
      </p:sp>
      <p:sp>
        <p:nvSpPr>
          <p:cNvPr id="155" name="Rectangle 154"/>
          <p:cNvSpPr/>
          <p:nvPr/>
        </p:nvSpPr>
        <p:spPr>
          <a:xfrm>
            <a:off x="6803136" y="5349240"/>
            <a:ext cx="566928"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6" name="TextBox 155"/>
          <p:cNvSpPr txBox="1"/>
          <p:nvPr/>
        </p:nvSpPr>
        <p:spPr>
          <a:xfrm>
            <a:off x="6876288" y="5390388"/>
            <a:ext cx="42062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RD</a:t>
            </a:r>
          </a:p>
        </p:txBody>
      </p:sp>
      <p:sp>
        <p:nvSpPr>
          <p:cNvPr id="157" name="Rectangle 156"/>
          <p:cNvSpPr/>
          <p:nvPr/>
        </p:nvSpPr>
        <p:spPr>
          <a:xfrm>
            <a:off x="7370064" y="5349240"/>
            <a:ext cx="704088"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8" name="TextBox 157"/>
          <p:cNvSpPr txBox="1"/>
          <p:nvPr/>
        </p:nvSpPr>
        <p:spPr>
          <a:xfrm>
            <a:off x="7443216" y="5390388"/>
            <a:ext cx="557784"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4.72</a:t>
            </a:r>
          </a:p>
        </p:txBody>
      </p:sp>
      <p:sp>
        <p:nvSpPr>
          <p:cNvPr id="159" name="Rectangle 158"/>
          <p:cNvSpPr/>
          <p:nvPr/>
        </p:nvSpPr>
        <p:spPr>
          <a:xfrm>
            <a:off x="8074152" y="5349240"/>
            <a:ext cx="3675887" cy="214884"/>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0" name="TextBox 159"/>
          <p:cNvSpPr txBox="1"/>
          <p:nvPr/>
        </p:nvSpPr>
        <p:spPr>
          <a:xfrm>
            <a:off x="8147304" y="5390388"/>
            <a:ext cx="3529583" cy="169164"/>
          </a:xfrm>
          <a:prstGeom prst="rect">
            <a:avLst/>
          </a:prstGeom>
          <a:noFill/>
        </p:spPr>
        <p:txBody>
          <a:bodyPr wrap="square" lIns="0" rIns="0" tIns="0" bIns="0">
            <a:spAutoFit/>
          </a:bodyPr>
          <a:lstStyle/>
          <a:p>
            <a:pPr>
              <a:spcBef>
                <a:spcPts val="0"/>
              </a:spcBef>
              <a:spcAft>
                <a:spcPts val="300"/>
              </a:spcAft>
              <a:defRPr sz="1019" b="0">
                <a:solidFill>
                  <a:srgbClr val="3C3C3C"/>
                </a:solidFill>
                <a:latin typeface="Arial"/>
              </a:defRPr>
            </a:pPr>
            <a:r>
              <a:t>2035</a:t>
            </a:r>
          </a:p>
        </p:txBody>
      </p:sp>
      <p:sp>
        <p:nvSpPr>
          <p:cNvPr id="161" name="TextBox 160"/>
          <p:cNvSpPr txBox="1"/>
          <p:nvPr/>
        </p:nvSpPr>
        <p:spPr>
          <a:xfrm>
            <a:off x="5596128" y="5687568"/>
            <a:ext cx="6153912" cy="493776"/>
          </a:xfrm>
          <a:prstGeom prst="rect">
            <a:avLst/>
          </a:prstGeom>
          <a:noFill/>
        </p:spPr>
        <p:txBody>
          <a:bodyPr wrap="square" lIns="0" rIns="0" tIns="0" bIns="0">
            <a:spAutoFit/>
          </a:bodyPr>
          <a:lstStyle/>
          <a:p>
            <a:pPr>
              <a:spcBef>
                <a:spcPts val="0"/>
              </a:spcBef>
              <a:spcAft>
                <a:spcPts val="300"/>
              </a:spcAft>
              <a:defRPr sz="880" b="0">
                <a:solidFill>
                  <a:srgbClr val="66757C"/>
                </a:solidFill>
                <a:latin typeface="Arial"/>
              </a:defRPr>
            </a:pPr>
            <a:r>
              <a:t>¹ NME patents where stated; “other” denotes other patent types. Further patents may apply. Dates are not forecasts of generic entry.</a:t>
            </a:r>
          </a:p>
          <a:p>
            <a:pPr>
              <a:spcBef>
                <a:spcPts val="0"/>
              </a:spcBef>
              <a:spcAft>
                <a:spcPts val="300"/>
              </a:spcAft>
              <a:defRPr sz="880" b="0">
                <a:solidFill>
                  <a:srgbClr val="66757C"/>
                </a:solidFill>
                <a:latin typeface="Arial"/>
              </a:defRPr>
            </a:pPr>
            <a:r>
              <a:t>² Soliris US biosimilar entry licensed from Mar 2025. TA: Onc=Oncology; RD=Rare Disease.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18872"/>
            <a:ext cx="6400800" cy="182880"/>
          </a:xfrm>
          <a:prstGeom prst="rect">
            <a:avLst/>
          </a:prstGeom>
          <a:noFill/>
        </p:spPr>
        <p:txBody>
          <a:bodyPr wrap="square" lIns="0" rIns="0" tIns="0" bIns="0">
            <a:spAutoFit/>
          </a:bodyPr>
          <a:lstStyle/>
          <a:p>
            <a:pPr>
              <a:spcBef>
                <a:spcPts val="0"/>
              </a:spcBef>
              <a:spcAft>
                <a:spcPts val="300"/>
              </a:spcAft>
              <a:defRPr sz="900" b="1">
                <a:solidFill>
                  <a:srgbClr val="66757C"/>
                </a:solidFill>
                <a:latin typeface="Arial"/>
              </a:defRPr>
            </a:pPr>
            <a:r>
              <a:t>TOP 20 MNC PROFILING  /  ASTRAZENECA</a:t>
            </a:r>
          </a:p>
        </p:txBody>
      </p:sp>
      <p:sp>
        <p:nvSpPr>
          <p:cNvPr id="3" name="TextBox 2"/>
          <p:cNvSpPr txBox="1"/>
          <p:nvPr/>
        </p:nvSpPr>
        <p:spPr>
          <a:xfrm>
            <a:off x="7863840" y="118872"/>
            <a:ext cx="3886200" cy="182880"/>
          </a:xfrm>
          <a:prstGeom prst="rect">
            <a:avLst/>
          </a:prstGeom>
          <a:noFill/>
        </p:spPr>
        <p:txBody>
          <a:bodyPr wrap="square" lIns="0" rIns="0" tIns="0" bIns="0">
            <a:spAutoFit/>
          </a:bodyPr>
          <a:lstStyle/>
          <a:p>
            <a:pPr algn="r">
              <a:spcBef>
                <a:spcPts val="0"/>
              </a:spcBef>
              <a:spcAft>
                <a:spcPts val="300"/>
              </a:spcAft>
              <a:defRPr sz="900" b="1">
                <a:solidFill>
                  <a:srgbClr val="66757C"/>
                </a:solidFill>
                <a:latin typeface="Arial"/>
              </a:defRPr>
            </a:pPr>
            <a:r>
              <a:t>22 OCT 2026  |  v2.1</a:t>
            </a:r>
          </a:p>
        </p:txBody>
      </p:sp>
      <p:sp>
        <p:nvSpPr>
          <p:cNvPr id="4" name="TextBox 3"/>
          <p:cNvSpPr txBox="1"/>
          <p:nvPr/>
        </p:nvSpPr>
        <p:spPr>
          <a:xfrm>
            <a:off x="411480" y="448056"/>
            <a:ext cx="11338560" cy="365760"/>
          </a:xfrm>
          <a:prstGeom prst="rect">
            <a:avLst/>
          </a:prstGeom>
          <a:noFill/>
        </p:spPr>
        <p:txBody>
          <a:bodyPr wrap="square" lIns="0" rIns="0" tIns="0" bIns="0">
            <a:spAutoFit/>
          </a:bodyPr>
          <a:lstStyle/>
          <a:p>
            <a:pPr>
              <a:spcBef>
                <a:spcPts val="0"/>
              </a:spcBef>
              <a:spcAft>
                <a:spcPts val="300"/>
              </a:spcAft>
              <a:defRPr sz="2300" b="1">
                <a:solidFill>
                  <a:srgbClr val="227C9D"/>
                </a:solidFill>
                <a:latin typeface="Arial"/>
              </a:defRPr>
            </a:pPr>
            <a:r>
              <a:t>3 - Phase III &amp; Registration-stage Pipeline</a:t>
            </a:r>
          </a:p>
        </p:txBody>
      </p:sp>
      <p:sp>
        <p:nvSpPr>
          <p:cNvPr id="5" name="TextBox 4"/>
          <p:cNvSpPr txBox="1"/>
          <p:nvPr/>
        </p:nvSpPr>
        <p:spPr>
          <a:xfrm>
            <a:off x="411480" y="941832"/>
            <a:ext cx="11338560" cy="347472"/>
          </a:xfrm>
          <a:prstGeom prst="rect">
            <a:avLst/>
          </a:prstGeom>
          <a:noFill/>
        </p:spPr>
        <p:txBody>
          <a:bodyPr wrap="square" lIns="0" rIns="0" tIns="0" bIns="0">
            <a:spAutoFit/>
          </a:bodyPr>
          <a:lstStyle/>
          <a:p>
            <a:pPr>
              <a:spcBef>
                <a:spcPts val="0"/>
              </a:spcBef>
              <a:spcAft>
                <a:spcPts val="300"/>
              </a:spcAft>
              <a:defRPr sz="1450" b="0">
                <a:solidFill>
                  <a:srgbClr val="3C3C3C"/>
                </a:solidFill>
                <a:latin typeface="Arial"/>
              </a:defRPr>
            </a:pPr>
            <a:r>
              <a:t>TA and target map of the official July 2026 pipeline; full indication-level records in Excel</a:t>
            </a:r>
          </a:p>
        </p:txBody>
      </p:sp>
      <p:sp>
        <p:nvSpPr>
          <p:cNvPr id="6" name="Rectangle 5"/>
          <p:cNvSpPr/>
          <p:nvPr/>
        </p:nvSpPr>
        <p:spPr>
          <a:xfrm>
            <a:off x="411480" y="1444752"/>
            <a:ext cx="11338560" cy="10972"/>
          </a:xfrm>
          <a:prstGeom prst="rect">
            <a:avLst/>
          </a:prstGeom>
          <a:solidFill>
            <a:srgbClr val="D8E1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11480" y="6391656"/>
            <a:ext cx="11018520" cy="246888"/>
          </a:xfrm>
          <a:prstGeom prst="rect">
            <a:avLst/>
          </a:prstGeom>
          <a:noFill/>
        </p:spPr>
        <p:txBody>
          <a:bodyPr wrap="square" lIns="0" rIns="0" tIns="0" bIns="0">
            <a:spAutoFit/>
          </a:bodyPr>
          <a:lstStyle/>
          <a:p>
            <a:pPr>
              <a:spcBef>
                <a:spcPts val="0"/>
              </a:spcBef>
              <a:spcAft>
                <a:spcPts val="300"/>
              </a:spcAft>
              <a:defRPr sz="770" b="0">
                <a:solidFill>
                  <a:srgbClr val="66757C"/>
                </a:solidFill>
                <a:latin typeface="Arial"/>
              </a:defRPr>
            </a:pPr>
            <a:r>
              <a:t>[4,19] Official pipeline / H1 2026 clinical appendix, 27 Jul 2026. Website Phase III entries include some approved or regional programs. LCM bucket excluded from the 45.</a:t>
            </a:r>
          </a:p>
        </p:txBody>
      </p:sp>
      <p:sp>
        <p:nvSpPr>
          <p:cNvPr id="8" name="TextBox 7"/>
          <p:cNvSpPr txBox="1"/>
          <p:nvPr/>
        </p:nvSpPr>
        <p:spPr>
          <a:xfrm>
            <a:off x="411480" y="6675120"/>
            <a:ext cx="10698480" cy="100584"/>
          </a:xfrm>
          <a:prstGeom prst="rect">
            <a:avLst/>
          </a:prstGeom>
          <a:noFill/>
        </p:spPr>
        <p:txBody>
          <a:bodyPr wrap="square" lIns="0" rIns="0" tIns="0" bIns="0">
            <a:spAutoFit/>
          </a:bodyPr>
          <a:lstStyle/>
          <a:p>
            <a:pPr>
              <a:spcBef>
                <a:spcPts val="0"/>
              </a:spcBef>
              <a:spcAft>
                <a:spcPts val="300"/>
              </a:spcAft>
              <a:defRPr sz="720" b="0">
                <a:solidFill>
                  <a:srgbClr val="66757C"/>
                </a:solidFill>
                <a:latin typeface="Arial"/>
              </a:defRPr>
            </a:pPr>
            <a:r>
              <a:t>Source URLs, definitions and detailed data are included in the slide notes and the companion Excel workbook.</a:t>
            </a:r>
          </a:p>
        </p:txBody>
      </p:sp>
      <p:sp>
        <p:nvSpPr>
          <p:cNvPr id="9" name="TextBox 8"/>
          <p:cNvSpPr txBox="1"/>
          <p:nvPr/>
        </p:nvSpPr>
        <p:spPr>
          <a:xfrm>
            <a:off x="11247120" y="6620256"/>
            <a:ext cx="274320" cy="164592"/>
          </a:xfrm>
          <a:prstGeom prst="rect">
            <a:avLst/>
          </a:prstGeom>
          <a:noFill/>
        </p:spPr>
        <p:txBody>
          <a:bodyPr wrap="square" lIns="0" rIns="0" tIns="0" bIns="0">
            <a:spAutoFit/>
          </a:bodyPr>
          <a:lstStyle/>
          <a:p>
            <a:pPr algn="r">
              <a:spcBef>
                <a:spcPts val="0"/>
              </a:spcBef>
              <a:spcAft>
                <a:spcPts val="300"/>
              </a:spcAft>
              <a:defRPr sz="900" b="0">
                <a:solidFill>
                  <a:srgbClr val="66757C"/>
                </a:solidFill>
                <a:latin typeface="Arial"/>
              </a:defRPr>
            </a:pPr>
            <a:r>
              <a:t>3</a:t>
            </a:r>
          </a:p>
        </p:txBody>
      </p:sp>
      <p:pic>
        <p:nvPicPr>
          <p:cNvPr id="10" name="Picture 9" descr="cstone-mark.png"/>
          <p:cNvPicPr>
            <a:picLocks noChangeAspect="1"/>
          </p:cNvPicPr>
          <p:nvPr/>
        </p:nvPicPr>
        <p:blipFill>
          <a:blip r:embed="rId2"/>
          <a:stretch>
            <a:fillRect/>
          </a:stretch>
        </p:blipFill>
        <p:spPr>
          <a:xfrm>
            <a:off x="11731752" y="6611112"/>
            <a:ext cx="201168" cy="164592"/>
          </a:xfrm>
          <a:prstGeom prst="rect">
            <a:avLst/>
          </a:prstGeom>
        </p:spPr>
      </p:pic>
      <p:sp>
        <p:nvSpPr>
          <p:cNvPr id="11" name="Rectangle 10"/>
          <p:cNvSpPr/>
          <p:nvPr/>
        </p:nvSpPr>
        <p:spPr>
          <a:xfrm>
            <a:off x="411480" y="1673352"/>
            <a:ext cx="3657600" cy="566928"/>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521208" y="1792224"/>
            <a:ext cx="658368" cy="320040"/>
          </a:xfrm>
          <a:prstGeom prst="rect">
            <a:avLst/>
          </a:prstGeom>
          <a:noFill/>
        </p:spPr>
        <p:txBody>
          <a:bodyPr wrap="square" lIns="0" rIns="0" tIns="0" bIns="0">
            <a:spAutoFit/>
          </a:bodyPr>
          <a:lstStyle/>
          <a:p>
            <a:pPr>
              <a:spcBef>
                <a:spcPts val="0"/>
              </a:spcBef>
              <a:spcAft>
                <a:spcPts val="300"/>
              </a:spcAft>
              <a:defRPr sz="2400" b="1">
                <a:solidFill>
                  <a:srgbClr val="003366"/>
                </a:solidFill>
                <a:latin typeface="Arial"/>
              </a:defRPr>
            </a:pPr>
            <a:r>
              <a:t>45</a:t>
            </a:r>
          </a:p>
        </p:txBody>
      </p:sp>
      <p:sp>
        <p:nvSpPr>
          <p:cNvPr id="13" name="TextBox 12"/>
          <p:cNvSpPr txBox="1"/>
          <p:nvPr/>
        </p:nvSpPr>
        <p:spPr>
          <a:xfrm>
            <a:off x="1271016" y="1856231"/>
            <a:ext cx="2697480" cy="201168"/>
          </a:xfrm>
          <a:prstGeom prst="rect">
            <a:avLst/>
          </a:prstGeom>
          <a:noFill/>
        </p:spPr>
        <p:txBody>
          <a:bodyPr wrap="square" lIns="0" rIns="0" tIns="0" bIns="0">
            <a:spAutoFit/>
          </a:bodyPr>
          <a:lstStyle/>
          <a:p>
            <a:pPr>
              <a:spcBef>
                <a:spcPts val="0"/>
              </a:spcBef>
              <a:spcAft>
                <a:spcPts val="300"/>
              </a:spcAft>
              <a:defRPr sz="1050" b="0">
                <a:solidFill>
                  <a:srgbClr val="3C3C3C"/>
                </a:solidFill>
                <a:latin typeface="Arial"/>
              </a:defRPr>
            </a:pPr>
            <a:r>
              <a:t>Listed Phase III program entries¹</a:t>
            </a:r>
          </a:p>
        </p:txBody>
      </p:sp>
      <p:sp>
        <p:nvSpPr>
          <p:cNvPr id="14" name="Rectangle 13"/>
          <p:cNvSpPr/>
          <p:nvPr/>
        </p:nvSpPr>
        <p:spPr>
          <a:xfrm>
            <a:off x="4242816" y="1673352"/>
            <a:ext cx="3657600" cy="566928"/>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352544" y="1792224"/>
            <a:ext cx="658368" cy="320040"/>
          </a:xfrm>
          <a:prstGeom prst="rect">
            <a:avLst/>
          </a:prstGeom>
          <a:noFill/>
        </p:spPr>
        <p:txBody>
          <a:bodyPr wrap="square" lIns="0" rIns="0" tIns="0" bIns="0">
            <a:spAutoFit/>
          </a:bodyPr>
          <a:lstStyle/>
          <a:p>
            <a:pPr>
              <a:spcBef>
                <a:spcPts val="0"/>
              </a:spcBef>
              <a:spcAft>
                <a:spcPts val="300"/>
              </a:spcAft>
              <a:defRPr sz="2400" b="1">
                <a:solidFill>
                  <a:srgbClr val="003366"/>
                </a:solidFill>
                <a:latin typeface="Arial"/>
              </a:defRPr>
            </a:pPr>
            <a:r>
              <a:t>21</a:t>
            </a:r>
          </a:p>
        </p:txBody>
      </p:sp>
      <p:sp>
        <p:nvSpPr>
          <p:cNvPr id="16" name="TextBox 15"/>
          <p:cNvSpPr txBox="1"/>
          <p:nvPr/>
        </p:nvSpPr>
        <p:spPr>
          <a:xfrm>
            <a:off x="5102352" y="1856231"/>
            <a:ext cx="2697480" cy="201168"/>
          </a:xfrm>
          <a:prstGeom prst="rect">
            <a:avLst/>
          </a:prstGeom>
          <a:noFill/>
        </p:spPr>
        <p:txBody>
          <a:bodyPr wrap="square" lIns="0" rIns="0" tIns="0" bIns="0">
            <a:spAutoFit/>
          </a:bodyPr>
          <a:lstStyle/>
          <a:p>
            <a:pPr>
              <a:spcBef>
                <a:spcPts val="0"/>
              </a:spcBef>
              <a:spcAft>
                <a:spcPts val="300"/>
              </a:spcAft>
              <a:defRPr sz="1050" b="0">
                <a:solidFill>
                  <a:srgbClr val="3C3C3C"/>
                </a:solidFill>
                <a:latin typeface="Arial"/>
              </a:defRPr>
            </a:pPr>
            <a:r>
              <a:t>Late-stage NMEs | company-reported</a:t>
            </a:r>
          </a:p>
        </p:txBody>
      </p:sp>
      <p:sp>
        <p:nvSpPr>
          <p:cNvPr id="17" name="Rectangle 16"/>
          <p:cNvSpPr/>
          <p:nvPr/>
        </p:nvSpPr>
        <p:spPr>
          <a:xfrm>
            <a:off x="8074152" y="1673352"/>
            <a:ext cx="3675887" cy="566928"/>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183879" y="1792224"/>
            <a:ext cx="658368" cy="320040"/>
          </a:xfrm>
          <a:prstGeom prst="rect">
            <a:avLst/>
          </a:prstGeom>
          <a:noFill/>
        </p:spPr>
        <p:txBody>
          <a:bodyPr wrap="square" lIns="0" rIns="0" tIns="0" bIns="0">
            <a:spAutoFit/>
          </a:bodyPr>
          <a:lstStyle/>
          <a:p>
            <a:pPr>
              <a:spcBef>
                <a:spcPts val="0"/>
              </a:spcBef>
              <a:spcAft>
                <a:spcPts val="300"/>
              </a:spcAft>
              <a:defRPr sz="2400" b="1">
                <a:solidFill>
                  <a:srgbClr val="003366"/>
                </a:solidFill>
                <a:latin typeface="Arial"/>
              </a:defRPr>
            </a:pPr>
            <a:r>
              <a:t>4</a:t>
            </a:r>
          </a:p>
        </p:txBody>
      </p:sp>
      <p:sp>
        <p:nvSpPr>
          <p:cNvPr id="19" name="TextBox 18"/>
          <p:cNvSpPr txBox="1"/>
          <p:nvPr/>
        </p:nvSpPr>
        <p:spPr>
          <a:xfrm>
            <a:off x="8933688" y="1856231"/>
            <a:ext cx="2715768" cy="201168"/>
          </a:xfrm>
          <a:prstGeom prst="rect">
            <a:avLst/>
          </a:prstGeom>
          <a:noFill/>
        </p:spPr>
        <p:txBody>
          <a:bodyPr wrap="square" lIns="0" rIns="0" tIns="0" bIns="0">
            <a:spAutoFit/>
          </a:bodyPr>
          <a:lstStyle/>
          <a:p>
            <a:pPr>
              <a:spcBef>
                <a:spcPts val="0"/>
              </a:spcBef>
              <a:spcAft>
                <a:spcPts val="300"/>
              </a:spcAft>
              <a:defRPr sz="1050" b="0">
                <a:solidFill>
                  <a:srgbClr val="3C3C3C"/>
                </a:solidFill>
                <a:latin typeface="Arial"/>
              </a:defRPr>
            </a:pPr>
            <a:r>
              <a:t>NMEs under review | major markets</a:t>
            </a:r>
          </a:p>
        </p:txBody>
      </p:sp>
      <p:sp>
        <p:nvSpPr>
          <p:cNvPr id="20" name="Rectangle 19"/>
          <p:cNvSpPr/>
          <p:nvPr/>
        </p:nvSpPr>
        <p:spPr>
          <a:xfrm>
            <a:off x="411480" y="2468880"/>
            <a:ext cx="8202168" cy="292608"/>
          </a:xfrm>
          <a:prstGeom prst="rect">
            <a:avLst/>
          </a:prstGeom>
          <a:solidFill>
            <a:srgbClr val="00336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02920" y="2519172"/>
            <a:ext cx="8019288" cy="210312"/>
          </a:xfrm>
          <a:prstGeom prst="rect">
            <a:avLst/>
          </a:prstGeom>
          <a:noFill/>
        </p:spPr>
        <p:txBody>
          <a:bodyPr wrap="square" lIns="0" rIns="0" tIns="0" bIns="0">
            <a:spAutoFit/>
          </a:bodyPr>
          <a:lstStyle/>
          <a:p>
            <a:pPr>
              <a:spcBef>
                <a:spcPts val="0"/>
              </a:spcBef>
              <a:spcAft>
                <a:spcPts val="300"/>
              </a:spcAft>
              <a:defRPr sz="1200" b="1">
                <a:solidFill>
                  <a:srgbClr val="FFFFFF"/>
                </a:solidFill>
                <a:latin typeface="Arial"/>
              </a:defRPr>
            </a:pPr>
            <a:r>
              <a:t>Phase III asset / target map | grouped by TA</a:t>
            </a:r>
          </a:p>
        </p:txBody>
      </p:sp>
      <p:sp>
        <p:nvSpPr>
          <p:cNvPr id="22" name="Rectangle 21"/>
          <p:cNvSpPr/>
          <p:nvPr/>
        </p:nvSpPr>
        <p:spPr>
          <a:xfrm>
            <a:off x="411480" y="2880360"/>
            <a:ext cx="1280160" cy="274320"/>
          </a:xfrm>
          <a:prstGeom prst="rect">
            <a:avLst/>
          </a:prstGeom>
          <a:solidFill>
            <a:srgbClr val="00336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3776" y="2971800"/>
            <a:ext cx="1115568" cy="155448"/>
          </a:xfrm>
          <a:prstGeom prst="rect">
            <a:avLst/>
          </a:prstGeom>
          <a:noFill/>
        </p:spPr>
        <p:txBody>
          <a:bodyPr wrap="square" lIns="0" rIns="0" tIns="0" bIns="0">
            <a:spAutoFit/>
          </a:bodyPr>
          <a:lstStyle/>
          <a:p>
            <a:pPr>
              <a:spcBef>
                <a:spcPts val="0"/>
              </a:spcBef>
              <a:spcAft>
                <a:spcPts val="300"/>
              </a:spcAft>
              <a:defRPr sz="1029" b="1">
                <a:solidFill>
                  <a:srgbClr val="FFFFFF"/>
                </a:solidFill>
                <a:latin typeface="Arial"/>
              </a:defRPr>
            </a:pPr>
            <a:r>
              <a:t>TA / entries</a:t>
            </a:r>
          </a:p>
        </p:txBody>
      </p:sp>
      <p:sp>
        <p:nvSpPr>
          <p:cNvPr id="24" name="Rectangle 23"/>
          <p:cNvSpPr/>
          <p:nvPr/>
        </p:nvSpPr>
        <p:spPr>
          <a:xfrm>
            <a:off x="1691639" y="2880360"/>
            <a:ext cx="6922008" cy="274320"/>
          </a:xfrm>
          <a:prstGeom prst="rect">
            <a:avLst/>
          </a:prstGeom>
          <a:solidFill>
            <a:srgbClr val="00336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1773936" y="2971800"/>
            <a:ext cx="6757416" cy="155448"/>
          </a:xfrm>
          <a:prstGeom prst="rect">
            <a:avLst/>
          </a:prstGeom>
          <a:noFill/>
        </p:spPr>
        <p:txBody>
          <a:bodyPr wrap="square" lIns="0" rIns="0" tIns="0" bIns="0">
            <a:spAutoFit/>
          </a:bodyPr>
          <a:lstStyle/>
          <a:p>
            <a:pPr>
              <a:spcBef>
                <a:spcPts val="0"/>
              </a:spcBef>
              <a:spcAft>
                <a:spcPts val="300"/>
              </a:spcAft>
              <a:defRPr sz="1029" b="1">
                <a:solidFill>
                  <a:srgbClr val="FFFFFF"/>
                </a:solidFill>
                <a:latin typeface="Arial"/>
              </a:defRPr>
            </a:pPr>
            <a:r>
              <a:t>Assets and mechanisms represented in the Phase III bucket</a:t>
            </a:r>
          </a:p>
        </p:txBody>
      </p:sp>
      <p:sp>
        <p:nvSpPr>
          <p:cNvPr id="26" name="Rectangle 25"/>
          <p:cNvSpPr/>
          <p:nvPr/>
        </p:nvSpPr>
        <p:spPr>
          <a:xfrm>
            <a:off x="411480" y="3154679"/>
            <a:ext cx="1280160" cy="1252728"/>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493776" y="3246120"/>
            <a:ext cx="1115568" cy="1133856"/>
          </a:xfrm>
          <a:prstGeom prst="rect">
            <a:avLst/>
          </a:prstGeom>
          <a:noFill/>
        </p:spPr>
        <p:txBody>
          <a:bodyPr wrap="square" lIns="0" rIns="0" tIns="0" bIns="0">
            <a:spAutoFit/>
          </a:bodyPr>
          <a:lstStyle/>
          <a:p>
            <a:pPr>
              <a:spcBef>
                <a:spcPts val="0"/>
              </a:spcBef>
              <a:spcAft>
                <a:spcPts val="300"/>
              </a:spcAft>
              <a:defRPr sz="1060" b="1">
                <a:solidFill>
                  <a:srgbClr val="3C3C3C"/>
                </a:solidFill>
                <a:latin typeface="Arial"/>
              </a:defRPr>
            </a:pPr>
            <a:r>
              <a:t>Oncology | 28</a:t>
            </a:r>
          </a:p>
        </p:txBody>
      </p:sp>
      <p:sp>
        <p:nvSpPr>
          <p:cNvPr id="28" name="Rectangle 27"/>
          <p:cNvSpPr/>
          <p:nvPr/>
        </p:nvSpPr>
        <p:spPr>
          <a:xfrm>
            <a:off x="1691639" y="3154679"/>
            <a:ext cx="6922008" cy="1252728"/>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1773936" y="3246120"/>
            <a:ext cx="6757416" cy="1133856"/>
          </a:xfrm>
          <a:prstGeom prst="rect">
            <a:avLst/>
          </a:prstGeom>
          <a:noFill/>
        </p:spPr>
        <p:txBody>
          <a:bodyPr wrap="square" lIns="0" rIns="0" tIns="0" bIns="0">
            <a:spAutoFit/>
          </a:bodyPr>
          <a:lstStyle/>
          <a:p>
            <a:pPr>
              <a:spcBef>
                <a:spcPts val="0"/>
              </a:spcBef>
              <a:spcAft>
                <a:spcPts val="300"/>
              </a:spcAft>
              <a:defRPr sz="1060" b="0">
                <a:solidFill>
                  <a:srgbClr val="3C3C3C"/>
                </a:solidFill>
                <a:latin typeface="Arial"/>
              </a:defRPr>
            </a:pPr>
            <a:r>
              <a:t>ADCs: Sone-Ve (CLDN18.2); puxi-sam (B7-H4); torvu-sam (FRα)</a:t>
            </a:r>
          </a:p>
          <a:p>
            <a:pPr>
              <a:spcBef>
                <a:spcPts val="0"/>
              </a:spcBef>
              <a:spcAft>
                <a:spcPts val="300"/>
              </a:spcAft>
              <a:defRPr sz="1060" b="0">
                <a:solidFill>
                  <a:srgbClr val="3C3C3C"/>
                </a:solidFill>
                <a:latin typeface="Arial"/>
              </a:defRPr>
            </a:pPr>
            <a:r>
              <a:t>RC: zadavotide guraxetan (PSMA)</a:t>
            </a:r>
          </a:p>
          <a:p>
            <a:pPr>
              <a:spcBef>
                <a:spcPts val="0"/>
              </a:spcBef>
              <a:spcAft>
                <a:spcPts val="300"/>
              </a:spcAft>
              <a:defRPr sz="1060" b="0">
                <a:solidFill>
                  <a:srgbClr val="3C3C3C"/>
                </a:solidFill>
                <a:latin typeface="Arial"/>
              </a:defRPr>
            </a:pPr>
            <a:r>
              <a:t>IO: rilvegostomig (PD-1/TIGIT); volrustomig (PD-1/CTLA-4);</a:t>
            </a:r>
          </a:p>
          <a:p>
            <a:pPr>
              <a:spcBef>
                <a:spcPts val="0"/>
              </a:spcBef>
              <a:spcAft>
                <a:spcPts val="300"/>
              </a:spcAft>
              <a:defRPr sz="1060" b="0">
                <a:solidFill>
                  <a:srgbClr val="3C3C3C"/>
                </a:solidFill>
                <a:latin typeface="Arial"/>
              </a:defRPr>
            </a:pPr>
            <a:r>
              <a:t>oleclumab (CD73); monalizumab (NKG2A); Imfinzi/Imjudo (PD-L1/CTLA-4)</a:t>
            </a:r>
          </a:p>
          <a:p>
            <a:pPr>
              <a:spcBef>
                <a:spcPts val="0"/>
              </a:spcBef>
              <a:spcAft>
                <a:spcPts val="300"/>
              </a:spcAft>
              <a:defRPr sz="1060" b="0">
                <a:solidFill>
                  <a:srgbClr val="3C3C3C"/>
                </a:solidFill>
                <a:latin typeface="Arial"/>
              </a:defRPr>
            </a:pPr>
            <a:r>
              <a:t>Other: saruparib (PARP1); camizestrant (ER);</a:t>
            </a:r>
          </a:p>
          <a:p>
            <a:pPr>
              <a:spcBef>
                <a:spcPts val="0"/>
              </a:spcBef>
              <a:spcAft>
                <a:spcPts val="300"/>
              </a:spcAft>
              <a:defRPr sz="1060" b="0">
                <a:solidFill>
                  <a:srgbClr val="3C3C3C"/>
                </a:solidFill>
                <a:latin typeface="Arial"/>
              </a:defRPr>
            </a:pPr>
            <a:r>
              <a:t>surovatamig (CD19/CD3); AZD0120 (CD19/BCMA)</a:t>
            </a:r>
          </a:p>
        </p:txBody>
      </p:sp>
      <p:sp>
        <p:nvSpPr>
          <p:cNvPr id="30" name="Rectangle 29"/>
          <p:cNvSpPr/>
          <p:nvPr/>
        </p:nvSpPr>
        <p:spPr>
          <a:xfrm>
            <a:off x="411480" y="4407408"/>
            <a:ext cx="8202168" cy="10972"/>
          </a:xfrm>
          <a:prstGeom prst="rect">
            <a:avLst/>
          </a:prstGeom>
          <a:solidFill>
            <a:srgbClr val="D8E1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411480" y="4407408"/>
            <a:ext cx="1280160" cy="76809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93776" y="4498848"/>
            <a:ext cx="1115568" cy="649224"/>
          </a:xfrm>
          <a:prstGeom prst="rect">
            <a:avLst/>
          </a:prstGeom>
          <a:noFill/>
        </p:spPr>
        <p:txBody>
          <a:bodyPr wrap="square" lIns="0" rIns="0" tIns="0" bIns="0">
            <a:spAutoFit/>
          </a:bodyPr>
          <a:lstStyle/>
          <a:p>
            <a:pPr>
              <a:spcBef>
                <a:spcPts val="0"/>
              </a:spcBef>
              <a:spcAft>
                <a:spcPts val="300"/>
              </a:spcAft>
              <a:defRPr sz="1060" b="1">
                <a:solidFill>
                  <a:srgbClr val="3C3C3C"/>
                </a:solidFill>
                <a:latin typeface="Arial"/>
              </a:defRPr>
            </a:pPr>
            <a:r>
              <a:t>CVRM | 8</a:t>
            </a:r>
          </a:p>
        </p:txBody>
      </p:sp>
      <p:sp>
        <p:nvSpPr>
          <p:cNvPr id="33" name="Rectangle 32"/>
          <p:cNvSpPr/>
          <p:nvPr/>
        </p:nvSpPr>
        <p:spPr>
          <a:xfrm>
            <a:off x="1691639" y="4407408"/>
            <a:ext cx="6922008" cy="76809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1773936" y="4498848"/>
            <a:ext cx="6757416" cy="649224"/>
          </a:xfrm>
          <a:prstGeom prst="rect">
            <a:avLst/>
          </a:prstGeom>
          <a:noFill/>
        </p:spPr>
        <p:txBody>
          <a:bodyPr wrap="square" lIns="0" rIns="0" tIns="0" bIns="0">
            <a:spAutoFit/>
          </a:bodyPr>
          <a:lstStyle/>
          <a:p>
            <a:pPr>
              <a:spcBef>
                <a:spcPts val="0"/>
              </a:spcBef>
              <a:spcAft>
                <a:spcPts val="300"/>
              </a:spcAft>
              <a:defRPr sz="1060" b="0">
                <a:solidFill>
                  <a:srgbClr val="3C3C3C"/>
                </a:solidFill>
                <a:latin typeface="Arial"/>
              </a:defRPr>
            </a:pPr>
            <a:r>
              <a:t>Balcinrenone/dapa (MR/SGLT2); zibotentan/dapa (ETA/SGLT2)</a:t>
            </a:r>
          </a:p>
          <a:p>
            <a:pPr>
              <a:spcBef>
                <a:spcPts val="0"/>
              </a:spcBef>
              <a:spcAft>
                <a:spcPts val="300"/>
              </a:spcAft>
              <a:defRPr sz="1060" b="0">
                <a:solidFill>
                  <a:srgbClr val="3C3C3C"/>
                </a:solidFill>
                <a:latin typeface="Arial"/>
              </a:defRPr>
            </a:pPr>
            <a:r>
              <a:t>Elecoglipron (GLP-1R); elecoglipron/dapa (GLP-1R/SGLT2)</a:t>
            </a:r>
          </a:p>
          <a:p>
            <a:pPr>
              <a:spcBef>
                <a:spcPts val="0"/>
              </a:spcBef>
              <a:spcAft>
                <a:spcPts val="300"/>
              </a:spcAft>
              <a:defRPr sz="1060" b="0">
                <a:solidFill>
                  <a:srgbClr val="3C3C3C"/>
                </a:solidFill>
                <a:latin typeface="Arial"/>
              </a:defRPr>
            </a:pPr>
            <a:r>
              <a:t>Laroprovstat (PCSK9); baxdrostat (aldosterone synthase); Wainua (TTR ASO)</a:t>
            </a:r>
          </a:p>
        </p:txBody>
      </p:sp>
      <p:sp>
        <p:nvSpPr>
          <p:cNvPr id="35" name="Rectangle 34"/>
          <p:cNvSpPr/>
          <p:nvPr/>
        </p:nvSpPr>
        <p:spPr>
          <a:xfrm>
            <a:off x="411480" y="5175504"/>
            <a:ext cx="8202168" cy="10972"/>
          </a:xfrm>
          <a:prstGeom prst="rect">
            <a:avLst/>
          </a:prstGeom>
          <a:solidFill>
            <a:srgbClr val="D8E1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ectangle 35"/>
          <p:cNvSpPr/>
          <p:nvPr/>
        </p:nvSpPr>
        <p:spPr>
          <a:xfrm>
            <a:off x="411480" y="5175504"/>
            <a:ext cx="1280160" cy="365760"/>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493776" y="5266944"/>
            <a:ext cx="1115568" cy="246888"/>
          </a:xfrm>
          <a:prstGeom prst="rect">
            <a:avLst/>
          </a:prstGeom>
          <a:noFill/>
        </p:spPr>
        <p:txBody>
          <a:bodyPr wrap="square" lIns="0" rIns="0" tIns="0" bIns="0">
            <a:spAutoFit/>
          </a:bodyPr>
          <a:lstStyle/>
          <a:p>
            <a:pPr>
              <a:spcBef>
                <a:spcPts val="0"/>
              </a:spcBef>
              <a:spcAft>
                <a:spcPts val="300"/>
              </a:spcAft>
              <a:defRPr sz="1060" b="1">
                <a:solidFill>
                  <a:srgbClr val="3C3C3C"/>
                </a:solidFill>
                <a:latin typeface="Arial"/>
              </a:defRPr>
            </a:pPr>
            <a:r>
              <a:t>R&amp;I | 4</a:t>
            </a:r>
          </a:p>
        </p:txBody>
      </p:sp>
      <p:sp>
        <p:nvSpPr>
          <p:cNvPr id="38" name="Rectangle 37"/>
          <p:cNvSpPr/>
          <p:nvPr/>
        </p:nvSpPr>
        <p:spPr>
          <a:xfrm>
            <a:off x="1691639" y="5175504"/>
            <a:ext cx="6922008" cy="365760"/>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1773936" y="5266944"/>
            <a:ext cx="6757416" cy="246888"/>
          </a:xfrm>
          <a:prstGeom prst="rect">
            <a:avLst/>
          </a:prstGeom>
          <a:noFill/>
        </p:spPr>
        <p:txBody>
          <a:bodyPr wrap="square" lIns="0" rIns="0" tIns="0" bIns="0">
            <a:spAutoFit/>
          </a:bodyPr>
          <a:lstStyle/>
          <a:p>
            <a:pPr>
              <a:spcBef>
                <a:spcPts val="0"/>
              </a:spcBef>
              <a:spcAft>
                <a:spcPts val="300"/>
              </a:spcAft>
              <a:defRPr sz="1060" b="0">
                <a:solidFill>
                  <a:srgbClr val="3C3C3C"/>
                </a:solidFill>
                <a:latin typeface="Arial"/>
              </a:defRPr>
            </a:pPr>
            <a:r>
              <a:t>Tozorakimab (IL-33); Saphnelo (IFNAR1); Tezspire (TSLP)</a:t>
            </a:r>
          </a:p>
        </p:txBody>
      </p:sp>
      <p:sp>
        <p:nvSpPr>
          <p:cNvPr id="40" name="Rectangle 39"/>
          <p:cNvSpPr/>
          <p:nvPr/>
        </p:nvSpPr>
        <p:spPr>
          <a:xfrm>
            <a:off x="411480" y="5541264"/>
            <a:ext cx="8202168" cy="10972"/>
          </a:xfrm>
          <a:prstGeom prst="rect">
            <a:avLst/>
          </a:prstGeom>
          <a:solidFill>
            <a:srgbClr val="D8E1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ectangle 40"/>
          <p:cNvSpPr/>
          <p:nvPr/>
        </p:nvSpPr>
        <p:spPr>
          <a:xfrm>
            <a:off x="411480" y="5541264"/>
            <a:ext cx="1280160" cy="5943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493776" y="5632704"/>
            <a:ext cx="1115568" cy="475488"/>
          </a:xfrm>
          <a:prstGeom prst="rect">
            <a:avLst/>
          </a:prstGeom>
          <a:noFill/>
        </p:spPr>
        <p:txBody>
          <a:bodyPr wrap="square" lIns="0" rIns="0" tIns="0" bIns="0">
            <a:spAutoFit/>
          </a:bodyPr>
          <a:lstStyle/>
          <a:p>
            <a:pPr>
              <a:spcBef>
                <a:spcPts val="0"/>
              </a:spcBef>
              <a:spcAft>
                <a:spcPts val="300"/>
              </a:spcAft>
              <a:defRPr sz="1060" b="1">
                <a:solidFill>
                  <a:srgbClr val="3C3C3C"/>
                </a:solidFill>
                <a:latin typeface="Arial"/>
              </a:defRPr>
            </a:pPr>
            <a:r>
              <a:t>Rare Disease | 5</a:t>
            </a:r>
          </a:p>
        </p:txBody>
      </p:sp>
      <p:sp>
        <p:nvSpPr>
          <p:cNvPr id="43" name="Rectangle 42"/>
          <p:cNvSpPr/>
          <p:nvPr/>
        </p:nvSpPr>
        <p:spPr>
          <a:xfrm>
            <a:off x="1691639" y="5541264"/>
            <a:ext cx="6922008" cy="5943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1773936" y="5632704"/>
            <a:ext cx="6757416" cy="475488"/>
          </a:xfrm>
          <a:prstGeom prst="rect">
            <a:avLst/>
          </a:prstGeom>
          <a:noFill/>
        </p:spPr>
        <p:txBody>
          <a:bodyPr wrap="square" lIns="0" rIns="0" tIns="0" bIns="0">
            <a:spAutoFit/>
          </a:bodyPr>
          <a:lstStyle/>
          <a:p>
            <a:pPr>
              <a:spcBef>
                <a:spcPts val="0"/>
              </a:spcBef>
              <a:spcAft>
                <a:spcPts val="300"/>
              </a:spcAft>
              <a:defRPr sz="1060" b="0">
                <a:solidFill>
                  <a:srgbClr val="3C3C3C"/>
                </a:solidFill>
                <a:latin typeface="Arial"/>
              </a:defRPr>
            </a:pPr>
            <a:r>
              <a:t>Cliramitug (TTR); eneboparatide (PTH1R); anselamimab (amyloid fibrils);</a:t>
            </a:r>
          </a:p>
          <a:p>
            <a:pPr>
              <a:spcBef>
                <a:spcPts val="0"/>
              </a:spcBef>
              <a:spcAft>
                <a:spcPts val="300"/>
              </a:spcAft>
              <a:defRPr sz="1060" b="0">
                <a:solidFill>
                  <a:srgbClr val="3C3C3C"/>
                </a:solidFill>
                <a:latin typeface="Arial"/>
              </a:defRPr>
            </a:pPr>
            <a:r>
              <a:t>efzimfotase alfa (TNSALP enzyme replacement); gefurulimab (C5)</a:t>
            </a:r>
          </a:p>
        </p:txBody>
      </p:sp>
      <p:sp>
        <p:nvSpPr>
          <p:cNvPr id="45" name="Rectangle 44"/>
          <p:cNvSpPr/>
          <p:nvPr/>
        </p:nvSpPr>
        <p:spPr>
          <a:xfrm>
            <a:off x="411480" y="6135624"/>
            <a:ext cx="8202168" cy="10972"/>
          </a:xfrm>
          <a:prstGeom prst="rect">
            <a:avLst/>
          </a:prstGeom>
          <a:solidFill>
            <a:srgbClr val="D8E1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ectangle 45"/>
          <p:cNvSpPr/>
          <p:nvPr/>
        </p:nvSpPr>
        <p:spPr>
          <a:xfrm>
            <a:off x="8814816" y="2468880"/>
            <a:ext cx="2935224" cy="292608"/>
          </a:xfrm>
          <a:prstGeom prst="rect">
            <a:avLst/>
          </a:prstGeom>
          <a:solidFill>
            <a:srgbClr val="00336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8906256" y="2519172"/>
            <a:ext cx="2752344" cy="210312"/>
          </a:xfrm>
          <a:prstGeom prst="rect">
            <a:avLst/>
          </a:prstGeom>
          <a:noFill/>
        </p:spPr>
        <p:txBody>
          <a:bodyPr wrap="square" lIns="0" rIns="0" tIns="0" bIns="0">
            <a:spAutoFit/>
          </a:bodyPr>
          <a:lstStyle/>
          <a:p>
            <a:pPr>
              <a:spcBef>
                <a:spcPts val="0"/>
              </a:spcBef>
              <a:spcAft>
                <a:spcPts val="300"/>
              </a:spcAft>
              <a:defRPr sz="1200" b="1">
                <a:solidFill>
                  <a:srgbClr val="FFFFFF"/>
                </a:solidFill>
                <a:latin typeface="Arial"/>
              </a:defRPr>
            </a:pPr>
            <a:r>
              <a:t>Registration-stage NMEs</a:t>
            </a:r>
          </a:p>
        </p:txBody>
      </p:sp>
      <p:sp>
        <p:nvSpPr>
          <p:cNvPr id="48" name="Rectangle 47"/>
          <p:cNvSpPr/>
          <p:nvPr/>
        </p:nvSpPr>
        <p:spPr>
          <a:xfrm>
            <a:off x="8814816" y="2880360"/>
            <a:ext cx="2935224" cy="566928"/>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8924544" y="2962656"/>
            <a:ext cx="2715768" cy="201168"/>
          </a:xfrm>
          <a:prstGeom prst="rect">
            <a:avLst/>
          </a:prstGeom>
          <a:noFill/>
        </p:spPr>
        <p:txBody>
          <a:bodyPr wrap="square" lIns="0" rIns="0" tIns="0" bIns="0">
            <a:spAutoFit/>
          </a:bodyPr>
          <a:lstStyle/>
          <a:p>
            <a:pPr>
              <a:spcBef>
                <a:spcPts val="0"/>
              </a:spcBef>
              <a:spcAft>
                <a:spcPts val="300"/>
              </a:spcAft>
              <a:defRPr sz="1200" b="1">
                <a:solidFill>
                  <a:srgbClr val="003366"/>
                </a:solidFill>
                <a:latin typeface="Arial"/>
              </a:defRPr>
            </a:pPr>
            <a:r>
              <a:t>Tozorakimab</a:t>
            </a:r>
          </a:p>
        </p:txBody>
      </p:sp>
      <p:sp>
        <p:nvSpPr>
          <p:cNvPr id="50" name="TextBox 49"/>
          <p:cNvSpPr txBox="1"/>
          <p:nvPr/>
        </p:nvSpPr>
        <p:spPr>
          <a:xfrm>
            <a:off x="8924544" y="3209544"/>
            <a:ext cx="2715768" cy="173736"/>
          </a:xfrm>
          <a:prstGeom prst="rect">
            <a:avLst/>
          </a:prstGeom>
          <a:noFill/>
        </p:spPr>
        <p:txBody>
          <a:bodyPr wrap="square" lIns="0" rIns="0" tIns="0" bIns="0">
            <a:spAutoFit/>
          </a:bodyPr>
          <a:lstStyle/>
          <a:p>
            <a:pPr>
              <a:spcBef>
                <a:spcPts val="0"/>
              </a:spcBef>
              <a:spcAft>
                <a:spcPts val="300"/>
              </a:spcAft>
              <a:defRPr sz="910" b="0">
                <a:solidFill>
                  <a:srgbClr val="3C3C3C"/>
                </a:solidFill>
                <a:latin typeface="Arial"/>
              </a:defRPr>
            </a:pPr>
            <a:r>
              <a:t>IL-33 | COPD</a:t>
            </a:r>
          </a:p>
        </p:txBody>
      </p:sp>
      <p:sp>
        <p:nvSpPr>
          <p:cNvPr id="51" name="Rectangle 50"/>
          <p:cNvSpPr/>
          <p:nvPr/>
        </p:nvSpPr>
        <p:spPr>
          <a:xfrm>
            <a:off x="8814816" y="3529584"/>
            <a:ext cx="2935224" cy="566928"/>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8924544" y="3611879"/>
            <a:ext cx="2715768" cy="201168"/>
          </a:xfrm>
          <a:prstGeom prst="rect">
            <a:avLst/>
          </a:prstGeom>
          <a:noFill/>
        </p:spPr>
        <p:txBody>
          <a:bodyPr wrap="square" lIns="0" rIns="0" tIns="0" bIns="0">
            <a:spAutoFit/>
          </a:bodyPr>
          <a:lstStyle/>
          <a:p>
            <a:pPr>
              <a:spcBef>
                <a:spcPts val="0"/>
              </a:spcBef>
              <a:spcAft>
                <a:spcPts val="300"/>
              </a:spcAft>
              <a:defRPr sz="1200" b="1">
                <a:solidFill>
                  <a:srgbClr val="003366"/>
                </a:solidFill>
                <a:latin typeface="Arial"/>
              </a:defRPr>
            </a:pPr>
            <a:r>
              <a:t>Anselamimab</a:t>
            </a:r>
          </a:p>
        </p:txBody>
      </p:sp>
      <p:sp>
        <p:nvSpPr>
          <p:cNvPr id="53" name="TextBox 52"/>
          <p:cNvSpPr txBox="1"/>
          <p:nvPr/>
        </p:nvSpPr>
        <p:spPr>
          <a:xfrm>
            <a:off x="8924544" y="3858768"/>
            <a:ext cx="2715768" cy="173736"/>
          </a:xfrm>
          <a:prstGeom prst="rect">
            <a:avLst/>
          </a:prstGeom>
          <a:noFill/>
        </p:spPr>
        <p:txBody>
          <a:bodyPr wrap="square" lIns="0" rIns="0" tIns="0" bIns="0">
            <a:spAutoFit/>
          </a:bodyPr>
          <a:lstStyle/>
          <a:p>
            <a:pPr>
              <a:spcBef>
                <a:spcPts val="0"/>
              </a:spcBef>
              <a:spcAft>
                <a:spcPts val="300"/>
              </a:spcAft>
              <a:defRPr sz="910" b="0">
                <a:solidFill>
                  <a:srgbClr val="3C3C3C"/>
                </a:solidFill>
                <a:latin typeface="Arial"/>
              </a:defRPr>
            </a:pPr>
            <a:r>
              <a:t>Amyloid fibrils | AL amyloidosis</a:t>
            </a:r>
          </a:p>
        </p:txBody>
      </p:sp>
      <p:sp>
        <p:nvSpPr>
          <p:cNvPr id="54" name="Rectangle 53"/>
          <p:cNvSpPr/>
          <p:nvPr/>
        </p:nvSpPr>
        <p:spPr>
          <a:xfrm>
            <a:off x="8814816" y="4178808"/>
            <a:ext cx="2935224" cy="566928"/>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8924544" y="4261104"/>
            <a:ext cx="2715768" cy="201168"/>
          </a:xfrm>
          <a:prstGeom prst="rect">
            <a:avLst/>
          </a:prstGeom>
          <a:noFill/>
        </p:spPr>
        <p:txBody>
          <a:bodyPr wrap="square" lIns="0" rIns="0" tIns="0" bIns="0">
            <a:spAutoFit/>
          </a:bodyPr>
          <a:lstStyle/>
          <a:p>
            <a:pPr>
              <a:spcBef>
                <a:spcPts val="0"/>
              </a:spcBef>
              <a:spcAft>
                <a:spcPts val="300"/>
              </a:spcAft>
              <a:defRPr sz="1200" b="1">
                <a:solidFill>
                  <a:srgbClr val="003366"/>
                </a:solidFill>
                <a:latin typeface="Arial"/>
              </a:defRPr>
            </a:pPr>
            <a:r>
              <a:t>Efzimfotase alfa</a:t>
            </a:r>
          </a:p>
        </p:txBody>
      </p:sp>
      <p:sp>
        <p:nvSpPr>
          <p:cNvPr id="56" name="TextBox 55"/>
          <p:cNvSpPr txBox="1"/>
          <p:nvPr/>
        </p:nvSpPr>
        <p:spPr>
          <a:xfrm>
            <a:off x="8924544" y="4507992"/>
            <a:ext cx="2715768" cy="173736"/>
          </a:xfrm>
          <a:prstGeom prst="rect">
            <a:avLst/>
          </a:prstGeom>
          <a:noFill/>
        </p:spPr>
        <p:txBody>
          <a:bodyPr wrap="square" lIns="0" rIns="0" tIns="0" bIns="0">
            <a:spAutoFit/>
          </a:bodyPr>
          <a:lstStyle/>
          <a:p>
            <a:pPr>
              <a:spcBef>
                <a:spcPts val="0"/>
              </a:spcBef>
              <a:spcAft>
                <a:spcPts val="300"/>
              </a:spcAft>
              <a:defRPr sz="910" b="0">
                <a:solidFill>
                  <a:srgbClr val="3C3C3C"/>
                </a:solidFill>
                <a:latin typeface="Arial"/>
              </a:defRPr>
            </a:pPr>
            <a:r>
              <a:t>TNSALP ERT | HPP</a:t>
            </a:r>
          </a:p>
        </p:txBody>
      </p:sp>
      <p:sp>
        <p:nvSpPr>
          <p:cNvPr id="57" name="Rectangle 56"/>
          <p:cNvSpPr/>
          <p:nvPr/>
        </p:nvSpPr>
        <p:spPr>
          <a:xfrm>
            <a:off x="8814816" y="4828031"/>
            <a:ext cx="2935224" cy="566928"/>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8924544" y="4910327"/>
            <a:ext cx="2715768" cy="201168"/>
          </a:xfrm>
          <a:prstGeom prst="rect">
            <a:avLst/>
          </a:prstGeom>
          <a:noFill/>
        </p:spPr>
        <p:txBody>
          <a:bodyPr wrap="square" lIns="0" rIns="0" tIns="0" bIns="0">
            <a:spAutoFit/>
          </a:bodyPr>
          <a:lstStyle/>
          <a:p>
            <a:pPr>
              <a:spcBef>
                <a:spcPts val="0"/>
              </a:spcBef>
              <a:spcAft>
                <a:spcPts val="300"/>
              </a:spcAft>
              <a:defRPr sz="1200" b="1">
                <a:solidFill>
                  <a:srgbClr val="003366"/>
                </a:solidFill>
                <a:latin typeface="Arial"/>
              </a:defRPr>
            </a:pPr>
            <a:r>
              <a:t>Gefurulimab</a:t>
            </a:r>
          </a:p>
        </p:txBody>
      </p:sp>
      <p:sp>
        <p:nvSpPr>
          <p:cNvPr id="59" name="TextBox 58"/>
          <p:cNvSpPr txBox="1"/>
          <p:nvPr/>
        </p:nvSpPr>
        <p:spPr>
          <a:xfrm>
            <a:off x="8924544" y="5157216"/>
            <a:ext cx="2715768" cy="173736"/>
          </a:xfrm>
          <a:prstGeom prst="rect">
            <a:avLst/>
          </a:prstGeom>
          <a:noFill/>
        </p:spPr>
        <p:txBody>
          <a:bodyPr wrap="square" lIns="0" rIns="0" tIns="0" bIns="0">
            <a:spAutoFit/>
          </a:bodyPr>
          <a:lstStyle/>
          <a:p>
            <a:pPr>
              <a:spcBef>
                <a:spcPts val="0"/>
              </a:spcBef>
              <a:spcAft>
                <a:spcPts val="300"/>
              </a:spcAft>
              <a:defRPr sz="910" b="0">
                <a:solidFill>
                  <a:srgbClr val="3C3C3C"/>
                </a:solidFill>
                <a:latin typeface="Arial"/>
              </a:defRPr>
            </a:pPr>
            <a:r>
              <a:t>C5 | gMG</a:t>
            </a:r>
          </a:p>
        </p:txBody>
      </p:sp>
      <p:sp>
        <p:nvSpPr>
          <p:cNvPr id="60" name="TextBox 59"/>
          <p:cNvSpPr txBox="1"/>
          <p:nvPr/>
        </p:nvSpPr>
        <p:spPr>
          <a:xfrm>
            <a:off x="8814816" y="5577840"/>
            <a:ext cx="2935224" cy="530352"/>
          </a:xfrm>
          <a:prstGeom prst="rect">
            <a:avLst/>
          </a:prstGeom>
          <a:noFill/>
        </p:spPr>
        <p:txBody>
          <a:bodyPr wrap="square" lIns="0" rIns="0" tIns="0" bIns="0">
            <a:spAutoFit/>
          </a:bodyPr>
          <a:lstStyle/>
          <a:p>
            <a:pPr>
              <a:spcBef>
                <a:spcPts val="0"/>
              </a:spcBef>
              <a:spcAft>
                <a:spcPts val="300"/>
              </a:spcAft>
              <a:defRPr sz="930" b="0">
                <a:solidFill>
                  <a:srgbClr val="66757C"/>
                </a:solidFill>
                <a:latin typeface="Arial"/>
              </a:defRPr>
            </a:pPr>
            <a:r>
              <a:t>“Under review” is the company’s major-market classification; it does not imply a US filing for every asset.</a:t>
            </a:r>
          </a:p>
        </p:txBody>
      </p:sp>
      <p:sp>
        <p:nvSpPr>
          <p:cNvPr id="61" name="TextBox 60"/>
          <p:cNvSpPr txBox="1"/>
          <p:nvPr/>
        </p:nvSpPr>
        <p:spPr>
          <a:xfrm>
            <a:off x="411480" y="6208776"/>
            <a:ext cx="11338560" cy="128016"/>
          </a:xfrm>
          <a:prstGeom prst="rect">
            <a:avLst/>
          </a:prstGeom>
          <a:noFill/>
        </p:spPr>
        <p:txBody>
          <a:bodyPr wrap="square" lIns="0" rIns="0" tIns="0" bIns="0">
            <a:spAutoFit/>
          </a:bodyPr>
          <a:lstStyle/>
          <a:p>
            <a:pPr>
              <a:spcBef>
                <a:spcPts val="0"/>
              </a:spcBef>
              <a:spcAft>
                <a:spcPts val="300"/>
              </a:spcAft>
              <a:defRPr sz="819" b="0">
                <a:solidFill>
                  <a:srgbClr val="66757C"/>
                </a:solidFill>
                <a:latin typeface="Arial"/>
              </a:defRPr>
            </a:pPr>
            <a:r>
              <a:t>¹ Program entries ≠ independent assets. Dapa = dapagliflozin; abbreviated asset names and indication-level stages are expanded in Excel.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18872"/>
            <a:ext cx="6400800" cy="182880"/>
          </a:xfrm>
          <a:prstGeom prst="rect">
            <a:avLst/>
          </a:prstGeom>
          <a:noFill/>
        </p:spPr>
        <p:txBody>
          <a:bodyPr wrap="square" lIns="0" rIns="0" tIns="0" bIns="0">
            <a:spAutoFit/>
          </a:bodyPr>
          <a:lstStyle/>
          <a:p>
            <a:pPr>
              <a:spcBef>
                <a:spcPts val="0"/>
              </a:spcBef>
              <a:spcAft>
                <a:spcPts val="300"/>
              </a:spcAft>
              <a:defRPr sz="900" b="1">
                <a:solidFill>
                  <a:srgbClr val="66757C"/>
                </a:solidFill>
                <a:latin typeface="Arial"/>
              </a:defRPr>
            </a:pPr>
            <a:r>
              <a:t>TOP 20 MNC PROFILING  /  ASTRAZENECA</a:t>
            </a:r>
          </a:p>
        </p:txBody>
      </p:sp>
      <p:sp>
        <p:nvSpPr>
          <p:cNvPr id="3" name="TextBox 2"/>
          <p:cNvSpPr txBox="1"/>
          <p:nvPr/>
        </p:nvSpPr>
        <p:spPr>
          <a:xfrm>
            <a:off x="7863840" y="118872"/>
            <a:ext cx="3886200" cy="182880"/>
          </a:xfrm>
          <a:prstGeom prst="rect">
            <a:avLst/>
          </a:prstGeom>
          <a:noFill/>
        </p:spPr>
        <p:txBody>
          <a:bodyPr wrap="square" lIns="0" rIns="0" tIns="0" bIns="0">
            <a:spAutoFit/>
          </a:bodyPr>
          <a:lstStyle/>
          <a:p>
            <a:pPr algn="r">
              <a:spcBef>
                <a:spcPts val="0"/>
              </a:spcBef>
              <a:spcAft>
                <a:spcPts val="300"/>
              </a:spcAft>
              <a:defRPr sz="900" b="1">
                <a:solidFill>
                  <a:srgbClr val="66757C"/>
                </a:solidFill>
                <a:latin typeface="Arial"/>
              </a:defRPr>
            </a:pPr>
            <a:r>
              <a:t>22 OCT 2026  |  v2.1</a:t>
            </a:r>
          </a:p>
        </p:txBody>
      </p:sp>
      <p:sp>
        <p:nvSpPr>
          <p:cNvPr id="4" name="TextBox 3"/>
          <p:cNvSpPr txBox="1"/>
          <p:nvPr/>
        </p:nvSpPr>
        <p:spPr>
          <a:xfrm>
            <a:off x="411480" y="448056"/>
            <a:ext cx="11338560" cy="365760"/>
          </a:xfrm>
          <a:prstGeom prst="rect">
            <a:avLst/>
          </a:prstGeom>
          <a:noFill/>
        </p:spPr>
        <p:txBody>
          <a:bodyPr wrap="square" lIns="0" rIns="0" tIns="0" bIns="0">
            <a:spAutoFit/>
          </a:bodyPr>
          <a:lstStyle/>
          <a:p>
            <a:pPr>
              <a:spcBef>
                <a:spcPts val="0"/>
              </a:spcBef>
              <a:spcAft>
                <a:spcPts val="300"/>
              </a:spcAft>
              <a:defRPr sz="2300" b="1">
                <a:solidFill>
                  <a:srgbClr val="227C9D"/>
                </a:solidFill>
                <a:latin typeface="Arial"/>
              </a:defRPr>
            </a:pPr>
            <a:r>
              <a:t>4 - Company-disclosed R&amp;D Investment Priorities</a:t>
            </a:r>
          </a:p>
        </p:txBody>
      </p:sp>
      <p:sp>
        <p:nvSpPr>
          <p:cNvPr id="5" name="TextBox 4"/>
          <p:cNvSpPr txBox="1"/>
          <p:nvPr/>
        </p:nvSpPr>
        <p:spPr>
          <a:xfrm>
            <a:off x="411480" y="941832"/>
            <a:ext cx="11338560" cy="347472"/>
          </a:xfrm>
          <a:prstGeom prst="rect">
            <a:avLst/>
          </a:prstGeom>
          <a:noFill/>
        </p:spPr>
        <p:txBody>
          <a:bodyPr wrap="square" lIns="0" rIns="0" tIns="0" bIns="0">
            <a:spAutoFit/>
          </a:bodyPr>
          <a:lstStyle/>
          <a:p>
            <a:pPr>
              <a:spcBef>
                <a:spcPts val="0"/>
              </a:spcBef>
              <a:spcAft>
                <a:spcPts val="300"/>
              </a:spcAft>
              <a:defRPr sz="1450" b="0">
                <a:solidFill>
                  <a:srgbClr val="3C3C3C"/>
                </a:solidFill>
                <a:latin typeface="Arial"/>
              </a:defRPr>
            </a:pPr>
            <a:r>
              <a:t>The four investment areas presented by AZ at H1 2026, with the supporting programs and milestones</a:t>
            </a:r>
          </a:p>
        </p:txBody>
      </p:sp>
      <p:sp>
        <p:nvSpPr>
          <p:cNvPr id="6" name="Rectangle 5"/>
          <p:cNvSpPr/>
          <p:nvPr/>
        </p:nvSpPr>
        <p:spPr>
          <a:xfrm>
            <a:off x="411480" y="1444752"/>
            <a:ext cx="11338560" cy="10972"/>
          </a:xfrm>
          <a:prstGeom prst="rect">
            <a:avLst/>
          </a:prstGeom>
          <a:solidFill>
            <a:srgbClr val="D8E1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11480" y="6391656"/>
            <a:ext cx="11018520" cy="246888"/>
          </a:xfrm>
          <a:prstGeom prst="rect">
            <a:avLst/>
          </a:prstGeom>
          <a:noFill/>
        </p:spPr>
        <p:txBody>
          <a:bodyPr wrap="square" lIns="0" rIns="0" tIns="0" bIns="0">
            <a:spAutoFit/>
          </a:bodyPr>
          <a:lstStyle/>
          <a:p>
            <a:pPr>
              <a:spcBef>
                <a:spcPts val="0"/>
              </a:spcBef>
              <a:spcAft>
                <a:spcPts val="300"/>
              </a:spcAft>
              <a:defRPr sz="770" b="0">
                <a:solidFill>
                  <a:srgbClr val="66757C"/>
                </a:solidFill>
                <a:latin typeface="Arial"/>
              </a:defRPr>
            </a:pPr>
            <a:r>
              <a:t>[5] H1 &amp; Q2 2026 results presentation, p.24: “Strategically investing to deliver growth beyond 2030”. All four disclosed areas reproduced in this summary.</a:t>
            </a:r>
          </a:p>
        </p:txBody>
      </p:sp>
      <p:sp>
        <p:nvSpPr>
          <p:cNvPr id="8" name="TextBox 7"/>
          <p:cNvSpPr txBox="1"/>
          <p:nvPr/>
        </p:nvSpPr>
        <p:spPr>
          <a:xfrm>
            <a:off x="411480" y="6675120"/>
            <a:ext cx="10698480" cy="100584"/>
          </a:xfrm>
          <a:prstGeom prst="rect">
            <a:avLst/>
          </a:prstGeom>
          <a:noFill/>
        </p:spPr>
        <p:txBody>
          <a:bodyPr wrap="square" lIns="0" rIns="0" tIns="0" bIns="0">
            <a:spAutoFit/>
          </a:bodyPr>
          <a:lstStyle/>
          <a:p>
            <a:pPr>
              <a:spcBef>
                <a:spcPts val="0"/>
              </a:spcBef>
              <a:spcAft>
                <a:spcPts val="300"/>
              </a:spcAft>
              <a:defRPr sz="720" b="0">
                <a:solidFill>
                  <a:srgbClr val="66757C"/>
                </a:solidFill>
                <a:latin typeface="Arial"/>
              </a:defRPr>
            </a:pPr>
            <a:r>
              <a:t>Source URLs, definitions and detailed data are included in the slide notes and the companion Excel workbook.</a:t>
            </a:r>
          </a:p>
        </p:txBody>
      </p:sp>
      <p:sp>
        <p:nvSpPr>
          <p:cNvPr id="9" name="TextBox 8"/>
          <p:cNvSpPr txBox="1"/>
          <p:nvPr/>
        </p:nvSpPr>
        <p:spPr>
          <a:xfrm>
            <a:off x="11247120" y="6620256"/>
            <a:ext cx="274320" cy="164592"/>
          </a:xfrm>
          <a:prstGeom prst="rect">
            <a:avLst/>
          </a:prstGeom>
          <a:noFill/>
        </p:spPr>
        <p:txBody>
          <a:bodyPr wrap="square" lIns="0" rIns="0" tIns="0" bIns="0">
            <a:spAutoFit/>
          </a:bodyPr>
          <a:lstStyle/>
          <a:p>
            <a:pPr algn="r">
              <a:spcBef>
                <a:spcPts val="0"/>
              </a:spcBef>
              <a:spcAft>
                <a:spcPts val="300"/>
              </a:spcAft>
              <a:defRPr sz="900" b="0">
                <a:solidFill>
                  <a:srgbClr val="66757C"/>
                </a:solidFill>
                <a:latin typeface="Arial"/>
              </a:defRPr>
            </a:pPr>
            <a:r>
              <a:t>4</a:t>
            </a:r>
          </a:p>
        </p:txBody>
      </p:sp>
      <p:pic>
        <p:nvPicPr>
          <p:cNvPr id="10" name="Picture 9" descr="cstone-mark.png"/>
          <p:cNvPicPr>
            <a:picLocks noChangeAspect="1"/>
          </p:cNvPicPr>
          <p:nvPr/>
        </p:nvPicPr>
        <p:blipFill>
          <a:blip r:embed="rId2"/>
          <a:stretch>
            <a:fillRect/>
          </a:stretch>
        </p:blipFill>
        <p:spPr>
          <a:xfrm>
            <a:off x="11731752" y="6611112"/>
            <a:ext cx="201168" cy="164592"/>
          </a:xfrm>
          <a:prstGeom prst="rect">
            <a:avLst/>
          </a:prstGeom>
        </p:spPr>
      </p:pic>
      <p:sp>
        <p:nvSpPr>
          <p:cNvPr id="11" name="Rectangle 10"/>
          <p:cNvSpPr/>
          <p:nvPr/>
        </p:nvSpPr>
        <p:spPr>
          <a:xfrm>
            <a:off x="411480" y="1691640"/>
            <a:ext cx="2350008" cy="384048"/>
          </a:xfrm>
          <a:prstGeom prst="rect">
            <a:avLst/>
          </a:prstGeom>
          <a:solidFill>
            <a:srgbClr val="00336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93776" y="1783080"/>
            <a:ext cx="2185415" cy="265176"/>
          </a:xfrm>
          <a:prstGeom prst="rect">
            <a:avLst/>
          </a:prstGeom>
          <a:noFill/>
        </p:spPr>
        <p:txBody>
          <a:bodyPr wrap="square" lIns="0" rIns="0" tIns="0" bIns="0">
            <a:spAutoFit/>
          </a:bodyPr>
          <a:lstStyle/>
          <a:p>
            <a:pPr>
              <a:spcBef>
                <a:spcPts val="0"/>
              </a:spcBef>
              <a:spcAft>
                <a:spcPts val="300"/>
              </a:spcAft>
              <a:defRPr sz="1189" b="1">
                <a:solidFill>
                  <a:srgbClr val="FFFFFF"/>
                </a:solidFill>
                <a:latin typeface="Arial"/>
              </a:defRPr>
            </a:pPr>
            <a:r>
              <a:t>AZ investment area</a:t>
            </a:r>
          </a:p>
        </p:txBody>
      </p:sp>
      <p:sp>
        <p:nvSpPr>
          <p:cNvPr id="13" name="Rectangle 12"/>
          <p:cNvSpPr/>
          <p:nvPr/>
        </p:nvSpPr>
        <p:spPr>
          <a:xfrm>
            <a:off x="2761488" y="1691640"/>
            <a:ext cx="3264408" cy="384048"/>
          </a:xfrm>
          <a:prstGeom prst="rect">
            <a:avLst/>
          </a:prstGeom>
          <a:solidFill>
            <a:srgbClr val="00336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2843784" y="1783080"/>
            <a:ext cx="3099815" cy="265176"/>
          </a:xfrm>
          <a:prstGeom prst="rect">
            <a:avLst/>
          </a:prstGeom>
          <a:noFill/>
        </p:spPr>
        <p:txBody>
          <a:bodyPr wrap="square" lIns="0" rIns="0" tIns="0" bIns="0">
            <a:spAutoFit/>
          </a:bodyPr>
          <a:lstStyle/>
          <a:p>
            <a:pPr>
              <a:spcBef>
                <a:spcPts val="0"/>
              </a:spcBef>
              <a:spcAft>
                <a:spcPts val="300"/>
              </a:spcAft>
              <a:defRPr sz="1189" b="1">
                <a:solidFill>
                  <a:srgbClr val="FFFFFF"/>
                </a:solidFill>
                <a:latin typeface="Arial"/>
              </a:defRPr>
            </a:pPr>
            <a:r>
              <a:t>Programs / technologies</a:t>
            </a:r>
          </a:p>
        </p:txBody>
      </p:sp>
      <p:sp>
        <p:nvSpPr>
          <p:cNvPr id="15" name="Rectangle 14"/>
          <p:cNvSpPr/>
          <p:nvPr/>
        </p:nvSpPr>
        <p:spPr>
          <a:xfrm>
            <a:off x="6025896" y="1691640"/>
            <a:ext cx="5724144" cy="384048"/>
          </a:xfrm>
          <a:prstGeom prst="rect">
            <a:avLst/>
          </a:prstGeom>
          <a:solidFill>
            <a:srgbClr val="00336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108192" y="1783080"/>
            <a:ext cx="5559552" cy="265176"/>
          </a:xfrm>
          <a:prstGeom prst="rect">
            <a:avLst/>
          </a:prstGeom>
          <a:noFill/>
        </p:spPr>
        <p:txBody>
          <a:bodyPr wrap="square" lIns="0" rIns="0" tIns="0" bIns="0">
            <a:spAutoFit/>
          </a:bodyPr>
          <a:lstStyle/>
          <a:p>
            <a:pPr>
              <a:spcBef>
                <a:spcPts val="0"/>
              </a:spcBef>
              <a:spcAft>
                <a:spcPts val="300"/>
              </a:spcAft>
              <a:defRPr sz="1189" b="1">
                <a:solidFill>
                  <a:srgbClr val="FFFFFF"/>
                </a:solidFill>
                <a:latin typeface="Arial"/>
              </a:defRPr>
            </a:pPr>
            <a:r>
              <a:t>Milestones and scale disclosed at H1 2026</a:t>
            </a:r>
          </a:p>
        </p:txBody>
      </p:sp>
      <p:sp>
        <p:nvSpPr>
          <p:cNvPr id="17" name="Rectangle 16"/>
          <p:cNvSpPr/>
          <p:nvPr/>
        </p:nvSpPr>
        <p:spPr>
          <a:xfrm>
            <a:off x="411480" y="2075688"/>
            <a:ext cx="2350008" cy="960120"/>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93776" y="2167128"/>
            <a:ext cx="2185415" cy="841248"/>
          </a:xfrm>
          <a:prstGeom prst="rect">
            <a:avLst/>
          </a:prstGeom>
          <a:noFill/>
        </p:spPr>
        <p:txBody>
          <a:bodyPr wrap="square" lIns="0" rIns="0" tIns="0" bIns="0">
            <a:spAutoFit/>
          </a:bodyPr>
          <a:lstStyle/>
          <a:p>
            <a:pPr>
              <a:spcBef>
                <a:spcPts val="0"/>
              </a:spcBef>
              <a:spcAft>
                <a:spcPts val="300"/>
              </a:spcAft>
              <a:defRPr sz="1220" b="1">
                <a:solidFill>
                  <a:srgbClr val="3C3C3C"/>
                </a:solidFill>
                <a:latin typeface="Arial"/>
              </a:defRPr>
            </a:pPr>
            <a:r>
              <a:t>Weight management</a:t>
            </a:r>
          </a:p>
          <a:p>
            <a:pPr>
              <a:spcBef>
                <a:spcPts val="0"/>
              </a:spcBef>
              <a:spcAft>
                <a:spcPts val="300"/>
              </a:spcAft>
              <a:defRPr sz="1220" b="1">
                <a:solidFill>
                  <a:srgbClr val="3C3C3C"/>
                </a:solidFill>
                <a:latin typeface="Arial"/>
              </a:defRPr>
            </a:pPr>
            <a:r>
              <a:t>&amp; CV risk factors</a:t>
            </a:r>
          </a:p>
        </p:txBody>
      </p:sp>
      <p:sp>
        <p:nvSpPr>
          <p:cNvPr id="19" name="Rectangle 18"/>
          <p:cNvSpPr/>
          <p:nvPr/>
        </p:nvSpPr>
        <p:spPr>
          <a:xfrm>
            <a:off x="2761488" y="2075688"/>
            <a:ext cx="3264408" cy="960120"/>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2843784" y="2167128"/>
            <a:ext cx="3099815" cy="841248"/>
          </a:xfrm>
          <a:prstGeom prst="rect">
            <a:avLst/>
          </a:prstGeom>
          <a:noFill/>
        </p:spPr>
        <p:txBody>
          <a:bodyPr wrap="square" lIns="0" rIns="0" tIns="0" bIns="0">
            <a:spAutoFit/>
          </a:bodyPr>
          <a:lstStyle/>
          <a:p>
            <a:pPr>
              <a:spcBef>
                <a:spcPts val="0"/>
              </a:spcBef>
              <a:spcAft>
                <a:spcPts val="300"/>
              </a:spcAft>
              <a:defRPr sz="1220" b="0">
                <a:solidFill>
                  <a:srgbClr val="3C3C3C"/>
                </a:solidFill>
                <a:latin typeface="Arial"/>
              </a:defRPr>
            </a:pPr>
            <a:r>
              <a:t>Elecoglipron; laroprovstat</a:t>
            </a:r>
          </a:p>
          <a:p>
            <a:pPr>
              <a:spcBef>
                <a:spcPts val="0"/>
              </a:spcBef>
              <a:spcAft>
                <a:spcPts val="300"/>
              </a:spcAft>
              <a:defRPr sz="1220" b="0">
                <a:solidFill>
                  <a:srgbClr val="3C3C3C"/>
                </a:solidFill>
                <a:latin typeface="Arial"/>
              </a:defRPr>
            </a:pPr>
            <a:r>
              <a:t>AZD6234; AZD6234 / AZD9550</a:t>
            </a:r>
          </a:p>
        </p:txBody>
      </p:sp>
      <p:sp>
        <p:nvSpPr>
          <p:cNvPr id="21" name="Rectangle 20"/>
          <p:cNvSpPr/>
          <p:nvPr/>
        </p:nvSpPr>
        <p:spPr>
          <a:xfrm>
            <a:off x="6025896" y="2075688"/>
            <a:ext cx="5724144" cy="960120"/>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108192" y="2167128"/>
            <a:ext cx="5559552" cy="841248"/>
          </a:xfrm>
          <a:prstGeom prst="rect">
            <a:avLst/>
          </a:prstGeom>
          <a:noFill/>
        </p:spPr>
        <p:txBody>
          <a:bodyPr wrap="square" lIns="0" rIns="0" tIns="0" bIns="0">
            <a:spAutoFit/>
          </a:bodyPr>
          <a:lstStyle/>
          <a:p>
            <a:pPr>
              <a:spcBef>
                <a:spcPts val="0"/>
              </a:spcBef>
              <a:spcAft>
                <a:spcPts val="300"/>
              </a:spcAft>
              <a:defRPr sz="1220" b="0">
                <a:solidFill>
                  <a:srgbClr val="3C3C3C"/>
                </a:solidFill>
                <a:latin typeface="Arial"/>
              </a:defRPr>
            </a:pPr>
            <a:r>
              <a:t>6 Phase III trials initiated for elecoglipron</a:t>
            </a:r>
          </a:p>
          <a:p>
            <a:pPr>
              <a:spcBef>
                <a:spcPts val="0"/>
              </a:spcBef>
              <a:spcAft>
                <a:spcPts val="300"/>
              </a:spcAft>
              <a:defRPr sz="1220" b="0">
                <a:solidFill>
                  <a:srgbClr val="3C3C3C"/>
                </a:solidFill>
                <a:latin typeface="Arial"/>
              </a:defRPr>
            </a:pPr>
            <a:r>
              <a:t>Laroprovstat: first Phase III data expected H1 2027</a:t>
            </a:r>
          </a:p>
          <a:p>
            <a:pPr>
              <a:spcBef>
                <a:spcPts val="0"/>
              </a:spcBef>
              <a:spcAft>
                <a:spcPts val="300"/>
              </a:spcAft>
              <a:defRPr sz="1220" b="0">
                <a:solidFill>
                  <a:srgbClr val="3C3C3C"/>
                </a:solidFill>
                <a:latin typeface="Arial"/>
              </a:defRPr>
            </a:pPr>
            <a:r>
              <a:t>AZD6234 Phase II readout; combination Phase IIb expected H2 2026</a:t>
            </a:r>
          </a:p>
        </p:txBody>
      </p:sp>
      <p:sp>
        <p:nvSpPr>
          <p:cNvPr id="23" name="Rectangle 22"/>
          <p:cNvSpPr/>
          <p:nvPr/>
        </p:nvSpPr>
        <p:spPr>
          <a:xfrm>
            <a:off x="411480" y="3035808"/>
            <a:ext cx="11338559" cy="10972"/>
          </a:xfrm>
          <a:prstGeom prst="rect">
            <a:avLst/>
          </a:prstGeom>
          <a:solidFill>
            <a:srgbClr val="D8E1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411480" y="3035808"/>
            <a:ext cx="2350008" cy="96012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93776" y="3127248"/>
            <a:ext cx="2185415" cy="841248"/>
          </a:xfrm>
          <a:prstGeom prst="rect">
            <a:avLst/>
          </a:prstGeom>
          <a:noFill/>
        </p:spPr>
        <p:txBody>
          <a:bodyPr wrap="square" lIns="0" rIns="0" tIns="0" bIns="0">
            <a:spAutoFit/>
          </a:bodyPr>
          <a:lstStyle/>
          <a:p>
            <a:pPr>
              <a:spcBef>
                <a:spcPts val="0"/>
              </a:spcBef>
              <a:spcAft>
                <a:spcPts val="300"/>
              </a:spcAft>
              <a:defRPr sz="1220" b="1">
                <a:solidFill>
                  <a:srgbClr val="3C3C3C"/>
                </a:solidFill>
                <a:latin typeface="Arial"/>
              </a:defRPr>
            </a:pPr>
            <a:r>
              <a:t>ADCs &amp;</a:t>
            </a:r>
          </a:p>
          <a:p>
            <a:pPr>
              <a:spcBef>
                <a:spcPts val="0"/>
              </a:spcBef>
              <a:spcAft>
                <a:spcPts val="300"/>
              </a:spcAft>
              <a:defRPr sz="1220" b="1">
                <a:solidFill>
                  <a:srgbClr val="3C3C3C"/>
                </a:solidFill>
                <a:latin typeface="Arial"/>
              </a:defRPr>
            </a:pPr>
            <a:r>
              <a:t>radioconjugates</a:t>
            </a:r>
          </a:p>
        </p:txBody>
      </p:sp>
      <p:sp>
        <p:nvSpPr>
          <p:cNvPr id="26" name="Rectangle 25"/>
          <p:cNvSpPr/>
          <p:nvPr/>
        </p:nvSpPr>
        <p:spPr>
          <a:xfrm>
            <a:off x="2761488" y="3035808"/>
            <a:ext cx="3264408" cy="96012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2843784" y="3127248"/>
            <a:ext cx="3099815" cy="841248"/>
          </a:xfrm>
          <a:prstGeom prst="rect">
            <a:avLst/>
          </a:prstGeom>
          <a:noFill/>
        </p:spPr>
        <p:txBody>
          <a:bodyPr wrap="square" lIns="0" rIns="0" tIns="0" bIns="0">
            <a:spAutoFit/>
          </a:bodyPr>
          <a:lstStyle/>
          <a:p>
            <a:pPr>
              <a:spcBef>
                <a:spcPts val="0"/>
              </a:spcBef>
              <a:spcAft>
                <a:spcPts val="300"/>
              </a:spcAft>
              <a:defRPr sz="1220" b="0">
                <a:solidFill>
                  <a:srgbClr val="3C3C3C"/>
                </a:solidFill>
                <a:latin typeface="Arial"/>
              </a:defRPr>
            </a:pPr>
            <a:r>
              <a:t>Sone-Ve; puxi-sam</a:t>
            </a:r>
          </a:p>
          <a:p>
            <a:pPr>
              <a:spcBef>
                <a:spcPts val="0"/>
              </a:spcBef>
              <a:spcAft>
                <a:spcPts val="300"/>
              </a:spcAft>
              <a:defRPr sz="1220" b="0">
                <a:solidFill>
                  <a:srgbClr val="3C3C3C"/>
                </a:solidFill>
                <a:latin typeface="Arial"/>
              </a:defRPr>
            </a:pPr>
            <a:r>
              <a:t>Torvu-sam; zadavotide guraxetan</a:t>
            </a:r>
          </a:p>
        </p:txBody>
      </p:sp>
      <p:sp>
        <p:nvSpPr>
          <p:cNvPr id="28" name="Rectangle 27"/>
          <p:cNvSpPr/>
          <p:nvPr/>
        </p:nvSpPr>
        <p:spPr>
          <a:xfrm>
            <a:off x="6025896" y="3035808"/>
            <a:ext cx="5724144" cy="96012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108192" y="3127248"/>
            <a:ext cx="5559552" cy="841248"/>
          </a:xfrm>
          <a:prstGeom prst="rect">
            <a:avLst/>
          </a:prstGeom>
          <a:noFill/>
        </p:spPr>
        <p:txBody>
          <a:bodyPr wrap="square" lIns="0" rIns="0" tIns="0" bIns="0">
            <a:spAutoFit/>
          </a:bodyPr>
          <a:lstStyle/>
          <a:p>
            <a:pPr>
              <a:spcBef>
                <a:spcPts val="0"/>
              </a:spcBef>
              <a:spcAft>
                <a:spcPts val="300"/>
              </a:spcAft>
              <a:defRPr sz="1220" b="0">
                <a:solidFill>
                  <a:srgbClr val="3C3C3C"/>
                </a:solidFill>
                <a:latin typeface="Arial"/>
              </a:defRPr>
            </a:pPr>
            <a:r>
              <a:t>Sone-Ve: first positive Phase III data (CLARITY-Gastric01)</a:t>
            </a:r>
          </a:p>
          <a:p>
            <a:pPr>
              <a:spcBef>
                <a:spcPts val="0"/>
              </a:spcBef>
              <a:spcAft>
                <a:spcPts val="300"/>
              </a:spcAft>
              <a:defRPr sz="1220" b="0">
                <a:solidFill>
                  <a:srgbClr val="3C3C3C"/>
                </a:solidFill>
                <a:latin typeface="Arial"/>
              </a:defRPr>
            </a:pPr>
            <a:r>
              <a:t>Puxi-sam: first Phase III data expected H2 2027</a:t>
            </a:r>
          </a:p>
          <a:p>
            <a:pPr>
              <a:spcBef>
                <a:spcPts val="0"/>
              </a:spcBef>
              <a:spcAft>
                <a:spcPts val="300"/>
              </a:spcAft>
              <a:defRPr sz="1220" b="0">
                <a:solidFill>
                  <a:srgbClr val="3C3C3C"/>
                </a:solidFill>
                <a:latin typeface="Arial"/>
              </a:defRPr>
            </a:pPr>
            <a:r>
              <a:t>Torvu-sam / zada-gu: first patients dosed in Phase III, Q2 2026</a:t>
            </a:r>
          </a:p>
        </p:txBody>
      </p:sp>
      <p:sp>
        <p:nvSpPr>
          <p:cNvPr id="30" name="Rectangle 29"/>
          <p:cNvSpPr/>
          <p:nvPr/>
        </p:nvSpPr>
        <p:spPr>
          <a:xfrm>
            <a:off x="411480" y="3995928"/>
            <a:ext cx="11338559" cy="10972"/>
          </a:xfrm>
          <a:prstGeom prst="rect">
            <a:avLst/>
          </a:prstGeom>
          <a:solidFill>
            <a:srgbClr val="D8E1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411480" y="3995928"/>
            <a:ext cx="2350008" cy="960120"/>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93776" y="4087368"/>
            <a:ext cx="2185415" cy="841248"/>
          </a:xfrm>
          <a:prstGeom prst="rect">
            <a:avLst/>
          </a:prstGeom>
          <a:noFill/>
        </p:spPr>
        <p:txBody>
          <a:bodyPr wrap="square" lIns="0" rIns="0" tIns="0" bIns="0">
            <a:spAutoFit/>
          </a:bodyPr>
          <a:lstStyle/>
          <a:p>
            <a:pPr>
              <a:spcBef>
                <a:spcPts val="0"/>
              </a:spcBef>
              <a:spcAft>
                <a:spcPts val="300"/>
              </a:spcAft>
              <a:defRPr sz="1220" b="1">
                <a:solidFill>
                  <a:srgbClr val="3C3C3C"/>
                </a:solidFill>
                <a:latin typeface="Arial"/>
              </a:defRPr>
            </a:pPr>
            <a:r>
              <a:t>Next-generation</a:t>
            </a:r>
          </a:p>
          <a:p>
            <a:pPr>
              <a:spcBef>
                <a:spcPts val="0"/>
              </a:spcBef>
              <a:spcAft>
                <a:spcPts val="300"/>
              </a:spcAft>
              <a:defRPr sz="1220" b="1">
                <a:solidFill>
                  <a:srgbClr val="3C3C3C"/>
                </a:solidFill>
                <a:latin typeface="Arial"/>
              </a:defRPr>
            </a:pPr>
            <a:r>
              <a:t>IO bispecifics</a:t>
            </a:r>
          </a:p>
        </p:txBody>
      </p:sp>
      <p:sp>
        <p:nvSpPr>
          <p:cNvPr id="33" name="Rectangle 32"/>
          <p:cNvSpPr/>
          <p:nvPr/>
        </p:nvSpPr>
        <p:spPr>
          <a:xfrm>
            <a:off x="2761488" y="3995928"/>
            <a:ext cx="3264408" cy="960120"/>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2843784" y="4087368"/>
            <a:ext cx="3099815" cy="841248"/>
          </a:xfrm>
          <a:prstGeom prst="rect">
            <a:avLst/>
          </a:prstGeom>
          <a:noFill/>
        </p:spPr>
        <p:txBody>
          <a:bodyPr wrap="square" lIns="0" rIns="0" tIns="0" bIns="0">
            <a:spAutoFit/>
          </a:bodyPr>
          <a:lstStyle/>
          <a:p>
            <a:pPr>
              <a:spcBef>
                <a:spcPts val="0"/>
              </a:spcBef>
              <a:spcAft>
                <a:spcPts val="300"/>
              </a:spcAft>
              <a:defRPr sz="1220" b="0">
                <a:solidFill>
                  <a:srgbClr val="3C3C3C"/>
                </a:solidFill>
                <a:latin typeface="Arial"/>
              </a:defRPr>
            </a:pPr>
            <a:r>
              <a:t>Rilvegostomig</a:t>
            </a:r>
          </a:p>
          <a:p>
            <a:pPr>
              <a:spcBef>
                <a:spcPts val="0"/>
              </a:spcBef>
              <a:spcAft>
                <a:spcPts val="300"/>
              </a:spcAft>
              <a:defRPr sz="1220" b="0">
                <a:solidFill>
                  <a:srgbClr val="3C3C3C"/>
                </a:solidFill>
                <a:latin typeface="Arial"/>
              </a:defRPr>
            </a:pPr>
            <a:r>
              <a:t>Volrustomig and broader IO portfolio</a:t>
            </a:r>
          </a:p>
        </p:txBody>
      </p:sp>
      <p:sp>
        <p:nvSpPr>
          <p:cNvPr id="35" name="Rectangle 34"/>
          <p:cNvSpPr/>
          <p:nvPr/>
        </p:nvSpPr>
        <p:spPr>
          <a:xfrm>
            <a:off x="6025896" y="3995928"/>
            <a:ext cx="5724144" cy="960120"/>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6108192" y="4087368"/>
            <a:ext cx="5559552" cy="841248"/>
          </a:xfrm>
          <a:prstGeom prst="rect">
            <a:avLst/>
          </a:prstGeom>
          <a:noFill/>
        </p:spPr>
        <p:txBody>
          <a:bodyPr wrap="square" lIns="0" rIns="0" tIns="0" bIns="0">
            <a:spAutoFit/>
          </a:bodyPr>
          <a:lstStyle/>
          <a:p>
            <a:pPr>
              <a:spcBef>
                <a:spcPts val="0"/>
              </a:spcBef>
              <a:spcAft>
                <a:spcPts val="300"/>
              </a:spcAft>
              <a:defRPr sz="1220" b="0">
                <a:solidFill>
                  <a:srgbClr val="3C3C3C"/>
                </a:solidFill>
                <a:latin typeface="Arial"/>
              </a:defRPr>
            </a:pPr>
            <a:r>
              <a:t>16 Phase III trials across 9 tumor types</a:t>
            </a:r>
          </a:p>
          <a:p>
            <a:pPr>
              <a:spcBef>
                <a:spcPts val="0"/>
              </a:spcBef>
              <a:spcAft>
                <a:spcPts val="300"/>
              </a:spcAft>
              <a:defRPr sz="1220" b="0">
                <a:solidFill>
                  <a:srgbClr val="3C3C3C"/>
                </a:solidFill>
                <a:latin typeface="Arial"/>
              </a:defRPr>
            </a:pPr>
            <a:r>
              <a:t>5 Phase III trials in combination with ADCs</a:t>
            </a:r>
          </a:p>
          <a:p>
            <a:pPr>
              <a:spcBef>
                <a:spcPts val="0"/>
              </a:spcBef>
              <a:spcAft>
                <a:spcPts val="300"/>
              </a:spcAft>
              <a:defRPr sz="1220" b="0">
                <a:solidFill>
                  <a:srgbClr val="3C3C3C"/>
                </a:solidFill>
                <a:latin typeface="Arial"/>
              </a:defRPr>
            </a:pPr>
            <a:r>
              <a:t>Subcutaneous rilvegostomig development ongoing</a:t>
            </a:r>
          </a:p>
        </p:txBody>
      </p:sp>
      <p:sp>
        <p:nvSpPr>
          <p:cNvPr id="37" name="Rectangle 36"/>
          <p:cNvSpPr/>
          <p:nvPr/>
        </p:nvSpPr>
        <p:spPr>
          <a:xfrm>
            <a:off x="411480" y="4956048"/>
            <a:ext cx="11338559" cy="10972"/>
          </a:xfrm>
          <a:prstGeom prst="rect">
            <a:avLst/>
          </a:prstGeom>
          <a:solidFill>
            <a:srgbClr val="D8E1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ectangle 37"/>
          <p:cNvSpPr/>
          <p:nvPr/>
        </p:nvSpPr>
        <p:spPr>
          <a:xfrm>
            <a:off x="411480" y="4956048"/>
            <a:ext cx="2350008" cy="96012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493776" y="5047488"/>
            <a:ext cx="2185415" cy="841248"/>
          </a:xfrm>
          <a:prstGeom prst="rect">
            <a:avLst/>
          </a:prstGeom>
          <a:noFill/>
        </p:spPr>
        <p:txBody>
          <a:bodyPr wrap="square" lIns="0" rIns="0" tIns="0" bIns="0">
            <a:spAutoFit/>
          </a:bodyPr>
          <a:lstStyle/>
          <a:p>
            <a:pPr>
              <a:spcBef>
                <a:spcPts val="0"/>
              </a:spcBef>
              <a:spcAft>
                <a:spcPts val="300"/>
              </a:spcAft>
              <a:defRPr sz="1220" b="1">
                <a:solidFill>
                  <a:srgbClr val="3C3C3C"/>
                </a:solidFill>
                <a:latin typeface="Arial"/>
              </a:defRPr>
            </a:pPr>
            <a:r>
              <a:t>Cell therapy &amp;</a:t>
            </a:r>
          </a:p>
          <a:p>
            <a:pPr>
              <a:spcBef>
                <a:spcPts val="0"/>
              </a:spcBef>
              <a:spcAft>
                <a:spcPts val="300"/>
              </a:spcAft>
              <a:defRPr sz="1220" b="1">
                <a:solidFill>
                  <a:srgbClr val="3C3C3C"/>
                </a:solidFill>
                <a:latin typeface="Arial"/>
              </a:defRPr>
            </a:pPr>
            <a:r>
              <a:t>T-cell engagers</a:t>
            </a:r>
          </a:p>
        </p:txBody>
      </p:sp>
      <p:sp>
        <p:nvSpPr>
          <p:cNvPr id="40" name="Rectangle 39"/>
          <p:cNvSpPr/>
          <p:nvPr/>
        </p:nvSpPr>
        <p:spPr>
          <a:xfrm>
            <a:off x="2761488" y="4956048"/>
            <a:ext cx="3264408" cy="96012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2843784" y="5047488"/>
            <a:ext cx="3099815" cy="841248"/>
          </a:xfrm>
          <a:prstGeom prst="rect">
            <a:avLst/>
          </a:prstGeom>
          <a:noFill/>
        </p:spPr>
        <p:txBody>
          <a:bodyPr wrap="square" lIns="0" rIns="0" tIns="0" bIns="0">
            <a:spAutoFit/>
          </a:bodyPr>
          <a:lstStyle/>
          <a:p>
            <a:pPr>
              <a:spcBef>
                <a:spcPts val="0"/>
              </a:spcBef>
              <a:spcAft>
                <a:spcPts val="300"/>
              </a:spcAft>
              <a:defRPr sz="1220" b="0">
                <a:solidFill>
                  <a:srgbClr val="3C3C3C"/>
                </a:solidFill>
                <a:latin typeface="Arial"/>
              </a:defRPr>
            </a:pPr>
            <a:r>
              <a:t>AZD0120 | CD19/BCMA CAR-T</a:t>
            </a:r>
          </a:p>
          <a:p>
            <a:pPr>
              <a:spcBef>
                <a:spcPts val="0"/>
              </a:spcBef>
              <a:spcAft>
                <a:spcPts val="300"/>
              </a:spcAft>
              <a:defRPr sz="1220" b="0">
                <a:solidFill>
                  <a:srgbClr val="3C3C3C"/>
                </a:solidFill>
                <a:latin typeface="Arial"/>
              </a:defRPr>
            </a:pPr>
            <a:r>
              <a:t>Surovatamig | CD19/CD3 TCE</a:t>
            </a:r>
          </a:p>
        </p:txBody>
      </p:sp>
      <p:sp>
        <p:nvSpPr>
          <p:cNvPr id="42" name="Rectangle 41"/>
          <p:cNvSpPr/>
          <p:nvPr/>
        </p:nvSpPr>
        <p:spPr>
          <a:xfrm>
            <a:off x="6025896" y="4956048"/>
            <a:ext cx="5724144" cy="96012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6108192" y="5047488"/>
            <a:ext cx="5559552" cy="841248"/>
          </a:xfrm>
          <a:prstGeom prst="rect">
            <a:avLst/>
          </a:prstGeom>
          <a:noFill/>
        </p:spPr>
        <p:txBody>
          <a:bodyPr wrap="square" lIns="0" rIns="0" tIns="0" bIns="0">
            <a:spAutoFit/>
          </a:bodyPr>
          <a:lstStyle/>
          <a:p>
            <a:pPr>
              <a:spcBef>
                <a:spcPts val="0"/>
              </a:spcBef>
              <a:spcAft>
                <a:spcPts val="300"/>
              </a:spcAft>
              <a:defRPr sz="1220" b="0">
                <a:solidFill>
                  <a:srgbClr val="3C3C3C"/>
                </a:solidFill>
                <a:latin typeface="Arial"/>
              </a:defRPr>
            </a:pPr>
            <a:r>
              <a:t>AZD0120: Phase III in r/r multiple myeloma; expansion planned</a:t>
            </a:r>
          </a:p>
          <a:p>
            <a:pPr>
              <a:spcBef>
                <a:spcPts val="0"/>
              </a:spcBef>
              <a:spcAft>
                <a:spcPts val="300"/>
              </a:spcAft>
              <a:defRPr sz="1220" b="0">
                <a:solidFill>
                  <a:srgbClr val="3C3C3C"/>
                </a:solidFill>
                <a:latin typeface="Arial"/>
              </a:defRPr>
            </a:pPr>
            <a:r>
              <a:t>Surovatamig: ongoing Phase III in follicular lymphoma / DLBCL</a:t>
            </a:r>
          </a:p>
          <a:p>
            <a:pPr>
              <a:spcBef>
                <a:spcPts val="0"/>
              </a:spcBef>
              <a:spcAft>
                <a:spcPts val="300"/>
              </a:spcAft>
              <a:defRPr sz="1220" b="0">
                <a:solidFill>
                  <a:srgbClr val="3C3C3C"/>
                </a:solidFill>
                <a:latin typeface="Arial"/>
              </a:defRPr>
            </a:pPr>
            <a:r>
              <a:t>Both assets also in early autoimmune-disease studies</a:t>
            </a:r>
          </a:p>
        </p:txBody>
      </p:sp>
      <p:sp>
        <p:nvSpPr>
          <p:cNvPr id="44" name="Rectangle 43"/>
          <p:cNvSpPr/>
          <p:nvPr/>
        </p:nvSpPr>
        <p:spPr>
          <a:xfrm>
            <a:off x="411480" y="5916168"/>
            <a:ext cx="11338559" cy="10972"/>
          </a:xfrm>
          <a:prstGeom prst="rect">
            <a:avLst/>
          </a:prstGeom>
          <a:solidFill>
            <a:srgbClr val="D8E1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Rectangle 44"/>
          <p:cNvSpPr/>
          <p:nvPr/>
        </p:nvSpPr>
        <p:spPr>
          <a:xfrm>
            <a:off x="411480" y="5870448"/>
            <a:ext cx="11338560" cy="310896"/>
          </a:xfrm>
          <a:prstGeom prst="rect">
            <a:avLst/>
          </a:prstGeom>
          <a:solidFill>
            <a:srgbClr val="F3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521207" y="5952744"/>
            <a:ext cx="11119104" cy="164592"/>
          </a:xfrm>
          <a:prstGeom prst="rect">
            <a:avLst/>
          </a:prstGeom>
          <a:noFill/>
        </p:spPr>
        <p:txBody>
          <a:bodyPr wrap="square" lIns="0" rIns="0" tIns="0" bIns="0">
            <a:spAutoFit/>
          </a:bodyPr>
          <a:lstStyle/>
          <a:p>
            <a:pPr>
              <a:spcBef>
                <a:spcPts val="0"/>
              </a:spcBef>
              <a:spcAft>
                <a:spcPts val="300"/>
              </a:spcAft>
              <a:defRPr sz="919" b="0">
                <a:solidFill>
                  <a:srgbClr val="66757C"/>
                </a:solidFill>
                <a:latin typeface="Arial"/>
              </a:defRPr>
            </a:pPr>
            <a:r>
              <a:t>Snapshot: 27 July 2026. Expected readout windows reflect the company’s outlook at that time; trial counts are not independent-asset counts.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18872"/>
            <a:ext cx="6400800" cy="182880"/>
          </a:xfrm>
          <a:prstGeom prst="rect">
            <a:avLst/>
          </a:prstGeom>
          <a:noFill/>
        </p:spPr>
        <p:txBody>
          <a:bodyPr wrap="square" lIns="0" rIns="0" tIns="0" bIns="0">
            <a:spAutoFit/>
          </a:bodyPr>
          <a:lstStyle/>
          <a:p>
            <a:pPr>
              <a:spcBef>
                <a:spcPts val="0"/>
              </a:spcBef>
              <a:spcAft>
                <a:spcPts val="300"/>
              </a:spcAft>
              <a:defRPr sz="900" b="1">
                <a:solidFill>
                  <a:srgbClr val="66757C"/>
                </a:solidFill>
                <a:latin typeface="Arial"/>
              </a:defRPr>
            </a:pPr>
            <a:r>
              <a:t>TOP 20 MNC PROFILING  /  ASTRAZENECA</a:t>
            </a:r>
          </a:p>
        </p:txBody>
      </p:sp>
      <p:sp>
        <p:nvSpPr>
          <p:cNvPr id="3" name="TextBox 2"/>
          <p:cNvSpPr txBox="1"/>
          <p:nvPr/>
        </p:nvSpPr>
        <p:spPr>
          <a:xfrm>
            <a:off x="7863840" y="118872"/>
            <a:ext cx="3886200" cy="182880"/>
          </a:xfrm>
          <a:prstGeom prst="rect">
            <a:avLst/>
          </a:prstGeom>
          <a:noFill/>
        </p:spPr>
        <p:txBody>
          <a:bodyPr wrap="square" lIns="0" rIns="0" tIns="0" bIns="0">
            <a:spAutoFit/>
          </a:bodyPr>
          <a:lstStyle/>
          <a:p>
            <a:pPr algn="r">
              <a:spcBef>
                <a:spcPts val="0"/>
              </a:spcBef>
              <a:spcAft>
                <a:spcPts val="300"/>
              </a:spcAft>
              <a:defRPr sz="900" b="1">
                <a:solidFill>
                  <a:srgbClr val="66757C"/>
                </a:solidFill>
                <a:latin typeface="Arial"/>
              </a:defRPr>
            </a:pPr>
            <a:r>
              <a:t>22 OCT 2026  |  v2.1</a:t>
            </a:r>
          </a:p>
        </p:txBody>
      </p:sp>
      <p:sp>
        <p:nvSpPr>
          <p:cNvPr id="4" name="TextBox 3"/>
          <p:cNvSpPr txBox="1"/>
          <p:nvPr/>
        </p:nvSpPr>
        <p:spPr>
          <a:xfrm>
            <a:off x="411480" y="448056"/>
            <a:ext cx="11338560" cy="365760"/>
          </a:xfrm>
          <a:prstGeom prst="rect">
            <a:avLst/>
          </a:prstGeom>
          <a:noFill/>
        </p:spPr>
        <p:txBody>
          <a:bodyPr wrap="square" lIns="0" rIns="0" tIns="0" bIns="0">
            <a:spAutoFit/>
          </a:bodyPr>
          <a:lstStyle/>
          <a:p>
            <a:pPr>
              <a:spcBef>
                <a:spcPts val="0"/>
              </a:spcBef>
              <a:spcAft>
                <a:spcPts val="300"/>
              </a:spcAft>
              <a:defRPr sz="2300" b="1">
                <a:solidFill>
                  <a:srgbClr val="227C9D"/>
                </a:solidFill>
                <a:latin typeface="Arial"/>
              </a:defRPr>
            </a:pPr>
            <a:r>
              <a:t>5 - BD Transactions | 2022–2026 YTD</a:t>
            </a:r>
          </a:p>
        </p:txBody>
      </p:sp>
      <p:sp>
        <p:nvSpPr>
          <p:cNvPr id="5" name="TextBox 4"/>
          <p:cNvSpPr txBox="1"/>
          <p:nvPr/>
        </p:nvSpPr>
        <p:spPr>
          <a:xfrm>
            <a:off x="411480" y="941832"/>
            <a:ext cx="11338560" cy="347472"/>
          </a:xfrm>
          <a:prstGeom prst="rect">
            <a:avLst/>
          </a:prstGeom>
          <a:noFill/>
        </p:spPr>
        <p:txBody>
          <a:bodyPr wrap="square" lIns="0" rIns="0" tIns="0" bIns="0">
            <a:spAutoFit/>
          </a:bodyPr>
          <a:lstStyle/>
          <a:p>
            <a:pPr>
              <a:spcBef>
                <a:spcPts val="0"/>
              </a:spcBef>
              <a:spcAft>
                <a:spcPts val="300"/>
              </a:spcAft>
              <a:defRPr sz="1450" b="0">
                <a:solidFill>
                  <a:srgbClr val="3C3C3C"/>
                </a:solidFill>
                <a:latin typeface="Arial"/>
              </a:defRPr>
            </a:pPr>
            <a:r>
              <a:t>Deal type, therapeutic area, modality and target profile of a 30-record public-disclosure register</a:t>
            </a:r>
          </a:p>
        </p:txBody>
      </p:sp>
      <p:sp>
        <p:nvSpPr>
          <p:cNvPr id="6" name="Rectangle 5"/>
          <p:cNvSpPr/>
          <p:nvPr/>
        </p:nvSpPr>
        <p:spPr>
          <a:xfrm>
            <a:off x="411480" y="1444752"/>
            <a:ext cx="11338560" cy="10972"/>
          </a:xfrm>
          <a:prstGeom prst="rect">
            <a:avLst/>
          </a:prstGeom>
          <a:solidFill>
            <a:srgbClr val="D8E1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11480" y="6391656"/>
            <a:ext cx="11018520" cy="246888"/>
          </a:xfrm>
          <a:prstGeom prst="rect">
            <a:avLst/>
          </a:prstGeom>
          <a:noFill/>
        </p:spPr>
        <p:txBody>
          <a:bodyPr wrap="square" lIns="0" rIns="0" tIns="0" bIns="0">
            <a:spAutoFit/>
          </a:bodyPr>
          <a:lstStyle/>
          <a:p>
            <a:pPr>
              <a:spcBef>
                <a:spcPts val="0"/>
              </a:spcBef>
              <a:spcAft>
                <a:spcPts val="300"/>
              </a:spcAft>
              <a:defRPr sz="770" b="0">
                <a:solidFill>
                  <a:srgbClr val="66757C"/>
                </a:solidFill>
                <a:latin typeface="Arial"/>
              </a:defRPr>
            </a:pPr>
            <a:r>
              <a:t>Source-linked register: official AZ annual reports / announcements. The cohort is not all company BD activity. 2026 YTD ends 21 Oct; not comparable to a full year.</a:t>
            </a:r>
          </a:p>
        </p:txBody>
      </p:sp>
      <p:sp>
        <p:nvSpPr>
          <p:cNvPr id="8" name="TextBox 7"/>
          <p:cNvSpPr txBox="1"/>
          <p:nvPr/>
        </p:nvSpPr>
        <p:spPr>
          <a:xfrm>
            <a:off x="411480" y="6675120"/>
            <a:ext cx="10698480" cy="100584"/>
          </a:xfrm>
          <a:prstGeom prst="rect">
            <a:avLst/>
          </a:prstGeom>
          <a:noFill/>
        </p:spPr>
        <p:txBody>
          <a:bodyPr wrap="square" lIns="0" rIns="0" tIns="0" bIns="0">
            <a:spAutoFit/>
          </a:bodyPr>
          <a:lstStyle/>
          <a:p>
            <a:pPr>
              <a:spcBef>
                <a:spcPts val="0"/>
              </a:spcBef>
              <a:spcAft>
                <a:spcPts val="300"/>
              </a:spcAft>
              <a:defRPr sz="720" b="0">
                <a:solidFill>
                  <a:srgbClr val="66757C"/>
                </a:solidFill>
                <a:latin typeface="Arial"/>
              </a:defRPr>
            </a:pPr>
            <a:r>
              <a:t>Source URLs, definitions and detailed data are included in the slide notes and the companion Excel workbook.</a:t>
            </a:r>
          </a:p>
        </p:txBody>
      </p:sp>
      <p:sp>
        <p:nvSpPr>
          <p:cNvPr id="9" name="TextBox 8"/>
          <p:cNvSpPr txBox="1"/>
          <p:nvPr/>
        </p:nvSpPr>
        <p:spPr>
          <a:xfrm>
            <a:off x="11247120" y="6620256"/>
            <a:ext cx="274320" cy="164592"/>
          </a:xfrm>
          <a:prstGeom prst="rect">
            <a:avLst/>
          </a:prstGeom>
          <a:noFill/>
        </p:spPr>
        <p:txBody>
          <a:bodyPr wrap="square" lIns="0" rIns="0" tIns="0" bIns="0">
            <a:spAutoFit/>
          </a:bodyPr>
          <a:lstStyle/>
          <a:p>
            <a:pPr algn="r">
              <a:spcBef>
                <a:spcPts val="0"/>
              </a:spcBef>
              <a:spcAft>
                <a:spcPts val="300"/>
              </a:spcAft>
              <a:defRPr sz="900" b="0">
                <a:solidFill>
                  <a:srgbClr val="66757C"/>
                </a:solidFill>
                <a:latin typeface="Arial"/>
              </a:defRPr>
            </a:pPr>
            <a:r>
              <a:t>5</a:t>
            </a:r>
          </a:p>
        </p:txBody>
      </p:sp>
      <p:pic>
        <p:nvPicPr>
          <p:cNvPr id="10" name="Picture 9" descr="cstone-mark.png"/>
          <p:cNvPicPr>
            <a:picLocks noChangeAspect="1"/>
          </p:cNvPicPr>
          <p:nvPr/>
        </p:nvPicPr>
        <p:blipFill>
          <a:blip r:embed="rId2"/>
          <a:stretch>
            <a:fillRect/>
          </a:stretch>
        </p:blipFill>
        <p:spPr>
          <a:xfrm>
            <a:off x="11731752" y="6611112"/>
            <a:ext cx="201168" cy="164592"/>
          </a:xfrm>
          <a:prstGeom prst="rect">
            <a:avLst/>
          </a:prstGeom>
        </p:spPr>
      </p:pic>
      <p:sp>
        <p:nvSpPr>
          <p:cNvPr id="11" name="Rectangle 10"/>
          <p:cNvSpPr/>
          <p:nvPr/>
        </p:nvSpPr>
        <p:spPr>
          <a:xfrm>
            <a:off x="411480" y="1673352"/>
            <a:ext cx="5522976" cy="292608"/>
          </a:xfrm>
          <a:prstGeom prst="rect">
            <a:avLst/>
          </a:prstGeom>
          <a:solidFill>
            <a:srgbClr val="00336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502920" y="1723644"/>
            <a:ext cx="5340096" cy="210312"/>
          </a:xfrm>
          <a:prstGeom prst="rect">
            <a:avLst/>
          </a:prstGeom>
          <a:noFill/>
        </p:spPr>
        <p:txBody>
          <a:bodyPr wrap="square" lIns="0" rIns="0" tIns="0" bIns="0">
            <a:spAutoFit/>
          </a:bodyPr>
          <a:lstStyle/>
          <a:p>
            <a:pPr>
              <a:spcBef>
                <a:spcPts val="0"/>
              </a:spcBef>
              <a:spcAft>
                <a:spcPts val="300"/>
              </a:spcAft>
              <a:defRPr sz="1200" b="1">
                <a:solidFill>
                  <a:srgbClr val="FFFFFF"/>
                </a:solidFill>
                <a:latin typeface="Arial"/>
              </a:defRPr>
            </a:pPr>
            <a:r>
              <a:t>Deal type | number of register records by year</a:t>
            </a:r>
          </a:p>
        </p:txBody>
      </p:sp>
      <p:sp>
        <p:nvSpPr>
          <p:cNvPr id="13" name="Rectangle 12"/>
          <p:cNvSpPr/>
          <p:nvPr/>
        </p:nvSpPr>
        <p:spPr>
          <a:xfrm>
            <a:off x="6217920" y="1673352"/>
            <a:ext cx="5532120" cy="292608"/>
          </a:xfrm>
          <a:prstGeom prst="rect">
            <a:avLst/>
          </a:prstGeom>
          <a:solidFill>
            <a:srgbClr val="00336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309359" y="1723644"/>
            <a:ext cx="5349240" cy="210312"/>
          </a:xfrm>
          <a:prstGeom prst="rect">
            <a:avLst/>
          </a:prstGeom>
          <a:noFill/>
        </p:spPr>
        <p:txBody>
          <a:bodyPr wrap="square" lIns="0" rIns="0" tIns="0" bIns="0">
            <a:spAutoFit/>
          </a:bodyPr>
          <a:lstStyle/>
          <a:p>
            <a:pPr>
              <a:spcBef>
                <a:spcPts val="0"/>
              </a:spcBef>
              <a:spcAft>
                <a:spcPts val="300"/>
              </a:spcAft>
              <a:defRPr sz="1200" b="1">
                <a:solidFill>
                  <a:srgbClr val="FFFFFF"/>
                </a:solidFill>
                <a:latin typeface="Arial"/>
              </a:defRPr>
            </a:pPr>
            <a:r>
              <a:t>Therapeutic area | primary TA per transaction</a:t>
            </a:r>
          </a:p>
        </p:txBody>
      </p:sp>
      <p:graphicFrame>
        <p:nvGraphicFramePr>
          <p:cNvPr id="15" name="Chart 14"/>
          <p:cNvGraphicFramePr>
            <a:graphicFrameLocks noGrp="1"/>
          </p:cNvGraphicFramePr>
          <p:nvPr/>
        </p:nvGraphicFramePr>
        <p:xfrm>
          <a:off x="411480" y="2084831"/>
          <a:ext cx="5522976" cy="1645920"/>
        </p:xfrm>
        <a:graphic>
          <a:graphicData uri="http://schemas.openxmlformats.org/drawingml/2006/chart">
            <c:chart xmlns:c="http://schemas.openxmlformats.org/drawingml/2006/chart" r:id="rId4"/>
          </a:graphicData>
        </a:graphic>
      </p:graphicFrame>
      <p:sp>
        <p:nvSpPr>
          <p:cNvPr id="16" name="Rectangle 15"/>
          <p:cNvSpPr/>
          <p:nvPr/>
        </p:nvSpPr>
        <p:spPr>
          <a:xfrm>
            <a:off x="411480" y="3794760"/>
            <a:ext cx="82296" cy="82296"/>
          </a:xfrm>
          <a:prstGeom prst="rect">
            <a:avLst/>
          </a:prstGeom>
          <a:solidFill>
            <a:srgbClr val="00336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48640" y="3767328"/>
            <a:ext cx="1700784" cy="155448"/>
          </a:xfrm>
          <a:prstGeom prst="rect">
            <a:avLst/>
          </a:prstGeom>
          <a:noFill/>
        </p:spPr>
        <p:txBody>
          <a:bodyPr wrap="square" lIns="0" rIns="0" tIns="0" bIns="0">
            <a:spAutoFit/>
          </a:bodyPr>
          <a:lstStyle/>
          <a:p>
            <a:pPr>
              <a:spcBef>
                <a:spcPts val="0"/>
              </a:spcBef>
              <a:spcAft>
                <a:spcPts val="300"/>
              </a:spcAft>
              <a:defRPr sz="850" b="0">
                <a:solidFill>
                  <a:srgbClr val="66757C"/>
                </a:solidFill>
                <a:latin typeface="Arial"/>
              </a:defRPr>
            </a:pPr>
            <a:r>
              <a:t>Acquisition</a:t>
            </a:r>
          </a:p>
        </p:txBody>
      </p:sp>
      <p:sp>
        <p:nvSpPr>
          <p:cNvPr id="18" name="Rectangle 17"/>
          <p:cNvSpPr/>
          <p:nvPr/>
        </p:nvSpPr>
        <p:spPr>
          <a:xfrm>
            <a:off x="2286000" y="3794760"/>
            <a:ext cx="82296" cy="82296"/>
          </a:xfrm>
          <a:prstGeom prst="rect">
            <a:avLst/>
          </a:prstGeom>
          <a:solidFill>
            <a:srgbClr val="227C9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2423160" y="3767328"/>
            <a:ext cx="1700784" cy="155448"/>
          </a:xfrm>
          <a:prstGeom prst="rect">
            <a:avLst/>
          </a:prstGeom>
          <a:noFill/>
        </p:spPr>
        <p:txBody>
          <a:bodyPr wrap="square" lIns="0" rIns="0" tIns="0" bIns="0">
            <a:spAutoFit/>
          </a:bodyPr>
          <a:lstStyle/>
          <a:p>
            <a:pPr>
              <a:spcBef>
                <a:spcPts val="0"/>
              </a:spcBef>
              <a:spcAft>
                <a:spcPts val="300"/>
              </a:spcAft>
              <a:defRPr sz="850" b="0">
                <a:solidFill>
                  <a:srgbClr val="66757C"/>
                </a:solidFill>
                <a:latin typeface="Arial"/>
              </a:defRPr>
            </a:pPr>
            <a:r>
              <a:t>License / rights</a:t>
            </a:r>
          </a:p>
        </p:txBody>
      </p:sp>
      <p:sp>
        <p:nvSpPr>
          <p:cNvPr id="20" name="Rectangle 19"/>
          <p:cNvSpPr/>
          <p:nvPr/>
        </p:nvSpPr>
        <p:spPr>
          <a:xfrm>
            <a:off x="4160520" y="3794760"/>
            <a:ext cx="82296" cy="82296"/>
          </a:xfrm>
          <a:prstGeom prst="rect">
            <a:avLst/>
          </a:prstGeom>
          <a:solidFill>
            <a:srgbClr val="527F7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4297680" y="3767328"/>
            <a:ext cx="1700784" cy="155448"/>
          </a:xfrm>
          <a:prstGeom prst="rect">
            <a:avLst/>
          </a:prstGeom>
          <a:noFill/>
        </p:spPr>
        <p:txBody>
          <a:bodyPr wrap="square" lIns="0" rIns="0" tIns="0" bIns="0">
            <a:spAutoFit/>
          </a:bodyPr>
          <a:lstStyle/>
          <a:p>
            <a:pPr>
              <a:spcBef>
                <a:spcPts val="0"/>
              </a:spcBef>
              <a:spcAft>
                <a:spcPts val="300"/>
              </a:spcAft>
              <a:defRPr sz="850" b="0">
                <a:solidFill>
                  <a:srgbClr val="66757C"/>
                </a:solidFill>
                <a:latin typeface="Arial"/>
              </a:defRPr>
            </a:pPr>
            <a:r>
              <a:t>Research / option</a:t>
            </a:r>
          </a:p>
        </p:txBody>
      </p:sp>
      <p:sp>
        <p:nvSpPr>
          <p:cNvPr id="22" name="Rectangle 21"/>
          <p:cNvSpPr/>
          <p:nvPr/>
        </p:nvSpPr>
        <p:spPr>
          <a:xfrm>
            <a:off x="411480" y="3977640"/>
            <a:ext cx="82296" cy="82296"/>
          </a:xfrm>
          <a:prstGeom prst="rect">
            <a:avLst/>
          </a:prstGeom>
          <a:solidFill>
            <a:srgbClr val="8BA4A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548640" y="3950208"/>
            <a:ext cx="1700784" cy="155448"/>
          </a:xfrm>
          <a:prstGeom prst="rect">
            <a:avLst/>
          </a:prstGeom>
          <a:noFill/>
        </p:spPr>
        <p:txBody>
          <a:bodyPr wrap="square" lIns="0" rIns="0" tIns="0" bIns="0">
            <a:spAutoFit/>
          </a:bodyPr>
          <a:lstStyle/>
          <a:p>
            <a:pPr>
              <a:spcBef>
                <a:spcPts val="0"/>
              </a:spcBef>
              <a:spcAft>
                <a:spcPts val="300"/>
              </a:spcAft>
              <a:defRPr sz="850" b="0">
                <a:solidFill>
                  <a:srgbClr val="66757C"/>
                </a:solidFill>
                <a:latin typeface="Arial"/>
              </a:defRPr>
            </a:pPr>
            <a:r>
              <a:t>Equity + clinical</a:t>
            </a:r>
          </a:p>
        </p:txBody>
      </p:sp>
      <p:sp>
        <p:nvSpPr>
          <p:cNvPr id="24" name="Rectangle 23"/>
          <p:cNvSpPr/>
          <p:nvPr/>
        </p:nvSpPr>
        <p:spPr>
          <a:xfrm>
            <a:off x="2286000" y="3977640"/>
            <a:ext cx="82296" cy="82296"/>
          </a:xfrm>
          <a:prstGeom prst="rect">
            <a:avLst/>
          </a:prstGeom>
          <a:solidFill>
            <a:srgbClr val="C9CCC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2423160" y="3950208"/>
            <a:ext cx="1700784" cy="155448"/>
          </a:xfrm>
          <a:prstGeom prst="rect">
            <a:avLst/>
          </a:prstGeom>
          <a:noFill/>
        </p:spPr>
        <p:txBody>
          <a:bodyPr wrap="square" lIns="0" rIns="0" tIns="0" bIns="0">
            <a:spAutoFit/>
          </a:bodyPr>
          <a:lstStyle/>
          <a:p>
            <a:pPr>
              <a:spcBef>
                <a:spcPts val="0"/>
              </a:spcBef>
              <a:spcAft>
                <a:spcPts val="300"/>
              </a:spcAft>
              <a:defRPr sz="850" b="0">
                <a:solidFill>
                  <a:srgbClr val="66757C"/>
                </a:solidFill>
                <a:latin typeface="Arial"/>
              </a:defRPr>
            </a:pPr>
            <a:r>
              <a:t>JV / clinical</a:t>
            </a:r>
          </a:p>
        </p:txBody>
      </p:sp>
      <p:sp>
        <p:nvSpPr>
          <p:cNvPr id="26" name="TextBox 25"/>
          <p:cNvSpPr txBox="1"/>
          <p:nvPr/>
        </p:nvSpPr>
        <p:spPr>
          <a:xfrm>
            <a:off x="6217920" y="2084831"/>
            <a:ext cx="2331720" cy="192024"/>
          </a:xfrm>
          <a:prstGeom prst="rect">
            <a:avLst/>
          </a:prstGeom>
          <a:noFill/>
        </p:spPr>
        <p:txBody>
          <a:bodyPr wrap="square" lIns="0" rIns="0" tIns="0" bIns="0">
            <a:spAutoFit/>
          </a:bodyPr>
          <a:lstStyle/>
          <a:p>
            <a:pPr>
              <a:spcBef>
                <a:spcPts val="0"/>
              </a:spcBef>
              <a:spcAft>
                <a:spcPts val="300"/>
              </a:spcAft>
              <a:defRPr sz="1100" b="0">
                <a:solidFill>
                  <a:srgbClr val="3C3C3C"/>
                </a:solidFill>
                <a:latin typeface="Arial"/>
              </a:defRPr>
            </a:pPr>
            <a:r>
              <a:t>Oncology</a:t>
            </a:r>
          </a:p>
        </p:txBody>
      </p:sp>
      <p:sp>
        <p:nvSpPr>
          <p:cNvPr id="27" name="Rectangle 26"/>
          <p:cNvSpPr/>
          <p:nvPr/>
        </p:nvSpPr>
        <p:spPr>
          <a:xfrm>
            <a:off x="8622792" y="2116836"/>
            <a:ext cx="2651760" cy="137160"/>
          </a:xfrm>
          <a:prstGeom prst="rect">
            <a:avLst/>
          </a:prstGeom>
          <a:solidFill>
            <a:srgbClr val="00336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1411712" y="2084831"/>
            <a:ext cx="301752" cy="192024"/>
          </a:xfrm>
          <a:prstGeom prst="rect">
            <a:avLst/>
          </a:prstGeom>
          <a:noFill/>
        </p:spPr>
        <p:txBody>
          <a:bodyPr wrap="square" lIns="0" rIns="0" tIns="0" bIns="0">
            <a:spAutoFit/>
          </a:bodyPr>
          <a:lstStyle/>
          <a:p>
            <a:pPr algn="r">
              <a:spcBef>
                <a:spcPts val="0"/>
              </a:spcBef>
              <a:spcAft>
                <a:spcPts val="300"/>
              </a:spcAft>
              <a:defRPr sz="1100" b="1">
                <a:solidFill>
                  <a:srgbClr val="003366"/>
                </a:solidFill>
                <a:latin typeface="Arial"/>
              </a:defRPr>
            </a:pPr>
            <a:r>
              <a:t>11</a:t>
            </a:r>
          </a:p>
        </p:txBody>
      </p:sp>
      <p:sp>
        <p:nvSpPr>
          <p:cNvPr id="29" name="TextBox 28"/>
          <p:cNvSpPr txBox="1"/>
          <p:nvPr/>
        </p:nvSpPr>
        <p:spPr>
          <a:xfrm>
            <a:off x="6217920" y="2368296"/>
            <a:ext cx="2331720" cy="192024"/>
          </a:xfrm>
          <a:prstGeom prst="rect">
            <a:avLst/>
          </a:prstGeom>
          <a:noFill/>
        </p:spPr>
        <p:txBody>
          <a:bodyPr wrap="square" lIns="0" rIns="0" tIns="0" bIns="0">
            <a:spAutoFit/>
          </a:bodyPr>
          <a:lstStyle/>
          <a:p>
            <a:pPr>
              <a:spcBef>
                <a:spcPts val="0"/>
              </a:spcBef>
              <a:spcAft>
                <a:spcPts val="300"/>
              </a:spcAft>
              <a:defRPr sz="1100" b="0">
                <a:solidFill>
                  <a:srgbClr val="3C3C3C"/>
                </a:solidFill>
                <a:latin typeface="Arial"/>
              </a:defRPr>
            </a:pPr>
            <a:r>
              <a:t>CVRM</a:t>
            </a:r>
          </a:p>
        </p:txBody>
      </p:sp>
      <p:sp>
        <p:nvSpPr>
          <p:cNvPr id="30" name="Rectangle 29"/>
          <p:cNvSpPr/>
          <p:nvPr/>
        </p:nvSpPr>
        <p:spPr>
          <a:xfrm>
            <a:off x="8622792" y="2400300"/>
            <a:ext cx="1687483" cy="137160"/>
          </a:xfrm>
          <a:prstGeom prst="rect">
            <a:avLst/>
          </a:prstGeom>
          <a:solidFill>
            <a:srgbClr val="227C9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11411712" y="2368296"/>
            <a:ext cx="301752" cy="192024"/>
          </a:xfrm>
          <a:prstGeom prst="rect">
            <a:avLst/>
          </a:prstGeom>
          <a:noFill/>
        </p:spPr>
        <p:txBody>
          <a:bodyPr wrap="square" lIns="0" rIns="0" tIns="0" bIns="0">
            <a:spAutoFit/>
          </a:bodyPr>
          <a:lstStyle/>
          <a:p>
            <a:pPr algn="r">
              <a:spcBef>
                <a:spcPts val="0"/>
              </a:spcBef>
              <a:spcAft>
                <a:spcPts val="300"/>
              </a:spcAft>
              <a:defRPr sz="1100" b="1">
                <a:solidFill>
                  <a:srgbClr val="003366"/>
                </a:solidFill>
                <a:latin typeface="Arial"/>
              </a:defRPr>
            </a:pPr>
            <a:r>
              <a:t>7</a:t>
            </a:r>
          </a:p>
        </p:txBody>
      </p:sp>
      <p:sp>
        <p:nvSpPr>
          <p:cNvPr id="32" name="TextBox 31"/>
          <p:cNvSpPr txBox="1"/>
          <p:nvPr/>
        </p:nvSpPr>
        <p:spPr>
          <a:xfrm>
            <a:off x="6217920" y="2651760"/>
            <a:ext cx="2331720" cy="192024"/>
          </a:xfrm>
          <a:prstGeom prst="rect">
            <a:avLst/>
          </a:prstGeom>
          <a:noFill/>
        </p:spPr>
        <p:txBody>
          <a:bodyPr wrap="square" lIns="0" rIns="0" tIns="0" bIns="0">
            <a:spAutoFit/>
          </a:bodyPr>
          <a:lstStyle/>
          <a:p>
            <a:pPr>
              <a:spcBef>
                <a:spcPts val="0"/>
              </a:spcBef>
              <a:spcAft>
                <a:spcPts val="300"/>
              </a:spcAft>
              <a:defRPr sz="1100" b="0">
                <a:solidFill>
                  <a:srgbClr val="3C3C3C"/>
                </a:solidFill>
                <a:latin typeface="Arial"/>
              </a:defRPr>
            </a:pPr>
            <a:r>
              <a:t>Rare Disease</a:t>
            </a:r>
          </a:p>
        </p:txBody>
      </p:sp>
      <p:sp>
        <p:nvSpPr>
          <p:cNvPr id="33" name="Rectangle 32"/>
          <p:cNvSpPr/>
          <p:nvPr/>
        </p:nvSpPr>
        <p:spPr>
          <a:xfrm>
            <a:off x="8622792" y="2683764"/>
            <a:ext cx="964276" cy="137160"/>
          </a:xfrm>
          <a:prstGeom prst="rect">
            <a:avLst/>
          </a:prstGeom>
          <a:solidFill>
            <a:srgbClr val="227C9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11411712" y="2651760"/>
            <a:ext cx="301752" cy="192024"/>
          </a:xfrm>
          <a:prstGeom prst="rect">
            <a:avLst/>
          </a:prstGeom>
          <a:noFill/>
        </p:spPr>
        <p:txBody>
          <a:bodyPr wrap="square" lIns="0" rIns="0" tIns="0" bIns="0">
            <a:spAutoFit/>
          </a:bodyPr>
          <a:lstStyle/>
          <a:p>
            <a:pPr algn="r">
              <a:spcBef>
                <a:spcPts val="0"/>
              </a:spcBef>
              <a:spcAft>
                <a:spcPts val="300"/>
              </a:spcAft>
              <a:defRPr sz="1100" b="1">
                <a:solidFill>
                  <a:srgbClr val="003366"/>
                </a:solidFill>
                <a:latin typeface="Arial"/>
              </a:defRPr>
            </a:pPr>
            <a:r>
              <a:t>4</a:t>
            </a:r>
          </a:p>
        </p:txBody>
      </p:sp>
      <p:sp>
        <p:nvSpPr>
          <p:cNvPr id="35" name="TextBox 34"/>
          <p:cNvSpPr txBox="1"/>
          <p:nvPr/>
        </p:nvSpPr>
        <p:spPr>
          <a:xfrm>
            <a:off x="6217920" y="2935224"/>
            <a:ext cx="2331720" cy="192024"/>
          </a:xfrm>
          <a:prstGeom prst="rect">
            <a:avLst/>
          </a:prstGeom>
          <a:noFill/>
        </p:spPr>
        <p:txBody>
          <a:bodyPr wrap="square" lIns="0" rIns="0" tIns="0" bIns="0">
            <a:spAutoFit/>
          </a:bodyPr>
          <a:lstStyle/>
          <a:p>
            <a:pPr>
              <a:spcBef>
                <a:spcPts val="0"/>
              </a:spcBef>
              <a:spcAft>
                <a:spcPts val="300"/>
              </a:spcAft>
              <a:defRPr sz="1100" b="0">
                <a:solidFill>
                  <a:srgbClr val="3C3C3C"/>
                </a:solidFill>
                <a:latin typeface="Arial"/>
              </a:defRPr>
            </a:pPr>
            <a:r>
              <a:t>Infectious Disease</a:t>
            </a:r>
          </a:p>
        </p:txBody>
      </p:sp>
      <p:sp>
        <p:nvSpPr>
          <p:cNvPr id="36" name="Rectangle 35"/>
          <p:cNvSpPr/>
          <p:nvPr/>
        </p:nvSpPr>
        <p:spPr>
          <a:xfrm>
            <a:off x="8622792" y="2967228"/>
            <a:ext cx="723207" cy="137160"/>
          </a:xfrm>
          <a:prstGeom prst="rect">
            <a:avLst/>
          </a:prstGeom>
          <a:solidFill>
            <a:srgbClr val="227C9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11411712" y="2935224"/>
            <a:ext cx="301752" cy="192024"/>
          </a:xfrm>
          <a:prstGeom prst="rect">
            <a:avLst/>
          </a:prstGeom>
          <a:noFill/>
        </p:spPr>
        <p:txBody>
          <a:bodyPr wrap="square" lIns="0" rIns="0" tIns="0" bIns="0">
            <a:spAutoFit/>
          </a:bodyPr>
          <a:lstStyle/>
          <a:p>
            <a:pPr algn="r">
              <a:spcBef>
                <a:spcPts val="0"/>
              </a:spcBef>
              <a:spcAft>
                <a:spcPts val="300"/>
              </a:spcAft>
              <a:defRPr sz="1100" b="1">
                <a:solidFill>
                  <a:srgbClr val="003366"/>
                </a:solidFill>
                <a:latin typeface="Arial"/>
              </a:defRPr>
            </a:pPr>
            <a:r>
              <a:t>3</a:t>
            </a:r>
          </a:p>
        </p:txBody>
      </p:sp>
      <p:sp>
        <p:nvSpPr>
          <p:cNvPr id="38" name="TextBox 37"/>
          <p:cNvSpPr txBox="1"/>
          <p:nvPr/>
        </p:nvSpPr>
        <p:spPr>
          <a:xfrm>
            <a:off x="6217920" y="3218687"/>
            <a:ext cx="2331720" cy="192024"/>
          </a:xfrm>
          <a:prstGeom prst="rect">
            <a:avLst/>
          </a:prstGeom>
          <a:noFill/>
        </p:spPr>
        <p:txBody>
          <a:bodyPr wrap="square" lIns="0" rIns="0" tIns="0" bIns="0">
            <a:spAutoFit/>
          </a:bodyPr>
          <a:lstStyle/>
          <a:p>
            <a:pPr>
              <a:spcBef>
                <a:spcPts val="0"/>
              </a:spcBef>
              <a:spcAft>
                <a:spcPts val="300"/>
              </a:spcAft>
              <a:defRPr sz="1100" b="0">
                <a:solidFill>
                  <a:srgbClr val="3C3C3C"/>
                </a:solidFill>
                <a:latin typeface="Arial"/>
              </a:defRPr>
            </a:pPr>
            <a:r>
              <a:t>I&amp;I</a:t>
            </a:r>
          </a:p>
        </p:txBody>
      </p:sp>
      <p:sp>
        <p:nvSpPr>
          <p:cNvPr id="39" name="Rectangle 38"/>
          <p:cNvSpPr/>
          <p:nvPr/>
        </p:nvSpPr>
        <p:spPr>
          <a:xfrm>
            <a:off x="8622792" y="3250691"/>
            <a:ext cx="241069" cy="137160"/>
          </a:xfrm>
          <a:prstGeom prst="rect">
            <a:avLst/>
          </a:prstGeom>
          <a:solidFill>
            <a:srgbClr val="227C9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11411712" y="3218687"/>
            <a:ext cx="301752" cy="192024"/>
          </a:xfrm>
          <a:prstGeom prst="rect">
            <a:avLst/>
          </a:prstGeom>
          <a:noFill/>
        </p:spPr>
        <p:txBody>
          <a:bodyPr wrap="square" lIns="0" rIns="0" tIns="0" bIns="0">
            <a:spAutoFit/>
          </a:bodyPr>
          <a:lstStyle/>
          <a:p>
            <a:pPr algn="r">
              <a:spcBef>
                <a:spcPts val="0"/>
              </a:spcBef>
              <a:spcAft>
                <a:spcPts val="300"/>
              </a:spcAft>
              <a:defRPr sz="1100" b="1">
                <a:solidFill>
                  <a:srgbClr val="003366"/>
                </a:solidFill>
                <a:latin typeface="Arial"/>
              </a:defRPr>
            </a:pPr>
            <a:r>
              <a:t>1</a:t>
            </a:r>
          </a:p>
        </p:txBody>
      </p:sp>
      <p:sp>
        <p:nvSpPr>
          <p:cNvPr id="41" name="TextBox 40"/>
          <p:cNvSpPr txBox="1"/>
          <p:nvPr/>
        </p:nvSpPr>
        <p:spPr>
          <a:xfrm>
            <a:off x="6217920" y="3502152"/>
            <a:ext cx="2331720" cy="192024"/>
          </a:xfrm>
          <a:prstGeom prst="rect">
            <a:avLst/>
          </a:prstGeom>
          <a:noFill/>
        </p:spPr>
        <p:txBody>
          <a:bodyPr wrap="square" lIns="0" rIns="0" tIns="0" bIns="0">
            <a:spAutoFit/>
          </a:bodyPr>
          <a:lstStyle/>
          <a:p>
            <a:pPr>
              <a:spcBef>
                <a:spcPts val="0"/>
              </a:spcBef>
              <a:spcAft>
                <a:spcPts val="300"/>
              </a:spcAft>
              <a:defRPr sz="1100" b="0">
                <a:solidFill>
                  <a:srgbClr val="3C3C3C"/>
                </a:solidFill>
                <a:latin typeface="Arial"/>
              </a:defRPr>
            </a:pPr>
            <a:r>
              <a:t>Multi-TA / undisclosed</a:t>
            </a:r>
          </a:p>
        </p:txBody>
      </p:sp>
      <p:sp>
        <p:nvSpPr>
          <p:cNvPr id="42" name="Rectangle 41"/>
          <p:cNvSpPr/>
          <p:nvPr/>
        </p:nvSpPr>
        <p:spPr>
          <a:xfrm>
            <a:off x="8622792" y="3534156"/>
            <a:ext cx="964276" cy="137160"/>
          </a:xfrm>
          <a:prstGeom prst="rect">
            <a:avLst/>
          </a:prstGeom>
          <a:solidFill>
            <a:srgbClr val="227C9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11411712" y="3502152"/>
            <a:ext cx="301752" cy="192024"/>
          </a:xfrm>
          <a:prstGeom prst="rect">
            <a:avLst/>
          </a:prstGeom>
          <a:noFill/>
        </p:spPr>
        <p:txBody>
          <a:bodyPr wrap="square" lIns="0" rIns="0" tIns="0" bIns="0">
            <a:spAutoFit/>
          </a:bodyPr>
          <a:lstStyle/>
          <a:p>
            <a:pPr algn="r">
              <a:spcBef>
                <a:spcPts val="0"/>
              </a:spcBef>
              <a:spcAft>
                <a:spcPts val="300"/>
              </a:spcAft>
              <a:defRPr sz="1100" b="1">
                <a:solidFill>
                  <a:srgbClr val="003366"/>
                </a:solidFill>
                <a:latin typeface="Arial"/>
              </a:defRPr>
            </a:pPr>
            <a:r>
              <a:t>4</a:t>
            </a:r>
          </a:p>
        </p:txBody>
      </p:sp>
      <p:sp>
        <p:nvSpPr>
          <p:cNvPr id="44" name="Rectangle 43"/>
          <p:cNvSpPr/>
          <p:nvPr/>
        </p:nvSpPr>
        <p:spPr>
          <a:xfrm>
            <a:off x="411480" y="4361688"/>
            <a:ext cx="5522976" cy="292608"/>
          </a:xfrm>
          <a:prstGeom prst="rect">
            <a:avLst/>
          </a:prstGeom>
          <a:solidFill>
            <a:srgbClr val="00336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02920" y="4411979"/>
            <a:ext cx="5340096" cy="210312"/>
          </a:xfrm>
          <a:prstGeom prst="rect">
            <a:avLst/>
          </a:prstGeom>
          <a:noFill/>
        </p:spPr>
        <p:txBody>
          <a:bodyPr wrap="square" lIns="0" rIns="0" tIns="0" bIns="0">
            <a:spAutoFit/>
          </a:bodyPr>
          <a:lstStyle/>
          <a:p>
            <a:pPr>
              <a:spcBef>
                <a:spcPts val="0"/>
              </a:spcBef>
              <a:spcAft>
                <a:spcPts val="300"/>
              </a:spcAft>
              <a:defRPr sz="1200" b="1">
                <a:solidFill>
                  <a:srgbClr val="FFFFFF"/>
                </a:solidFill>
                <a:latin typeface="Arial"/>
              </a:defRPr>
            </a:pPr>
            <a:r>
              <a:t>Modality | primary classification</a:t>
            </a:r>
          </a:p>
        </p:txBody>
      </p:sp>
      <p:sp>
        <p:nvSpPr>
          <p:cNvPr id="46" name="Rectangle 45"/>
          <p:cNvSpPr/>
          <p:nvPr/>
        </p:nvSpPr>
        <p:spPr>
          <a:xfrm>
            <a:off x="6217920" y="4361688"/>
            <a:ext cx="5532120" cy="292608"/>
          </a:xfrm>
          <a:prstGeom prst="rect">
            <a:avLst/>
          </a:prstGeom>
          <a:solidFill>
            <a:srgbClr val="00336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6309359" y="4411979"/>
            <a:ext cx="5349240" cy="210312"/>
          </a:xfrm>
          <a:prstGeom prst="rect">
            <a:avLst/>
          </a:prstGeom>
          <a:noFill/>
        </p:spPr>
        <p:txBody>
          <a:bodyPr wrap="square" lIns="0" rIns="0" tIns="0" bIns="0">
            <a:spAutoFit/>
          </a:bodyPr>
          <a:lstStyle/>
          <a:p>
            <a:pPr>
              <a:spcBef>
                <a:spcPts val="0"/>
              </a:spcBef>
              <a:spcAft>
                <a:spcPts val="300"/>
              </a:spcAft>
              <a:defRPr sz="1200" b="1">
                <a:solidFill>
                  <a:srgbClr val="FFFFFF"/>
                </a:solidFill>
                <a:latin typeface="Arial"/>
              </a:defRPr>
            </a:pPr>
            <a:r>
              <a:t>Target coverage | literal targets in the register</a:t>
            </a:r>
          </a:p>
        </p:txBody>
      </p:sp>
      <p:sp>
        <p:nvSpPr>
          <p:cNvPr id="48" name="TextBox 47"/>
          <p:cNvSpPr txBox="1"/>
          <p:nvPr/>
        </p:nvSpPr>
        <p:spPr>
          <a:xfrm>
            <a:off x="411480" y="4764024"/>
            <a:ext cx="2377440" cy="173736"/>
          </a:xfrm>
          <a:prstGeom prst="rect">
            <a:avLst/>
          </a:prstGeom>
          <a:noFill/>
        </p:spPr>
        <p:txBody>
          <a:bodyPr wrap="square" lIns="0" rIns="0" tIns="0" bIns="0">
            <a:spAutoFit/>
          </a:bodyPr>
          <a:lstStyle/>
          <a:p>
            <a:pPr>
              <a:spcBef>
                <a:spcPts val="0"/>
              </a:spcBef>
              <a:spcAft>
                <a:spcPts val="300"/>
              </a:spcAft>
              <a:defRPr sz="1060" b="0">
                <a:solidFill>
                  <a:srgbClr val="3C3C3C"/>
                </a:solidFill>
                <a:latin typeface="Arial"/>
              </a:defRPr>
            </a:pPr>
            <a:r>
              <a:t>Small molecule</a:t>
            </a:r>
          </a:p>
        </p:txBody>
      </p:sp>
      <p:sp>
        <p:nvSpPr>
          <p:cNvPr id="49" name="TextBox 48"/>
          <p:cNvSpPr txBox="1"/>
          <p:nvPr/>
        </p:nvSpPr>
        <p:spPr>
          <a:xfrm>
            <a:off x="2825496" y="4764024"/>
            <a:ext cx="274320" cy="173736"/>
          </a:xfrm>
          <a:prstGeom prst="rect">
            <a:avLst/>
          </a:prstGeom>
          <a:noFill/>
        </p:spPr>
        <p:txBody>
          <a:bodyPr wrap="square" lIns="0" rIns="0" tIns="0" bIns="0">
            <a:spAutoFit/>
          </a:bodyPr>
          <a:lstStyle/>
          <a:p>
            <a:pPr algn="r">
              <a:spcBef>
                <a:spcPts val="0"/>
              </a:spcBef>
              <a:spcAft>
                <a:spcPts val="300"/>
              </a:spcAft>
              <a:defRPr sz="1060" b="1">
                <a:solidFill>
                  <a:srgbClr val="003366"/>
                </a:solidFill>
                <a:latin typeface="Arial"/>
              </a:defRPr>
            </a:pPr>
            <a:r>
              <a:t>7</a:t>
            </a:r>
          </a:p>
        </p:txBody>
      </p:sp>
      <p:sp>
        <p:nvSpPr>
          <p:cNvPr id="50" name="TextBox 49"/>
          <p:cNvSpPr txBox="1"/>
          <p:nvPr/>
        </p:nvSpPr>
        <p:spPr>
          <a:xfrm>
            <a:off x="411480" y="4983480"/>
            <a:ext cx="2377440" cy="173736"/>
          </a:xfrm>
          <a:prstGeom prst="rect">
            <a:avLst/>
          </a:prstGeom>
          <a:noFill/>
        </p:spPr>
        <p:txBody>
          <a:bodyPr wrap="square" lIns="0" rIns="0" tIns="0" bIns="0">
            <a:spAutoFit/>
          </a:bodyPr>
          <a:lstStyle/>
          <a:p>
            <a:pPr>
              <a:spcBef>
                <a:spcPts val="0"/>
              </a:spcBef>
              <a:spcAft>
                <a:spcPts val="300"/>
              </a:spcAft>
              <a:defRPr sz="1060" b="0">
                <a:solidFill>
                  <a:srgbClr val="3C3C3C"/>
                </a:solidFill>
                <a:latin typeface="Arial"/>
              </a:defRPr>
            </a:pPr>
            <a:r>
              <a:t>Antibody</a:t>
            </a:r>
          </a:p>
        </p:txBody>
      </p:sp>
      <p:sp>
        <p:nvSpPr>
          <p:cNvPr id="51" name="TextBox 50"/>
          <p:cNvSpPr txBox="1"/>
          <p:nvPr/>
        </p:nvSpPr>
        <p:spPr>
          <a:xfrm>
            <a:off x="2825496" y="4983480"/>
            <a:ext cx="274320" cy="173736"/>
          </a:xfrm>
          <a:prstGeom prst="rect">
            <a:avLst/>
          </a:prstGeom>
          <a:noFill/>
        </p:spPr>
        <p:txBody>
          <a:bodyPr wrap="square" lIns="0" rIns="0" tIns="0" bIns="0">
            <a:spAutoFit/>
          </a:bodyPr>
          <a:lstStyle/>
          <a:p>
            <a:pPr algn="r">
              <a:spcBef>
                <a:spcPts val="0"/>
              </a:spcBef>
              <a:spcAft>
                <a:spcPts val="300"/>
              </a:spcAft>
              <a:defRPr sz="1060" b="1">
                <a:solidFill>
                  <a:srgbClr val="003366"/>
                </a:solidFill>
                <a:latin typeface="Arial"/>
              </a:defRPr>
            </a:pPr>
            <a:r>
              <a:t>6</a:t>
            </a:r>
          </a:p>
        </p:txBody>
      </p:sp>
      <p:sp>
        <p:nvSpPr>
          <p:cNvPr id="52" name="TextBox 51"/>
          <p:cNvSpPr txBox="1"/>
          <p:nvPr/>
        </p:nvSpPr>
        <p:spPr>
          <a:xfrm>
            <a:off x="411480" y="5202936"/>
            <a:ext cx="2377440" cy="173736"/>
          </a:xfrm>
          <a:prstGeom prst="rect">
            <a:avLst/>
          </a:prstGeom>
          <a:noFill/>
        </p:spPr>
        <p:txBody>
          <a:bodyPr wrap="square" lIns="0" rIns="0" tIns="0" bIns="0">
            <a:spAutoFit/>
          </a:bodyPr>
          <a:lstStyle/>
          <a:p>
            <a:pPr>
              <a:spcBef>
                <a:spcPts val="0"/>
              </a:spcBef>
              <a:spcAft>
                <a:spcPts val="300"/>
              </a:spcAft>
              <a:defRPr sz="1060" b="0">
                <a:solidFill>
                  <a:srgbClr val="3C3C3C"/>
                </a:solidFill>
                <a:latin typeface="Arial"/>
              </a:defRPr>
            </a:pPr>
            <a:r>
              <a:t>Cell therapy</a:t>
            </a:r>
          </a:p>
        </p:txBody>
      </p:sp>
      <p:sp>
        <p:nvSpPr>
          <p:cNvPr id="53" name="TextBox 52"/>
          <p:cNvSpPr txBox="1"/>
          <p:nvPr/>
        </p:nvSpPr>
        <p:spPr>
          <a:xfrm>
            <a:off x="2825496" y="5202936"/>
            <a:ext cx="274320" cy="173736"/>
          </a:xfrm>
          <a:prstGeom prst="rect">
            <a:avLst/>
          </a:prstGeom>
          <a:noFill/>
        </p:spPr>
        <p:txBody>
          <a:bodyPr wrap="square" lIns="0" rIns="0" tIns="0" bIns="0">
            <a:spAutoFit/>
          </a:bodyPr>
          <a:lstStyle/>
          <a:p>
            <a:pPr algn="r">
              <a:spcBef>
                <a:spcPts val="0"/>
              </a:spcBef>
              <a:spcAft>
                <a:spcPts val="300"/>
              </a:spcAft>
              <a:defRPr sz="1060" b="1">
                <a:solidFill>
                  <a:srgbClr val="003366"/>
                </a:solidFill>
                <a:latin typeface="Arial"/>
              </a:defRPr>
            </a:pPr>
            <a:r>
              <a:t>4</a:t>
            </a:r>
          </a:p>
        </p:txBody>
      </p:sp>
      <p:sp>
        <p:nvSpPr>
          <p:cNvPr id="54" name="TextBox 53"/>
          <p:cNvSpPr txBox="1"/>
          <p:nvPr/>
        </p:nvSpPr>
        <p:spPr>
          <a:xfrm>
            <a:off x="411480" y="5422392"/>
            <a:ext cx="2377440" cy="173736"/>
          </a:xfrm>
          <a:prstGeom prst="rect">
            <a:avLst/>
          </a:prstGeom>
          <a:noFill/>
        </p:spPr>
        <p:txBody>
          <a:bodyPr wrap="square" lIns="0" rIns="0" tIns="0" bIns="0">
            <a:spAutoFit/>
          </a:bodyPr>
          <a:lstStyle/>
          <a:p>
            <a:pPr>
              <a:spcBef>
                <a:spcPts val="0"/>
              </a:spcBef>
              <a:spcAft>
                <a:spcPts val="300"/>
              </a:spcAft>
              <a:defRPr sz="1060" b="0">
                <a:solidFill>
                  <a:srgbClr val="3C3C3C"/>
                </a:solidFill>
                <a:latin typeface="Arial"/>
              </a:defRPr>
            </a:pPr>
            <a:r>
              <a:t>Peptide</a:t>
            </a:r>
          </a:p>
        </p:txBody>
      </p:sp>
      <p:sp>
        <p:nvSpPr>
          <p:cNvPr id="55" name="TextBox 54"/>
          <p:cNvSpPr txBox="1"/>
          <p:nvPr/>
        </p:nvSpPr>
        <p:spPr>
          <a:xfrm>
            <a:off x="2825496" y="5422392"/>
            <a:ext cx="274320" cy="173736"/>
          </a:xfrm>
          <a:prstGeom prst="rect">
            <a:avLst/>
          </a:prstGeom>
          <a:noFill/>
        </p:spPr>
        <p:txBody>
          <a:bodyPr wrap="square" lIns="0" rIns="0" tIns="0" bIns="0">
            <a:spAutoFit/>
          </a:bodyPr>
          <a:lstStyle/>
          <a:p>
            <a:pPr algn="r">
              <a:spcBef>
                <a:spcPts val="0"/>
              </a:spcBef>
              <a:spcAft>
                <a:spcPts val="300"/>
              </a:spcAft>
              <a:defRPr sz="1060" b="1">
                <a:solidFill>
                  <a:srgbClr val="003366"/>
                </a:solidFill>
                <a:latin typeface="Arial"/>
              </a:defRPr>
            </a:pPr>
            <a:r>
              <a:t>3</a:t>
            </a:r>
          </a:p>
        </p:txBody>
      </p:sp>
      <p:sp>
        <p:nvSpPr>
          <p:cNvPr id="56" name="TextBox 55"/>
          <p:cNvSpPr txBox="1"/>
          <p:nvPr/>
        </p:nvSpPr>
        <p:spPr>
          <a:xfrm>
            <a:off x="411480" y="5641848"/>
            <a:ext cx="2377440" cy="173736"/>
          </a:xfrm>
          <a:prstGeom prst="rect">
            <a:avLst/>
          </a:prstGeom>
          <a:noFill/>
        </p:spPr>
        <p:txBody>
          <a:bodyPr wrap="square" lIns="0" rIns="0" tIns="0" bIns="0">
            <a:spAutoFit/>
          </a:bodyPr>
          <a:lstStyle/>
          <a:p>
            <a:pPr>
              <a:spcBef>
                <a:spcPts val="0"/>
              </a:spcBef>
              <a:spcAft>
                <a:spcPts val="300"/>
              </a:spcAft>
              <a:defRPr sz="1060" b="0">
                <a:solidFill>
                  <a:srgbClr val="3C3C3C"/>
                </a:solidFill>
                <a:latin typeface="Arial"/>
              </a:defRPr>
            </a:pPr>
            <a:r>
              <a:t>Gene therapy</a:t>
            </a:r>
          </a:p>
        </p:txBody>
      </p:sp>
      <p:sp>
        <p:nvSpPr>
          <p:cNvPr id="57" name="TextBox 56"/>
          <p:cNvSpPr txBox="1"/>
          <p:nvPr/>
        </p:nvSpPr>
        <p:spPr>
          <a:xfrm>
            <a:off x="2825496" y="5641848"/>
            <a:ext cx="274320" cy="173736"/>
          </a:xfrm>
          <a:prstGeom prst="rect">
            <a:avLst/>
          </a:prstGeom>
          <a:noFill/>
        </p:spPr>
        <p:txBody>
          <a:bodyPr wrap="square" lIns="0" rIns="0" tIns="0" bIns="0">
            <a:spAutoFit/>
          </a:bodyPr>
          <a:lstStyle/>
          <a:p>
            <a:pPr algn="r">
              <a:spcBef>
                <a:spcPts val="0"/>
              </a:spcBef>
              <a:spcAft>
                <a:spcPts val="300"/>
              </a:spcAft>
              <a:defRPr sz="1060" b="1">
                <a:solidFill>
                  <a:srgbClr val="003366"/>
                </a:solidFill>
                <a:latin typeface="Arial"/>
              </a:defRPr>
            </a:pPr>
            <a:r>
              <a:t>2</a:t>
            </a:r>
          </a:p>
        </p:txBody>
      </p:sp>
      <p:sp>
        <p:nvSpPr>
          <p:cNvPr id="58" name="TextBox 57"/>
          <p:cNvSpPr txBox="1"/>
          <p:nvPr/>
        </p:nvSpPr>
        <p:spPr>
          <a:xfrm>
            <a:off x="411480" y="5861304"/>
            <a:ext cx="2377440" cy="173736"/>
          </a:xfrm>
          <a:prstGeom prst="rect">
            <a:avLst/>
          </a:prstGeom>
          <a:noFill/>
        </p:spPr>
        <p:txBody>
          <a:bodyPr wrap="square" lIns="0" rIns="0" tIns="0" bIns="0">
            <a:spAutoFit/>
          </a:bodyPr>
          <a:lstStyle/>
          <a:p>
            <a:pPr>
              <a:spcBef>
                <a:spcPts val="0"/>
              </a:spcBef>
              <a:spcAft>
                <a:spcPts val="300"/>
              </a:spcAft>
              <a:defRPr sz="1060" b="0">
                <a:solidFill>
                  <a:srgbClr val="3C3C3C"/>
                </a:solidFill>
                <a:latin typeface="Arial"/>
              </a:defRPr>
            </a:pPr>
            <a:r>
              <a:t>ADC</a:t>
            </a:r>
          </a:p>
        </p:txBody>
      </p:sp>
      <p:sp>
        <p:nvSpPr>
          <p:cNvPr id="59" name="TextBox 58"/>
          <p:cNvSpPr txBox="1"/>
          <p:nvPr/>
        </p:nvSpPr>
        <p:spPr>
          <a:xfrm>
            <a:off x="2825496" y="5861304"/>
            <a:ext cx="274320" cy="173736"/>
          </a:xfrm>
          <a:prstGeom prst="rect">
            <a:avLst/>
          </a:prstGeom>
          <a:noFill/>
        </p:spPr>
        <p:txBody>
          <a:bodyPr wrap="square" lIns="0" rIns="0" tIns="0" bIns="0">
            <a:spAutoFit/>
          </a:bodyPr>
          <a:lstStyle/>
          <a:p>
            <a:pPr algn="r">
              <a:spcBef>
                <a:spcPts val="0"/>
              </a:spcBef>
              <a:spcAft>
                <a:spcPts val="300"/>
              </a:spcAft>
              <a:defRPr sz="1060" b="1">
                <a:solidFill>
                  <a:srgbClr val="003366"/>
                </a:solidFill>
                <a:latin typeface="Arial"/>
              </a:defRPr>
            </a:pPr>
            <a:r>
              <a:t>2</a:t>
            </a:r>
          </a:p>
        </p:txBody>
      </p:sp>
      <p:sp>
        <p:nvSpPr>
          <p:cNvPr id="60" name="TextBox 59"/>
          <p:cNvSpPr txBox="1"/>
          <p:nvPr/>
        </p:nvSpPr>
        <p:spPr>
          <a:xfrm>
            <a:off x="3236976" y="4764024"/>
            <a:ext cx="2377440" cy="173736"/>
          </a:xfrm>
          <a:prstGeom prst="rect">
            <a:avLst/>
          </a:prstGeom>
          <a:noFill/>
        </p:spPr>
        <p:txBody>
          <a:bodyPr wrap="square" lIns="0" rIns="0" tIns="0" bIns="0">
            <a:spAutoFit/>
          </a:bodyPr>
          <a:lstStyle/>
          <a:p>
            <a:pPr>
              <a:spcBef>
                <a:spcPts val="0"/>
              </a:spcBef>
              <a:spcAft>
                <a:spcPts val="300"/>
              </a:spcAft>
              <a:defRPr sz="1060" b="0">
                <a:solidFill>
                  <a:srgbClr val="3C3C3C"/>
                </a:solidFill>
                <a:latin typeface="Arial"/>
              </a:defRPr>
            </a:pPr>
            <a:r>
              <a:t>Vaccine</a:t>
            </a:r>
          </a:p>
        </p:txBody>
      </p:sp>
      <p:sp>
        <p:nvSpPr>
          <p:cNvPr id="61" name="TextBox 60"/>
          <p:cNvSpPr txBox="1"/>
          <p:nvPr/>
        </p:nvSpPr>
        <p:spPr>
          <a:xfrm>
            <a:off x="5650992" y="4764024"/>
            <a:ext cx="274320" cy="173736"/>
          </a:xfrm>
          <a:prstGeom prst="rect">
            <a:avLst/>
          </a:prstGeom>
          <a:noFill/>
        </p:spPr>
        <p:txBody>
          <a:bodyPr wrap="square" lIns="0" rIns="0" tIns="0" bIns="0">
            <a:spAutoFit/>
          </a:bodyPr>
          <a:lstStyle/>
          <a:p>
            <a:pPr algn="r">
              <a:spcBef>
                <a:spcPts val="0"/>
              </a:spcBef>
              <a:spcAft>
                <a:spcPts val="300"/>
              </a:spcAft>
              <a:defRPr sz="1060" b="1">
                <a:solidFill>
                  <a:srgbClr val="003366"/>
                </a:solidFill>
                <a:latin typeface="Arial"/>
              </a:defRPr>
            </a:pPr>
            <a:r>
              <a:t>2</a:t>
            </a:r>
          </a:p>
        </p:txBody>
      </p:sp>
      <p:sp>
        <p:nvSpPr>
          <p:cNvPr id="62" name="TextBox 61"/>
          <p:cNvSpPr txBox="1"/>
          <p:nvPr/>
        </p:nvSpPr>
        <p:spPr>
          <a:xfrm>
            <a:off x="3236976" y="4983480"/>
            <a:ext cx="2377440" cy="173736"/>
          </a:xfrm>
          <a:prstGeom prst="rect">
            <a:avLst/>
          </a:prstGeom>
          <a:noFill/>
        </p:spPr>
        <p:txBody>
          <a:bodyPr wrap="square" lIns="0" rIns="0" tIns="0" bIns="0">
            <a:spAutoFit/>
          </a:bodyPr>
          <a:lstStyle/>
          <a:p>
            <a:pPr>
              <a:spcBef>
                <a:spcPts val="0"/>
              </a:spcBef>
              <a:spcAft>
                <a:spcPts val="300"/>
              </a:spcAft>
              <a:defRPr sz="1060" b="0">
                <a:solidFill>
                  <a:srgbClr val="3C3C3C"/>
                </a:solidFill>
                <a:latin typeface="Arial"/>
              </a:defRPr>
            </a:pPr>
            <a:r>
              <a:t>Radioconjugate</a:t>
            </a:r>
          </a:p>
        </p:txBody>
      </p:sp>
      <p:sp>
        <p:nvSpPr>
          <p:cNvPr id="63" name="TextBox 62"/>
          <p:cNvSpPr txBox="1"/>
          <p:nvPr/>
        </p:nvSpPr>
        <p:spPr>
          <a:xfrm>
            <a:off x="5650992" y="4983480"/>
            <a:ext cx="274320" cy="173736"/>
          </a:xfrm>
          <a:prstGeom prst="rect">
            <a:avLst/>
          </a:prstGeom>
          <a:noFill/>
        </p:spPr>
        <p:txBody>
          <a:bodyPr wrap="square" lIns="0" rIns="0" tIns="0" bIns="0">
            <a:spAutoFit/>
          </a:bodyPr>
          <a:lstStyle/>
          <a:p>
            <a:pPr algn="r">
              <a:spcBef>
                <a:spcPts val="0"/>
              </a:spcBef>
              <a:spcAft>
                <a:spcPts val="300"/>
              </a:spcAft>
              <a:defRPr sz="1060" b="1">
                <a:solidFill>
                  <a:srgbClr val="003366"/>
                </a:solidFill>
                <a:latin typeface="Arial"/>
              </a:defRPr>
            </a:pPr>
            <a:r>
              <a:t>1</a:t>
            </a:r>
          </a:p>
        </p:txBody>
      </p:sp>
      <p:sp>
        <p:nvSpPr>
          <p:cNvPr id="64" name="TextBox 63"/>
          <p:cNvSpPr txBox="1"/>
          <p:nvPr/>
        </p:nvSpPr>
        <p:spPr>
          <a:xfrm>
            <a:off x="3236976" y="5202936"/>
            <a:ext cx="2377440" cy="173736"/>
          </a:xfrm>
          <a:prstGeom prst="rect">
            <a:avLst/>
          </a:prstGeom>
          <a:noFill/>
        </p:spPr>
        <p:txBody>
          <a:bodyPr wrap="square" lIns="0" rIns="0" tIns="0" bIns="0">
            <a:spAutoFit/>
          </a:bodyPr>
          <a:lstStyle/>
          <a:p>
            <a:pPr>
              <a:spcBef>
                <a:spcPts val="0"/>
              </a:spcBef>
              <a:spcAft>
                <a:spcPts val="300"/>
              </a:spcAft>
              <a:defRPr sz="1060" b="0">
                <a:solidFill>
                  <a:srgbClr val="3C3C3C"/>
                </a:solidFill>
                <a:latin typeface="Arial"/>
              </a:defRPr>
            </a:pPr>
            <a:r>
              <a:t>Cell / gene platform</a:t>
            </a:r>
          </a:p>
        </p:txBody>
      </p:sp>
      <p:sp>
        <p:nvSpPr>
          <p:cNvPr id="65" name="TextBox 64"/>
          <p:cNvSpPr txBox="1"/>
          <p:nvPr/>
        </p:nvSpPr>
        <p:spPr>
          <a:xfrm>
            <a:off x="5650992" y="5202936"/>
            <a:ext cx="274320" cy="173736"/>
          </a:xfrm>
          <a:prstGeom prst="rect">
            <a:avLst/>
          </a:prstGeom>
          <a:noFill/>
        </p:spPr>
        <p:txBody>
          <a:bodyPr wrap="square" lIns="0" rIns="0" tIns="0" bIns="0">
            <a:spAutoFit/>
          </a:bodyPr>
          <a:lstStyle/>
          <a:p>
            <a:pPr algn="r">
              <a:spcBef>
                <a:spcPts val="0"/>
              </a:spcBef>
              <a:spcAft>
                <a:spcPts val="300"/>
              </a:spcAft>
              <a:defRPr sz="1060" b="1">
                <a:solidFill>
                  <a:srgbClr val="003366"/>
                </a:solidFill>
                <a:latin typeface="Arial"/>
              </a:defRPr>
            </a:pPr>
            <a:r>
              <a:t>1</a:t>
            </a:r>
          </a:p>
        </p:txBody>
      </p:sp>
      <p:sp>
        <p:nvSpPr>
          <p:cNvPr id="66" name="TextBox 65"/>
          <p:cNvSpPr txBox="1"/>
          <p:nvPr/>
        </p:nvSpPr>
        <p:spPr>
          <a:xfrm>
            <a:off x="3236976" y="5422392"/>
            <a:ext cx="2377440" cy="173736"/>
          </a:xfrm>
          <a:prstGeom prst="rect">
            <a:avLst/>
          </a:prstGeom>
          <a:noFill/>
        </p:spPr>
        <p:txBody>
          <a:bodyPr wrap="square" lIns="0" rIns="0" tIns="0" bIns="0">
            <a:spAutoFit/>
          </a:bodyPr>
          <a:lstStyle/>
          <a:p>
            <a:pPr>
              <a:spcBef>
                <a:spcPts val="0"/>
              </a:spcBef>
              <a:spcAft>
                <a:spcPts val="300"/>
              </a:spcAft>
              <a:defRPr sz="1060" b="0">
                <a:solidFill>
                  <a:srgbClr val="3C3C3C"/>
                </a:solidFill>
                <a:latin typeface="Arial"/>
              </a:defRPr>
            </a:pPr>
            <a:r>
              <a:t>Delivery platform</a:t>
            </a:r>
          </a:p>
        </p:txBody>
      </p:sp>
      <p:sp>
        <p:nvSpPr>
          <p:cNvPr id="67" name="TextBox 66"/>
          <p:cNvSpPr txBox="1"/>
          <p:nvPr/>
        </p:nvSpPr>
        <p:spPr>
          <a:xfrm>
            <a:off x="5650992" y="5422392"/>
            <a:ext cx="274320" cy="173736"/>
          </a:xfrm>
          <a:prstGeom prst="rect">
            <a:avLst/>
          </a:prstGeom>
          <a:noFill/>
        </p:spPr>
        <p:txBody>
          <a:bodyPr wrap="square" lIns="0" rIns="0" tIns="0" bIns="0">
            <a:spAutoFit/>
          </a:bodyPr>
          <a:lstStyle/>
          <a:p>
            <a:pPr algn="r">
              <a:spcBef>
                <a:spcPts val="0"/>
              </a:spcBef>
              <a:spcAft>
                <a:spcPts val="300"/>
              </a:spcAft>
              <a:defRPr sz="1060" b="1">
                <a:solidFill>
                  <a:srgbClr val="003366"/>
                </a:solidFill>
                <a:latin typeface="Arial"/>
              </a:defRPr>
            </a:pPr>
            <a:r>
              <a:t>1</a:t>
            </a:r>
          </a:p>
        </p:txBody>
      </p:sp>
      <p:sp>
        <p:nvSpPr>
          <p:cNvPr id="68" name="TextBox 67"/>
          <p:cNvSpPr txBox="1"/>
          <p:nvPr/>
        </p:nvSpPr>
        <p:spPr>
          <a:xfrm>
            <a:off x="3236976" y="5641848"/>
            <a:ext cx="2377440" cy="173736"/>
          </a:xfrm>
          <a:prstGeom prst="rect">
            <a:avLst/>
          </a:prstGeom>
          <a:noFill/>
        </p:spPr>
        <p:txBody>
          <a:bodyPr wrap="square" lIns="0" rIns="0" tIns="0" bIns="0">
            <a:spAutoFit/>
          </a:bodyPr>
          <a:lstStyle/>
          <a:p>
            <a:pPr>
              <a:spcBef>
                <a:spcPts val="0"/>
              </a:spcBef>
              <a:spcAft>
                <a:spcPts val="300"/>
              </a:spcAft>
              <a:defRPr sz="1060" b="0">
                <a:solidFill>
                  <a:srgbClr val="3C3C3C"/>
                </a:solidFill>
                <a:latin typeface="Arial"/>
              </a:defRPr>
            </a:pPr>
            <a:r>
              <a:t>Discovery platform</a:t>
            </a:r>
          </a:p>
        </p:txBody>
      </p:sp>
      <p:sp>
        <p:nvSpPr>
          <p:cNvPr id="69" name="TextBox 68"/>
          <p:cNvSpPr txBox="1"/>
          <p:nvPr/>
        </p:nvSpPr>
        <p:spPr>
          <a:xfrm>
            <a:off x="5650992" y="5641848"/>
            <a:ext cx="274320" cy="173736"/>
          </a:xfrm>
          <a:prstGeom prst="rect">
            <a:avLst/>
          </a:prstGeom>
          <a:noFill/>
        </p:spPr>
        <p:txBody>
          <a:bodyPr wrap="square" lIns="0" rIns="0" tIns="0" bIns="0">
            <a:spAutoFit/>
          </a:bodyPr>
          <a:lstStyle/>
          <a:p>
            <a:pPr algn="r">
              <a:spcBef>
                <a:spcPts val="0"/>
              </a:spcBef>
              <a:spcAft>
                <a:spcPts val="300"/>
              </a:spcAft>
              <a:defRPr sz="1060" b="1">
                <a:solidFill>
                  <a:srgbClr val="003366"/>
                </a:solidFill>
                <a:latin typeface="Arial"/>
              </a:defRPr>
            </a:pPr>
            <a:r>
              <a:t>1</a:t>
            </a:r>
          </a:p>
        </p:txBody>
      </p:sp>
      <p:sp>
        <p:nvSpPr>
          <p:cNvPr id="70" name="Rectangle 69"/>
          <p:cNvSpPr/>
          <p:nvPr/>
        </p:nvSpPr>
        <p:spPr>
          <a:xfrm>
            <a:off x="6217920" y="4764024"/>
            <a:ext cx="5532120" cy="338328"/>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336792" y="4855464"/>
            <a:ext cx="5294376" cy="164592"/>
          </a:xfrm>
          <a:prstGeom prst="rect">
            <a:avLst/>
          </a:prstGeom>
          <a:noFill/>
        </p:spPr>
        <p:txBody>
          <a:bodyPr wrap="square" lIns="0" rIns="0" tIns="0" bIns="0">
            <a:spAutoFit/>
          </a:bodyPr>
          <a:lstStyle/>
          <a:p>
            <a:pPr>
              <a:spcBef>
                <a:spcPts val="0"/>
              </a:spcBef>
              <a:spcAft>
                <a:spcPts val="300"/>
              </a:spcAft>
              <a:defRPr sz="1000" b="1">
                <a:solidFill>
                  <a:srgbClr val="003366"/>
                </a:solidFill>
                <a:latin typeface="Arial"/>
              </a:defRPr>
            </a:pPr>
            <a:r>
              <a:t>17 records: specified targets  |  13: platform / target not singled out</a:t>
            </a:r>
          </a:p>
        </p:txBody>
      </p:sp>
      <p:sp>
        <p:nvSpPr>
          <p:cNvPr id="72" name="TextBox 71"/>
          <p:cNvSpPr txBox="1"/>
          <p:nvPr/>
        </p:nvSpPr>
        <p:spPr>
          <a:xfrm>
            <a:off x="6217920" y="5276088"/>
            <a:ext cx="5532120" cy="777240"/>
          </a:xfrm>
          <a:prstGeom prst="rect">
            <a:avLst/>
          </a:prstGeom>
          <a:noFill/>
        </p:spPr>
        <p:txBody>
          <a:bodyPr wrap="square" lIns="0" rIns="0" tIns="0" bIns="0">
            <a:spAutoFit/>
          </a:bodyPr>
          <a:lstStyle/>
          <a:p>
            <a:pPr>
              <a:spcBef>
                <a:spcPts val="0"/>
              </a:spcBef>
              <a:spcAft>
                <a:spcPts val="300"/>
              </a:spcAft>
              <a:defRPr sz="1030" b="0">
                <a:solidFill>
                  <a:srgbClr val="3C3C3C"/>
                </a:solidFill>
                <a:latin typeface="Arial"/>
              </a:defRPr>
            </a:pPr>
            <a:r>
              <a:t>GLP-1R; GLP-1R/GIPR • Aldosterone synthase • Lp(a)</a:t>
            </a:r>
          </a:p>
          <a:p>
            <a:pPr>
              <a:spcBef>
                <a:spcPts val="0"/>
              </a:spcBef>
              <a:spcAft>
                <a:spcPts val="300"/>
              </a:spcAft>
              <a:defRPr sz="1030" b="0">
                <a:solidFill>
                  <a:srgbClr val="3C3C3C"/>
                </a:solidFill>
                <a:latin typeface="Arial"/>
              </a:defRPr>
            </a:pPr>
            <a:r>
              <a:t>ActRIIA/B • CD19/CD3 • BCMA/CD19 • CLDN18.2</a:t>
            </a:r>
          </a:p>
          <a:p>
            <a:pPr>
              <a:spcBef>
                <a:spcPts val="0"/>
              </a:spcBef>
              <a:spcAft>
                <a:spcPts val="300"/>
              </a:spcAft>
              <a:defRPr sz="1030" b="0">
                <a:solidFill>
                  <a:srgbClr val="3C3C3C"/>
                </a:solidFill>
                <a:latin typeface="Arial"/>
              </a:defRPr>
            </a:pPr>
            <a:r>
              <a:t>EGFR • PSMA • TROP2 + PD-1/VEGF • PD-1/VEGF</a:t>
            </a:r>
          </a:p>
          <a:p>
            <a:pPr>
              <a:spcBef>
                <a:spcPts val="0"/>
              </a:spcBef>
              <a:spcAft>
                <a:spcPts val="300"/>
              </a:spcAft>
              <a:defRPr sz="1030" b="0">
                <a:solidFill>
                  <a:srgbClr val="3C3C3C"/>
                </a:solidFill>
                <a:latin typeface="Arial"/>
              </a:defRPr>
            </a:pPr>
            <a:r>
              <a:t>TTR • PTH1R • HIF-PH • RSV/hMPV • SARS-CoV-2</a:t>
            </a:r>
          </a:p>
        </p:txBody>
      </p:sp>
      <p:sp>
        <p:nvSpPr>
          <p:cNvPr id="73" name="TextBox 72"/>
          <p:cNvSpPr txBox="1"/>
          <p:nvPr/>
        </p:nvSpPr>
        <p:spPr>
          <a:xfrm>
            <a:off x="6217920" y="6071616"/>
            <a:ext cx="5532120" cy="155448"/>
          </a:xfrm>
          <a:prstGeom prst="rect">
            <a:avLst/>
          </a:prstGeom>
          <a:noFill/>
        </p:spPr>
        <p:txBody>
          <a:bodyPr wrap="square" lIns="0" rIns="0" tIns="0" bIns="0">
            <a:spAutoFit/>
          </a:bodyPr>
          <a:lstStyle/>
          <a:p>
            <a:pPr>
              <a:spcBef>
                <a:spcPts val="0"/>
              </a:spcBef>
              <a:spcAft>
                <a:spcPts val="300"/>
              </a:spcAft>
              <a:defRPr sz="830" b="0">
                <a:solidFill>
                  <a:srgbClr val="66757C"/>
                </a:solidFill>
                <a:latin typeface="Arial"/>
              </a:defRPr>
            </a:pPr>
            <a:r>
              <a:t>Named targets include multi-target combinations; full partner–asset mapping is in Excel.</a:t>
            </a:r>
          </a:p>
        </p:txBody>
      </p:sp>
      <p:sp>
        <p:nvSpPr>
          <p:cNvPr id="74" name="BD total 6"/>
          <p:cNvSpPr txBox="1"/>
          <p:nvPr/>
        </p:nvSpPr>
        <p:spPr>
          <a:xfrm>
            <a:off x="868201" y="2345443"/>
            <a:ext cx="365760" cy="228600"/>
          </a:xfrm>
          <a:prstGeom prst="rect">
            <a:avLst/>
          </a:prstGeom>
          <a:noFill/>
        </p:spPr>
        <p:txBody>
          <a:bodyPr wrap="none" lIns="0" rIns="0" tIns="0" bIns="0">
            <a:spAutoFit/>
          </a:bodyPr>
          <a:lstStyle/>
          <a:p>
            <a:pPr algn="ctr"/>
            <a:r>
              <a:rPr sz="1100" b="1">
                <a:solidFill>
                  <a:srgbClr val="003366"/>
                </a:solidFill>
                <a:latin typeface="Arial"/>
              </a:rPr>
              <a:t>6</a:t>
            </a:r>
          </a:p>
        </p:txBody>
      </p:sp>
      <p:sp>
        <p:nvSpPr>
          <p:cNvPr id="75" name="BD total 8"/>
          <p:cNvSpPr txBox="1"/>
          <p:nvPr/>
        </p:nvSpPr>
        <p:spPr>
          <a:xfrm>
            <a:off x="1928689" y="2034116"/>
            <a:ext cx="365760" cy="228600"/>
          </a:xfrm>
          <a:prstGeom prst="rect">
            <a:avLst/>
          </a:prstGeom>
          <a:noFill/>
        </p:spPr>
        <p:txBody>
          <a:bodyPr wrap="none" lIns="0" rIns="0" tIns="0" bIns="0">
            <a:spAutoFit/>
          </a:bodyPr>
          <a:lstStyle/>
          <a:p>
            <a:pPr algn="ctr"/>
            <a:r>
              <a:rPr sz="1100" b="1">
                <a:solidFill>
                  <a:srgbClr val="003366"/>
                </a:solidFill>
                <a:latin typeface="Arial"/>
              </a:rPr>
              <a:t>8</a:t>
            </a:r>
          </a:p>
        </p:txBody>
      </p:sp>
      <p:sp>
        <p:nvSpPr>
          <p:cNvPr id="76" name="BD total 3"/>
          <p:cNvSpPr txBox="1"/>
          <p:nvPr/>
        </p:nvSpPr>
        <p:spPr>
          <a:xfrm>
            <a:off x="2989178" y="2812625"/>
            <a:ext cx="365760" cy="228600"/>
          </a:xfrm>
          <a:prstGeom prst="rect">
            <a:avLst/>
          </a:prstGeom>
          <a:noFill/>
        </p:spPr>
        <p:txBody>
          <a:bodyPr wrap="none" lIns="0" rIns="0" tIns="0" bIns="0">
            <a:spAutoFit/>
          </a:bodyPr>
          <a:lstStyle/>
          <a:p>
            <a:pPr algn="ctr"/>
            <a:r>
              <a:rPr sz="1100" b="1">
                <a:solidFill>
                  <a:srgbClr val="003366"/>
                </a:solidFill>
                <a:latin typeface="Arial"/>
              </a:rPr>
              <a:t>3</a:t>
            </a:r>
          </a:p>
        </p:txBody>
      </p:sp>
      <p:sp>
        <p:nvSpPr>
          <p:cNvPr id="77" name="BD total 8"/>
          <p:cNvSpPr txBox="1"/>
          <p:nvPr/>
        </p:nvSpPr>
        <p:spPr>
          <a:xfrm>
            <a:off x="4049678" y="2111865"/>
            <a:ext cx="365760" cy="228600"/>
          </a:xfrm>
          <a:prstGeom prst="rect">
            <a:avLst/>
          </a:prstGeom>
          <a:noFill/>
        </p:spPr>
        <p:txBody>
          <a:bodyPr wrap="none" lIns="0" rIns="0" tIns="0" bIns="0">
            <a:spAutoFit/>
          </a:bodyPr>
          <a:lstStyle/>
          <a:p>
            <a:pPr algn="ctr"/>
            <a:r>
              <a:rPr sz="1100" b="1">
                <a:solidFill>
                  <a:srgbClr val="003366"/>
                </a:solidFill>
                <a:latin typeface="Arial"/>
              </a:rPr>
              <a:t>8</a:t>
            </a:r>
          </a:p>
        </p:txBody>
      </p:sp>
      <p:sp>
        <p:nvSpPr>
          <p:cNvPr id="78" name="BD total 5"/>
          <p:cNvSpPr txBox="1"/>
          <p:nvPr/>
        </p:nvSpPr>
        <p:spPr>
          <a:xfrm>
            <a:off x="5110166" y="2579034"/>
            <a:ext cx="365760" cy="228600"/>
          </a:xfrm>
          <a:prstGeom prst="rect">
            <a:avLst/>
          </a:prstGeom>
          <a:noFill/>
        </p:spPr>
        <p:txBody>
          <a:bodyPr wrap="none" lIns="0" rIns="0" tIns="0" bIns="0">
            <a:spAutoFit/>
          </a:bodyPr>
          <a:lstStyle/>
          <a:p>
            <a:pPr algn="ctr"/>
            <a:r>
              <a:rPr sz="1100" b="1">
                <a:solidFill>
                  <a:srgbClr val="003366"/>
                </a:solidFill>
                <a:latin typeface="Arial"/>
              </a:rPr>
              <a:t>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