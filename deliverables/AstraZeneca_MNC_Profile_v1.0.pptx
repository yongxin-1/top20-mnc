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H1 2026 Product Revenue</c:v>
                </c:pt>
              </c:strCache>
            </c:strRef>
          </c:tx>
          <c:dPt>
            <c:idx val="0"/>
            <c:spPr>
              <a:solidFill>
                <a:srgbClr val="8BA4AE"/>
              </a:solidFill>
              <a:ln>
                <a:noFill/>
              </a:ln>
            </c:spPr>
          </c:dPt>
          <c:dPt>
            <c:idx val="1"/>
            <c:spPr>
              <a:solidFill>
                <a:srgbClr val="003366"/>
              </a:solidFill>
              <a:ln>
                <a:noFill/>
              </a:ln>
            </c:spPr>
          </c:dPt>
          <c:dPt>
            <c:idx val="2"/>
            <c:spPr>
              <a:solidFill>
                <a:srgbClr val="003366"/>
              </a:solidFill>
              <a:ln>
                <a:noFill/>
              </a:ln>
            </c:spPr>
          </c:dPt>
          <c:dPt>
            <c:idx val="3"/>
            <c:spPr>
              <a:solidFill>
                <a:srgbClr val="003366"/>
              </a:solidFill>
              <a:ln>
                <a:noFill/>
              </a:ln>
            </c:spPr>
          </c:dPt>
          <c:dPt>
            <c:idx val="4"/>
            <c:spPr>
              <a:solidFill>
                <a:srgbClr val="527F76"/>
              </a:solidFill>
              <a:ln>
                <a:noFill/>
              </a:ln>
            </c:spPr>
          </c:dPt>
          <c:dPt>
            <c:idx val="5"/>
            <c:spPr>
              <a:solidFill>
                <a:srgbClr val="003366"/>
              </a:solidFill>
              <a:ln>
                <a:noFill/>
              </a:ln>
            </c:spPr>
          </c:dPt>
          <c:dPt>
            <c:idx val="6"/>
            <c:spPr>
              <a:solidFill>
                <a:srgbClr val="003366"/>
              </a:solidFill>
              <a:ln>
                <a:noFill/>
              </a:ln>
            </c:spPr>
          </c:dPt>
          <c:dPt>
            <c:idx val="7"/>
            <c:spPr>
              <a:solidFill>
                <a:srgbClr val="227C9D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Symbicort  |  -4%</c:v>
                </c:pt>
                <c:pt idx="1">
                  <c:v>Lynparza  |  -1%</c:v>
                </c:pt>
                <c:pt idx="2">
                  <c:v>Enhertu  |  +32%</c:v>
                </c:pt>
                <c:pt idx="3">
                  <c:v>Calquence  |  +16%</c:v>
                </c:pt>
                <c:pt idx="4">
                  <c:v>Ultomiris  |  +14%</c:v>
                </c:pt>
                <c:pt idx="5">
                  <c:v>Imfinzi  |  +29%</c:v>
                </c:pt>
                <c:pt idx="6">
                  <c:v>Tagrisso  |  +6%</c:v>
                </c:pt>
                <c:pt idx="7">
                  <c:v>Farxiga  |  -11%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1.418</c:v>
                </c:pt>
                <c:pt idx="1">
                  <c:v>1.61</c:v>
                </c:pt>
                <c:pt idx="2">
                  <c:v>1.719</c:v>
                </c:pt>
                <c:pt idx="3">
                  <c:v>1.944</c:v>
                </c:pt>
                <c:pt idx="4">
                  <c:v>2.584</c:v>
                </c:pt>
                <c:pt idx="5">
                  <c:v>3.548</c:v>
                </c:pt>
                <c:pt idx="6">
                  <c:v>3.775</c:v>
                </c:pt>
                <c:pt idx="7">
                  <c:v>3.998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in"/>
        <c:tickLblPos val="nextTo"/>
        <c:spPr>
          <a:ln>
            <a:noFill/>
          </a:ln>
        </c:spPr>
        <c:txPr>
          <a:bodyPr/>
          <a:lstStyle/>
          <a:p>
            <a:pPr>
              <a:defRPr sz="115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v1.0 | Prepared 22 October 2026.</a:t>
            </a:r>
          </a:p>
          <a:p>
            <a:r>
              <a:t>Financial cutoff: H1 2026, latest published financial period found on official results page at review. FY2025 used only where explicitly identified.</a:t>
            </a:r>
          </a:p>
          <a:p>
            <a:r>
              <a:t>Pipeline baseline: company website as of 27 July 2026; selected subsequent official announcements checked through 21 October 2026. This is selective company profiling, not an exhaustive clinical or transaction database.</a:t>
            </a:r>
          </a:p>
          <a:p>
            <a:r>
              <a:t>All growth percentages shown are year-on-year at constant exchange rates (CER), unless stated otherwise. Product Revenue = Product Sales + Alliance Revenue; it is not combined worldwide partner sales. TA totals include Collaboration Revenue. Financial figures are rounded for presentation.</a:t>
            </a:r>
          </a:p>
          <a:p>
            <a:r>
              <a:t>Analyst implications and CStone priorities are interpretations, not statements of AZ licensing demand. CStone capability lens comes from the user-supplied reference presentation; it has not been independently verified.</a:t>
            </a:r>
          </a:p>
          <a:p/>
          <a:p>
            <a:r>
              <a:t>Evidence: H1 total revenue $30.672bn (+6% CER); FY2025 revenue $58.739bn. Oncology TA total $14.124bn (46% of group total), +15% CER. CVRM $6.089bn, -12% CER. Official pipeline reports 183 projects, 21 late-stage NMEs and 4 NMEs under review; these are company-defined categories, not independent unique Phase III counts.</a:t>
            </a:r>
          </a:p>
          <a:p>
            <a:r>
              <a:t>Interpretation: the clearest near-term CStone-relevant signal is development of differentiated ADC + next-generation IO regimens. CVRM pressure is observed; external asset demand cannot be inferred from LOE alone.</a:t>
            </a:r>
          </a:p>
          <a:p/>
          <a:p>
            <a:r>
              <a:t>SOURCES — retrieved 22 October 2026:</a:t>
            </a:r>
          </a:p>
          <a:p>
            <a:r>
              <a:t>[1] H1 &amp; Q2 2026 results, 27 Jul 2026</a:t>
            </a:r>
          </a:p>
          <a:p>
            <a:r>
              <a:t>https://www.astrazeneca.com/content/dam/az/PDF/2026/h1q2/H1-and-Q2-2026-results-announcement.pdf</a:t>
            </a:r>
          </a:p>
          <a:p/>
          <a:p>
            <a:r>
              <a:t>[2] FY &amp; Q4 2025 results, 10 Feb 2026</a:t>
            </a:r>
          </a:p>
          <a:p>
            <a:r>
              <a:t>https://www.astrazeneca.com/content/dam/az/PDF/2025/Q4-FY/Full-year-Q4-2025-results-announcement.pdf</a:t>
            </a:r>
          </a:p>
          <a:p/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[6] Summit equity investment / clinical collaboration announced, 28 Sep 2026</a:t>
            </a:r>
          </a:p>
          <a:p>
            <a:r>
              <a:t>https://www.astrazeneca.com/media-centre/press-releases/2026/astrazeneca-announces-equity-investment-summit.html</a:t>
            </a:r>
          </a:p>
          <a:p/>
          <a:p>
            <a:r>
              <a:t>[7] Summit equity investment completed, 5 Oct 2026</a:t>
            </a:r>
          </a:p>
          <a:p>
            <a:r>
              <a:t>https://www.astrazeneca.com/media-centre/press-releases/2026/astrazeneca-completes-equity-investment-in-summit-therapeutics.html</a:t>
            </a:r>
          </a:p>
          <a:p/>
          <a:p>
            <a:r>
              <a:t>[8] Datroway + ivonescimab clinical collaboration, 2 Oct 2026</a:t>
            </a:r>
          </a:p>
          <a:p>
            <a:r>
              <a:t>https://www.astrazeneca.com/media-centre/press-releases/2026/az-ds-collaboration-with-summit-for-datroway.html</a:t>
            </a:r>
          </a:p>
          <a:p/>
          <a:p>
            <a:r>
              <a:t>[9] Dizal / Zegfrovy license completed, 1 Sep 2026</a:t>
            </a:r>
          </a:p>
          <a:p>
            <a:r>
              <a:t>https://www.astrazeneca.com/media-centre/press-releases/2026/astrazeneca-completes-agreement-for-zegfrovy.html</a:t>
            </a:r>
          </a:p>
          <a:p/>
          <a:p>
            <a:r>
              <a:t>[10] CSPC weight-management collaboration, 30 Jan 2026</a:t>
            </a:r>
          </a:p>
          <a:p>
            <a:r>
              <a:t>https://www.astrazeneca.com/media-centre/press-releases/2026/astrazeneca-agrees-obesity-and-t2d-deal-with-cspc.html</a:t>
            </a:r>
          </a:p>
          <a:p/>
          <a:p>
            <a:r>
              <a:t>[11] insitro discovery collaboration, 15 Oct 2026</a:t>
            </a:r>
          </a:p>
          <a:p>
            <a:r>
              <a:t>https://www.astrazeneca.com/media-centre/press-releases/2026/astrazeneca-announces-new-strategic-collaboration-with-insitro-for-difficult-to-treat-cardiometabolic-diseases.html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v1.0 | Prepared 22 October 2026.</a:t>
            </a:r>
          </a:p>
          <a:p>
            <a:r>
              <a:t>Financial cutoff: H1 2026, latest published financial period found on official results page at review. FY2025 used only where explicitly identified.</a:t>
            </a:r>
          </a:p>
          <a:p>
            <a:r>
              <a:t>Pipeline baseline: company website as of 27 July 2026; selected subsequent official announcements checked through 21 October 2026. This is selective company profiling, not an exhaustive clinical or transaction database.</a:t>
            </a:r>
          </a:p>
          <a:p>
            <a:r>
              <a:t>All growth percentages shown are year-on-year at constant exchange rates (CER), unless stated otherwise. Product Revenue = Product Sales + Alliance Revenue; it is not combined worldwide partner sales. TA totals include Collaboration Revenue. Financial figures are rounded for presentation.</a:t>
            </a:r>
          </a:p>
          <a:p>
            <a:r>
              <a:t>Analyst implications and CStone priorities are interpretations, not statements of AZ licensing demand. CStone capability lens comes from the user-supplied reference presentation; it has not been independently verified.</a:t>
            </a:r>
          </a:p>
          <a:p/>
          <a:p>
            <a:r>
              <a:t>Chart: AZ-recognized H1 2026 Product Revenue in US$bn, with CER YoY. Farxiga 3.998/-11%; Tagrisso 3.775/+6%; Imfinzi 3.548/+29%; Ultomiris 2.584/+14%; Calquence 1.944/+16%; Enhertu 1.719/+32%; Lynparza 1.610/-1%; Symbicort 1.418/-4%.</a:t>
            </a:r>
          </a:p>
          <a:p>
            <a:r>
              <a:t>TA cards: H1 total revenue Oncology 14.124/+15%; CVRM 6.089/-12%; R&amp;I 4.750/+9%; Rare Disease 4.911/+11%; remaining TA totals ID .312 and Other .486 (not displayed). Sums reconcile to 30.672.</a:t>
            </a:r>
          </a:p>
          <a:p>
            <a:r>
              <a:t>Observed entries: Farxiga multiple US generics launched Q2 2026; UK generic entry Q3 2025; Brilinta US/Europe generic entry Q2 2025. These are observed commercial events, distinct from patent dates.</a:t>
            </a:r>
          </a:p>
          <a:p>
            <a:r>
              <a:t>Future patent anchors from the company’s color-coded NME entries: Lynparza US2027/EU2029; Forxiga major-EU2028 (UK observed entry takes precedence); Imfinzi US2031/EU2030; Tagrisso US/EU2032. Further patents and regulatory data exclusivity, litigation and settlements can alter effective LOE. Patent supplement notes that it includes UK within major EU markets; use market-specific evidence for actual entry. No exact global LOE year, revenue loss or uncovered revenue gap is calculated.</a:t>
            </a:r>
          </a:p>
          <a:p>
            <a:r>
              <a:t>Coverage: Baxfendy US launch Q2 2026 with $3m H1 PR; elecoglipron III; pipeline and BD provide options but are not proven dollar-for-dollar replacement.</a:t>
            </a:r>
          </a:p>
          <a:p/>
          <a:p>
            <a:r>
              <a:t>SOURCES — retrieved 22 October 2026:</a:t>
            </a:r>
          </a:p>
          <a:p>
            <a:r>
              <a:t>[1] H1 &amp; Q2 2026 results, 27 Jul 2026</a:t>
            </a:r>
          </a:p>
          <a:p>
            <a:r>
              <a:t>https://www.astrazeneca.com/content/dam/az/PDF/2026/h1q2/H1-and-Q2-2026-results-announcement.pdf</a:t>
            </a:r>
          </a:p>
          <a:p/>
          <a:p>
            <a:r>
              <a:t>[2] FY &amp; Q4 2025 results, 10 Feb 2026</a:t>
            </a:r>
          </a:p>
          <a:p>
            <a:r>
              <a:t>https://www.astrazeneca.com/content/dam/az/PDF/2025/Q4-FY/Full-year-Q4-2025-results-announcement.pdf</a:t>
            </a:r>
          </a:p>
          <a:p/>
          <a:p>
            <a:r>
              <a:t>[3] Patent Expiries of Key Marketed Products, as at 10 Feb 2026</a:t>
            </a:r>
          </a:p>
          <a:p>
            <a:r>
              <a:t>https://www.astrazeneca.com/content/dam/az/Investor_Relations/annual-report-2025/pdf/AstraZeneca_Patent_Expiries_of_Key_Marketed_Products_2025.pdf</a:t>
            </a:r>
          </a:p>
          <a:p/>
          <a:p>
            <a:r>
              <a:t>[14] Elecoglipron moves to Phase III, 8 Jun 2026</a:t>
            </a:r>
          </a:p>
          <a:p>
            <a:r>
              <a:t>https://www.astrazeneca.com/media-centre/press-releases/2026/elecoglipron-an-oral-small-molecule-glp-1-ra-moves-to-phase-iii-programme.html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v1.0 | Prepared 22 October 2026.</a:t>
            </a:r>
          </a:p>
          <a:p>
            <a:r>
              <a:t>Financial cutoff: H1 2026, latest published financial period found on official results page at review. FY2025 used only where explicitly identified.</a:t>
            </a:r>
          </a:p>
          <a:p>
            <a:r>
              <a:t>Pipeline baseline: company website as of 27 July 2026; selected subsequent official announcements checked through 21 October 2026. This is selective company profiling, not an exhaustive clinical or transaction database.</a:t>
            </a:r>
          </a:p>
          <a:p>
            <a:r>
              <a:t>All growth percentages shown are year-on-year at constant exchange rates (CER), unless stated otherwise. Product Revenue = Product Sales + Alliance Revenue; it is not combined worldwide partner sales. TA totals include Collaboration Revenue. Financial figures are rounded for presentation.</a:t>
            </a:r>
          </a:p>
          <a:p>
            <a:r>
              <a:t>Analyst implications and CStone priorities are interpretations, not statements of AZ licensing demand. CStone capability lens comes from the user-supplied reference presentation; it has not been independently verified.</a:t>
            </a:r>
          </a:p>
          <a:p/>
          <a:p>
            <a:r>
              <a:t>Company pipeline headline definitions: 21 new molecular entities in late-stage pipeline; 4 NMEs under review; 183 total pipeline projects. These are not interchangeable with unique drugs or indication-program counts.</a:t>
            </a:r>
          </a:p>
          <a:p>
            <a:r>
              <a:t>Selected programs: sonesitatug vedotin (Sone-Ve), CLDN18.2 MMAE ADC, CLARITY-Gastric01 positive OS headline July2026 and ivonescimab clinical collaboration announced Sep28; puxitatug samrotecan, B7-H4 TOP1i ADC, PhaseIII Bluestar-Endometrial01 in 2-3L B7-H4+ endometrial cancer (July pipeline); elecoglipron oral GLP-1RA advanced into PhaseIII obesity/T2D and combination programs June/July2026; tozorakimab IL-33 mAb COPD PhaseIII positive, US BLA priority review announced Sep8, PDUFA expected Q12027 per company. PDUFA is a company-reported anticipated decision date, not guaranteed approval.</a:t>
            </a:r>
          </a:p>
          <a:p>
            <a:r>
              <a:t>No trials of Datroway+ivonescimab are represented as already initiated; Oct2 release states intended PhaseIII TNBC. Potential differentiation questions are analyst hypotheses, not demonstrated advantages.</a:t>
            </a:r>
          </a:p>
          <a:p/>
          <a:p>
            <a:r>
              <a:t>SOURCES — retrieved 22 October 2026:</a:t>
            </a:r>
          </a:p>
          <a:p>
            <a:r>
              <a:t>[1] H1 &amp; Q2 2026 results, 27 Jul 2026</a:t>
            </a:r>
          </a:p>
          <a:p>
            <a:r>
              <a:t>https://www.astrazeneca.com/content/dam/az/PDF/2026/h1q2/H1-and-Q2-2026-results-announcement.pdf</a:t>
            </a:r>
          </a:p>
          <a:p/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[5] H1 &amp; Q2 2026 results presentation, 27 Jul 2026</a:t>
            </a:r>
          </a:p>
          <a:p>
            <a:r>
              <a:t>https://www.astrazeneca.com/content/dam/az/PDF/2026/h1q2/H1-and-Q2-2026-results-presentation.pdf</a:t>
            </a:r>
          </a:p>
          <a:p/>
          <a:p>
            <a:r>
              <a:t>[6] Summit equity investment / clinical collaboration announced, 28 Sep 2026</a:t>
            </a:r>
          </a:p>
          <a:p>
            <a:r>
              <a:t>https://www.astrazeneca.com/media-centre/press-releases/2026/astrazeneca-announces-equity-investment-summit.html</a:t>
            </a:r>
          </a:p>
          <a:p/>
          <a:p>
            <a:r>
              <a:t>[8] Datroway + ivonescimab clinical collaboration, 2 Oct 2026</a:t>
            </a:r>
          </a:p>
          <a:p>
            <a:r>
              <a:t>https://www.astrazeneca.com/media-centre/press-releases/2026/az-ds-collaboration-with-summit-for-datroway.html</a:t>
            </a:r>
          </a:p>
          <a:p/>
          <a:p>
            <a:r>
              <a:t>[13] Tozorakimab Phase III results and US priority review, 8 Sep 2026</a:t>
            </a:r>
          </a:p>
          <a:p>
            <a:r>
              <a:t>https://www.astrazeneca.com/media-centre/press-releases/2026/tozorakimab-demonstrated-statistically-significant-highly-clinically-meaningful-reduction-copd-exacerbations-oberon-titania-phase-iii-trials.html</a:t>
            </a:r>
          </a:p>
          <a:p/>
          <a:p>
            <a:r>
              <a:t>[14] Elecoglipron moves to Phase III, 8 Jun 2026</a:t>
            </a:r>
          </a:p>
          <a:p>
            <a:r>
              <a:t>https://www.astrazeneca.com/media-centre/press-releases/2026/elecoglipron-an-oral-small-molecule-glp-1-ra-moves-to-phase-iii-programme.html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v1.0 | Prepared 22 October 2026.</a:t>
            </a:r>
          </a:p>
          <a:p>
            <a:r>
              <a:t>Financial cutoff: H1 2026, latest published financial period found on official results page at review. FY2025 used only where explicitly identified.</a:t>
            </a:r>
          </a:p>
          <a:p>
            <a:r>
              <a:t>Pipeline baseline: company website as of 27 July 2026; selected subsequent official announcements checked through 21 October 2026. This is selective company profiling, not an exhaustive clinical or transaction database.</a:t>
            </a:r>
          </a:p>
          <a:p>
            <a:r>
              <a:t>All growth percentages shown are year-on-year at constant exchange rates (CER), unless stated otherwise. Product Revenue = Product Sales + Alliance Revenue; it is not combined worldwide partner sales. TA totals include Collaboration Revenue. Financial figures are rounded for presentation.</a:t>
            </a:r>
          </a:p>
          <a:p>
            <a:r>
              <a:t>Analyst implications and CStone priorities are interpretations, not statements of AZ licensing demand. CStone capability lens comes from the user-supplied reference presentation; it has not been independently verified.</a:t>
            </a:r>
          </a:p>
          <a:p/>
          <a:p>
            <a:r>
              <a:t>Verified anchors: Sone-Ve/ivonescimab and Datroway/ivonescimab collaborations; AZD1163 anti-PAD2/4 bispecific PhaseII RA; AZD0120 CD19/BCMA CAR-T PhaseI in SLE, autoimmune diseases and MS; elecoglipron oral GLP-1RA PhaseIII and CSPC SYH2082 long-acting GLP1R/GIPR candidate and LiquidGel once-monthly delivery platform. CSPC announcement describes clinical-ready SYH2082 progressing to PhaseI; no later stage is asserted here.</a:t>
            </a:r>
          </a:p>
          <a:p>
            <a:r>
              <a:t>July pipeline removed-since-last-quarter list: tilatamig samrotecan solid tumours, terminated PhaseII, reason PK/PD; Imfinzi+domvanalimab PACIFIC-8, stageIII NSCLC after cCRT, terminated PhaseIII, reason Strategic. These are reported reasons, not independent causal analyses. A program discontinuation does not establish target failure.</a:t>
            </a:r>
          </a:p>
          <a:p>
            <a:r>
              <a:t>CStone assessment lens from user deck: ADC, multispecific antibodies, I&amp;I and metabolism; opportunities are hypotheses requiring biology, exposure/safety, developability and clinical validation.</a:t>
            </a:r>
          </a:p>
          <a:p/>
          <a:p>
            <a:r>
              <a:t>SOURCES — retrieved 22 October 2026:</a:t>
            </a:r>
          </a:p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[5] H1 &amp; Q2 2026 results presentation, 27 Jul 2026</a:t>
            </a:r>
          </a:p>
          <a:p>
            <a:r>
              <a:t>https://www.astrazeneca.com/content/dam/az/PDF/2026/h1q2/H1-and-Q2-2026-results-presentation.pdf</a:t>
            </a:r>
          </a:p>
          <a:p/>
          <a:p>
            <a:r>
              <a:t>[6] Summit equity investment / clinical collaboration announced, 28 Sep 2026</a:t>
            </a:r>
          </a:p>
          <a:p>
            <a:r>
              <a:t>https://www.astrazeneca.com/media-centre/press-releases/2026/astrazeneca-announces-equity-investment-summit.html</a:t>
            </a:r>
          </a:p>
          <a:p/>
          <a:p>
            <a:r>
              <a:t>[8] Datroway + ivonescimab clinical collaboration, 2 Oct 2026</a:t>
            </a:r>
          </a:p>
          <a:p>
            <a:r>
              <a:t>https://www.astrazeneca.com/media-centre/press-releases/2026/az-ds-collaboration-with-summit-for-datroway.html</a:t>
            </a:r>
          </a:p>
          <a:p/>
          <a:p>
            <a:r>
              <a:t>[10] CSPC weight-management collaboration, 30 Jan 2026</a:t>
            </a:r>
          </a:p>
          <a:p>
            <a:r>
              <a:t>https://www.astrazeneca.com/media-centre/press-releases/2026/astrazeneca-agrees-obesity-and-t2d-deal-with-cspc.html</a:t>
            </a:r>
          </a:p>
          <a:p/>
          <a:p>
            <a:r>
              <a:t>[14] Elecoglipron moves to Phase III, 8 Jun 2026</a:t>
            </a:r>
          </a:p>
          <a:p>
            <a:r>
              <a:t>https://www.astrazeneca.com/media-centre/press-releases/2026/elecoglipron-an-oral-small-molecule-glp-1-ra-moves-to-phase-iii-programme.html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v1.0 | Prepared 22 October 2026.</a:t>
            </a:r>
          </a:p>
          <a:p>
            <a:r>
              <a:t>Financial cutoff: H1 2026, latest published financial period found on official results page at review. FY2025 used only where explicitly identified.</a:t>
            </a:r>
          </a:p>
          <a:p>
            <a:r>
              <a:t>Pipeline baseline: company website as of 27 July 2026; selected subsequent official announcements checked through 21 October 2026. This is selective company profiling, not an exhaustive clinical or transaction database.</a:t>
            </a:r>
          </a:p>
          <a:p>
            <a:r>
              <a:t>All growth percentages shown are year-on-year at constant exchange rates (CER), unless stated otherwise. Product Revenue = Product Sales + Alliance Revenue; it is not combined worldwide partner sales. TA totals include Collaboration Revenue. Financial figures are rounded for presentation.</a:t>
            </a:r>
          </a:p>
          <a:p>
            <a:r>
              <a:t>Analyst implications and CStone priorities are interpretations, not statements of AZ licensing demand. CStone capability lens comes from the user-supplied reference presentation; it has not been independently verified.</a:t>
            </a:r>
          </a:p>
          <a:p/>
          <a:p>
            <a:r>
              <a:t>Summit: $2bn equity investment announced28Sep2026, completed5Oct2026. Clinical collaborations retain development and commercial rights to respective medicines; equity is not a licensing upfront. Sone-Ve combo agreement and Oct2 Datroway agreement are separate collaborations.</a:t>
            </a:r>
          </a:p>
          <a:p>
            <a:r>
              <a:t>Dizal: global Zegfrovy license completed1Sep2026; $600m upfront + up to$900m development/regulatory/sales milestones + tiered royalties. Approved US/China 2L EGFR exon20ins NSCLC; 1L FDA submission accepted in company Sep1 disclosure.</a:t>
            </a:r>
          </a:p>
          <a:p>
            <a:r>
              <a:t>CSPC:30Jan2026 eight-program weight-management agreement, four initially progressed; $1.2bn upfront + up to$3.5bn development/regulatory milestones + further commercialization/sales milestones and royalties. Exclusive global rights outside China; CSPC retains China/Taiwan/HK/Macau with AZ opt-in co-commercialization right following approval. Status shown as announced; no close inferred.</a:t>
            </a:r>
          </a:p>
          <a:p>
            <a:r>
              <a:t>insitro:15Oct2026 discovery/licensing collaboration in MASH/cardiomyopathies; $40m upfront + up to~$1.46bn development/commercial milestones + potential single-digit royalties. Worldwide rights to selected programs.</a:t>
            </a:r>
          </a:p>
          <a:p>
            <a:r>
              <a:t>EsoBiotec: completed20May2025; $425m initial + up to$575m contingent development/regulatory consideration; retained as platform context, not characterized as a 2026 deal.</a:t>
            </a:r>
          </a:p>
          <a:p>
            <a:r>
              <a:t>Strategic implications are analyst interpretations. Pipeline exits are shown on slide4; absence of other divestments/license returns on this page does not establish that none occurred.</a:t>
            </a:r>
          </a:p>
          <a:p/>
          <a:p>
            <a:r>
              <a:t>SOURCES — retrieved 22 October 2026:</a:t>
            </a:r>
          </a:p>
          <a:p>
            <a:r>
              <a:t>[6] Summit equity investment / clinical collaboration announced, 28 Sep 2026</a:t>
            </a:r>
          </a:p>
          <a:p>
            <a:r>
              <a:t>https://www.astrazeneca.com/media-centre/press-releases/2026/astrazeneca-announces-equity-investment-summit.html</a:t>
            </a:r>
          </a:p>
          <a:p/>
          <a:p>
            <a:r>
              <a:t>[7] Summit equity investment completed, 5 Oct 2026</a:t>
            </a:r>
          </a:p>
          <a:p>
            <a:r>
              <a:t>https://www.astrazeneca.com/media-centre/press-releases/2026/astrazeneca-completes-equity-investment-in-summit-therapeutics.html</a:t>
            </a:r>
          </a:p>
          <a:p/>
          <a:p>
            <a:r>
              <a:t>[8] Datroway + ivonescimab clinical collaboration, 2 Oct 2026</a:t>
            </a:r>
          </a:p>
          <a:p>
            <a:r>
              <a:t>https://www.astrazeneca.com/media-centre/press-releases/2026/az-ds-collaboration-with-summit-for-datroway.html</a:t>
            </a:r>
          </a:p>
          <a:p/>
          <a:p>
            <a:r>
              <a:t>[9] Dizal / Zegfrovy license completed, 1 Sep 2026</a:t>
            </a:r>
          </a:p>
          <a:p>
            <a:r>
              <a:t>https://www.astrazeneca.com/media-centre/press-releases/2026/astrazeneca-completes-agreement-for-zegfrovy.html</a:t>
            </a:r>
          </a:p>
          <a:p/>
          <a:p>
            <a:r>
              <a:t>[10] CSPC weight-management collaboration, 30 Jan 2026</a:t>
            </a:r>
          </a:p>
          <a:p>
            <a:r>
              <a:t>https://www.astrazeneca.com/media-centre/press-releases/2026/astrazeneca-agrees-obesity-and-t2d-deal-with-cspc.html</a:t>
            </a:r>
          </a:p>
          <a:p/>
          <a:p>
            <a:r>
              <a:t>[11] insitro discovery collaboration, 15 Oct 2026</a:t>
            </a:r>
          </a:p>
          <a:p>
            <a:r>
              <a:t>https://www.astrazeneca.com/media-centre/press-releases/2026/astrazeneca-announces-new-strategic-collaboration-with-insitro-for-difficult-to-treat-cardiometabolic-diseases.html</a:t>
            </a:r>
          </a:p>
          <a:p/>
          <a:p>
            <a:r>
              <a:t>[12] EsoBiotec acquisition completed, 20 May 2025</a:t>
            </a:r>
          </a:p>
          <a:p>
            <a:r>
              <a:t>https://www.astrazeneca.com/media-centre/press-releases/2025/acquisition-of-esobiotec-completed.html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11887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880" b="1">
                <a:solidFill>
                  <a:srgbClr val="66757C"/>
                </a:solidFill>
                <a:latin typeface="Arial"/>
              </a:defRPr>
            </a:pPr>
            <a:r>
              <a:t>22 OCT 2026  |  FINANCIALS: H1 2026  |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27C9D"/>
                </a:solidFill>
                <a:latin typeface="Arial"/>
              </a:defRPr>
            </a:pPr>
            <a:r>
              <a:t>1 - Executive Summary &amp; Strategic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3210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3C3C3C"/>
                </a:solidFill>
                <a:latin typeface="Arial"/>
              </a:defRPr>
            </a:pPr>
            <a:r>
              <a:t>Oncology drives growth; CVRM is rebuilding while ADC–IO combinations gain strategic 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4593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50" b="0">
                <a:solidFill>
                  <a:srgbClr val="66757C"/>
                </a:solidFill>
                <a:latin typeface="Arial"/>
              </a:defRPr>
            </a:pPr>
            <a:r>
              <a:t>[1] H1 2026 results pp.1,6–9; [2] FY2025 results p.1; [4] Pipeline (27 Jul 2026); [6–11] Selected 2026 announcements. All growth at 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07899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 and methodology in slide notes  |  Facts: company disclosures; CStone implications: analyst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9688" y="6601968"/>
            <a:ext cx="320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592824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82496"/>
            <a:ext cx="2743200" cy="91440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92224"/>
            <a:ext cx="2505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GROUP 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02536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$30.7bn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40487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H1 2026: +6%  |  FY2025: $58.7bn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1682496"/>
            <a:ext cx="2743200" cy="91440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792224"/>
            <a:ext cx="2505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ONCOLOGY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002536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40487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H1 2026 TA revenue: +15%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682496"/>
            <a:ext cx="2743200" cy="91440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792224"/>
            <a:ext cx="2505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CVRM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002536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–12%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40487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H1 2026: LOE / China VBP headwinds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682496"/>
            <a:ext cx="2752344" cy="91440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1792224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LATE-STAGE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00253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21 NMEs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404872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Company-defined; as of 27 Jul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34640"/>
            <a:ext cx="365760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84932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1 | Commercial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282696"/>
            <a:ext cx="349300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Oncology leads. </a:t>
            </a:r>
            <a:r>
              <a:rPr sz="1300">
                <a:solidFill>
                  <a:srgbClr val="3C3C3C"/>
                </a:solidFill>
                <a:latin typeface="Arial"/>
              </a:rPr>
              <a:t>Imfinzi (+29%) and Enhertu (+32%) outgrow Tagrisso (+6%) in H1 2026 Product Revenue.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Renewal pressure is real. </a:t>
            </a:r>
            <a:r>
              <a:rPr sz="1300">
                <a:solidFill>
                  <a:srgbClr val="3C3C3C"/>
                </a:solidFill>
                <a:latin typeface="Arial"/>
              </a:rPr>
              <a:t>Farxiga (–11%) and Brilinta (–66%) face generic erosion; CVRM is the clearest near-term pressure point.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2834640"/>
            <a:ext cx="365760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4255" y="2884932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 | Portfolio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282696"/>
            <a:ext cx="349300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CVRM breadth. </a:t>
            </a:r>
            <a:r>
              <a:rPr sz="1300">
                <a:solidFill>
                  <a:srgbClr val="3C3C3C"/>
                </a:solidFill>
                <a:latin typeface="Arial"/>
              </a:rPr>
              <a:t>Baxfendy launched in the US; elecoglipron entered Phase III. CSPC and insitro extend the metabolic / discovery toolkit.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Oncology combinations. </a:t>
            </a:r>
            <a:r>
              <a:rPr sz="1300">
                <a:solidFill>
                  <a:srgbClr val="3C3C3C"/>
                </a:solidFill>
                <a:latin typeface="Arial"/>
              </a:rPr>
              <a:t>Summit investment and Sone-Ve / Datroway collaborations add a PD-1/VEGF partner to ADC regimens.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4152" y="2834640"/>
            <a:ext cx="3675887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2884932"/>
            <a:ext cx="349300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3 | What CStone should assess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3282696"/>
            <a:ext cx="351129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Priority 1 — ADC + IO. </a:t>
            </a:r>
            <a:r>
              <a:rPr sz="1300">
                <a:solidFill>
                  <a:srgbClr val="3C3C3C"/>
                </a:solidFill>
                <a:latin typeface="Arial"/>
              </a:rPr>
              <a:t>Benchmark combination rationale, tolerability and clinical setting against AZ’s increasingly broad regimen strategy.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03366"/>
                </a:solidFill>
                <a:latin typeface="Arial"/>
              </a:rPr>
              <a:t>Priority 2 — selective I&amp;I. </a:t>
            </a:r>
            <a:r>
              <a:rPr sz="1300">
                <a:solidFill>
                  <a:srgbClr val="3C3C3C"/>
                </a:solidFill>
                <a:latin typeface="Arial"/>
              </a:rPr>
              <a:t>Assess differentiated multispecific biology and delivery; an active target alone is not an opportunity.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696712"/>
            <a:ext cx="1133856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881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27C9D"/>
                </a:solidFill>
                <a:latin typeface="Arial"/>
              </a:defRPr>
            </a:pPr>
            <a:r>
              <a:t>KEY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788152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Prioritize evidence of differentiation and portfolio fit; use revenue pressure to generate demand hypotheses, then test them against pipeline and BD.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11887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880" b="1">
                <a:solidFill>
                  <a:srgbClr val="66757C"/>
                </a:solidFill>
                <a:latin typeface="Arial"/>
              </a:defRPr>
            </a:pPr>
            <a:r>
              <a:t>22 OCT 2026  |  FINANCIALS: H1 2026  |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27C9D"/>
                </a:solidFill>
                <a:latin typeface="Arial"/>
              </a:defRPr>
            </a:pPr>
            <a:r>
              <a:t>2 - Commercial Performance &amp; LOE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3210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3C3C3C"/>
                </a:solidFill>
                <a:latin typeface="Arial"/>
              </a:defRPr>
            </a:pPr>
            <a:r>
              <a:t>CVRM erosion is already visible; Lynparza and Forxiga warrant the next patent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4593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50" b="0">
                <a:solidFill>
                  <a:srgbClr val="66757C"/>
                </a:solidFill>
                <a:latin typeface="Arial"/>
              </a:defRPr>
            </a:pPr>
            <a:r>
              <a:t>[1] H1 2026 results pp.6–10, Tables 3/5; [3] Patent supplement pp.1–4 (as at 10 Feb 2026). Future dates are NME patent anchors, not generic-entry forecasts.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07899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 and methodology in slide notes  |  Facts: company disclosures; CStone implications: analyst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9688" y="6601968"/>
            <a:ext cx="320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592824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82496"/>
            <a:ext cx="5522976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2788"/>
            <a:ext cx="53400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Leading products | H1 2026 Product Revenue, US$bn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682496"/>
            <a:ext cx="5605272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732788"/>
            <a:ext cx="542239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LOE / patent watch | observed entry vs future anchors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048256"/>
            <a:ext cx="5340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66757C"/>
                </a:solidFill>
                <a:latin typeface="Arial"/>
              </a:defRPr>
            </a:pPr>
            <a:r>
              <a:t>Product labels show CER YoY growth; bar labels show AZ-recognized revenue.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11480" y="2340864"/>
          <a:ext cx="5522976" cy="24963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ectangle 16"/>
          <p:cNvSpPr/>
          <p:nvPr/>
        </p:nvSpPr>
        <p:spPr>
          <a:xfrm>
            <a:off x="411480" y="5010912"/>
            <a:ext cx="1312164" cy="512064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5074920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66757C"/>
                </a:solidFill>
                <a:latin typeface="Arial"/>
              </a:defRPr>
            </a:pPr>
            <a:r>
              <a:t>Oncology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276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70" b="1">
                <a:solidFill>
                  <a:srgbClr val="003366"/>
                </a:solidFill>
                <a:latin typeface="Arial"/>
              </a:defRPr>
            </a:pPr>
            <a:r>
              <a:t>$14.12bn  +15%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15084" y="5010912"/>
            <a:ext cx="1312164" cy="512064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9091" y="5074920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66757C"/>
                </a:solidFill>
                <a:latin typeface="Arial"/>
              </a:defRPr>
            </a:pPr>
            <a:r>
              <a:t>CVRM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9091" y="5276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70" b="1">
                <a:solidFill>
                  <a:srgbClr val="003366"/>
                </a:solidFill>
                <a:latin typeface="Arial"/>
              </a:defRPr>
            </a:pPr>
            <a:r>
              <a:t>$6.09bn  -12%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5010912"/>
            <a:ext cx="1312164" cy="512064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2696" y="5074920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66757C"/>
                </a:solidFill>
                <a:latin typeface="Arial"/>
              </a:defRPr>
            </a:pPr>
            <a:r>
              <a:t>R&amp;I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2696" y="5276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70" b="1">
                <a:solidFill>
                  <a:srgbClr val="003366"/>
                </a:solidFill>
                <a:latin typeface="Arial"/>
              </a:defRPr>
            </a:pPr>
            <a:r>
              <a:t>$4.75bn  +9%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22292" y="5010912"/>
            <a:ext cx="1312164" cy="512064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6300" y="5074920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66757C"/>
                </a:solidFill>
                <a:latin typeface="Arial"/>
              </a:defRPr>
            </a:pPr>
            <a:r>
              <a:t>Rare 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6300" y="5276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70" b="1">
                <a:solidFill>
                  <a:srgbClr val="003366"/>
                </a:solidFill>
                <a:latin typeface="Arial"/>
              </a:defRPr>
            </a:pPr>
            <a:r>
              <a:t>$4.91bn  +11%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559552"/>
            <a:ext cx="55229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6757C"/>
                </a:solidFill>
                <a:latin typeface="Arial"/>
              </a:defRPr>
            </a:pPr>
            <a:r>
              <a:t>TA cards = H1 total revenue + CER YoY; chart = Product Revenue (sales + alliance).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2066543"/>
            <a:ext cx="1115568" cy="786384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2331720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2025–26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0336" y="2066543"/>
            <a:ext cx="4489704" cy="7863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2148839"/>
            <a:ext cx="4251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227C9D"/>
                </a:solidFill>
                <a:latin typeface="Arial"/>
              </a:defRPr>
            </a:pPr>
            <a:r>
              <a:t>PRESSURE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2377439"/>
            <a:ext cx="4251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Farxiga: US generics Q2 2026; UK Q3 2025.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Brilinta: US / Europe generics Q2 2025.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2971800"/>
            <a:ext cx="1115568" cy="78638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236976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2027–29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0336" y="2971800"/>
            <a:ext cx="4489704" cy="7863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3054096"/>
            <a:ext cx="4251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227C9D"/>
                </a:solidFill>
                <a:latin typeface="Arial"/>
              </a:defRPr>
            </a:pPr>
            <a:r>
              <a:t>NEXT PATENT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9208" y="3282696"/>
            <a:ext cx="4251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Lynparza NME patents: US 2027 / EU 2029.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Forxiga: major-EU NME patent 2028.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3877056"/>
            <a:ext cx="1115568" cy="78638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0488" y="4142232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2030–32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3877056"/>
            <a:ext cx="4489704" cy="7863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208" y="3959352"/>
            <a:ext cx="4251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227C9D"/>
                </a:solidFill>
                <a:latin typeface="Arial"/>
              </a:defRPr>
            </a:pPr>
            <a:r>
              <a:t>LARGER ONCOLOGY ANCHORS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4187952"/>
            <a:ext cx="4251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Imfinzi: EU 2030 / US 2031.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3C3C3C"/>
                </a:solidFill>
                <a:latin typeface="Arial"/>
              </a:defRPr>
            </a:pPr>
            <a:r>
              <a:t>Tagrisso: US / EU 2032 (NME patents).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4956048"/>
            <a:ext cx="5605272" cy="585216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038344"/>
            <a:ext cx="53675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Coverage to test: Baxfendy launch + elecoglipron Phase III + external metabolic assets. A revenue gap remains unquantified.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696712"/>
            <a:ext cx="1133856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881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27C9D"/>
                </a:solidFill>
                <a:latin typeface="Arial"/>
              </a:defRPr>
            </a:pPr>
            <a:r>
              <a:t>CSTONE IMPLICATION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788152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CVRM pressure supports a need hypothesis; near-term external demand still depends on launch execution, differentiation and existing pipeline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11887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880" b="1">
                <a:solidFill>
                  <a:srgbClr val="66757C"/>
                </a:solidFill>
                <a:latin typeface="Arial"/>
              </a:defRPr>
            </a:pPr>
            <a:r>
              <a:t>22 OCT 2026  |  FINANCIALS: H1 2026  |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27C9D"/>
                </a:solidFill>
                <a:latin typeface="Arial"/>
              </a:defRPr>
            </a:pPr>
            <a:r>
              <a:t>3 - Late-stage Pipeline &amp;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3210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3C3C3C"/>
                </a:solidFill>
                <a:latin typeface="Arial"/>
              </a:defRPr>
            </a:pPr>
            <a:r>
              <a:t>Selected Phase III+ programs show competition shifting toward differentiated constructs and regimens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4593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50" b="0">
                <a:solidFill>
                  <a:srgbClr val="66757C"/>
                </a:solidFill>
                <a:latin typeface="Arial"/>
              </a:defRPr>
            </a:pPr>
            <a:r>
              <a:t>[4] Pipeline baseline: 27 Jul 2026; [1,5] H1 2026 disclosures; [6,8,13,14] Subsequent announcements. Selective assets; no full Phase III census.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07899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 and methodology in slide notes  |  Facts: company disclosures; CStone implications: analyst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9688" y="6601968"/>
            <a:ext cx="320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592824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82496"/>
            <a:ext cx="3657600" cy="667512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01368"/>
            <a:ext cx="685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8196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Late-stage NMEs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Company-reported, Jul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682496"/>
            <a:ext cx="3657600" cy="667512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801368"/>
            <a:ext cx="685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7" y="18196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NMEs under review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Company-reported, Jul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682496"/>
            <a:ext cx="3675887" cy="667512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801368"/>
            <a:ext cx="685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819656"/>
            <a:ext cx="26700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Total pipeline projects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6757C"/>
                </a:solidFill>
                <a:latin typeface="Arial"/>
              </a:defRPr>
            </a:pPr>
            <a:r>
              <a:t>Company-reported, Jul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06040"/>
            <a:ext cx="1975104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2697480"/>
            <a:ext cx="18105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TA / program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6584" y="2606040"/>
            <a:ext cx="2770632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697480"/>
            <a:ext cx="260603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Mechanism / setting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7216" y="2606040"/>
            <a:ext cx="3374136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2697480"/>
            <a:ext cx="320954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Verified milestone / stage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1352" y="2606040"/>
            <a:ext cx="3218688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2697480"/>
            <a:ext cx="305409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t>Decision relevance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990088"/>
            <a:ext cx="1975104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3081528"/>
            <a:ext cx="18105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1">
                <a:solidFill>
                  <a:srgbClr val="3C3C3C"/>
                </a:solidFill>
                <a:latin typeface="Arial"/>
              </a:defRPr>
            </a:pPr>
            <a:r>
              <a:t>Oncology | Sone-Ve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86584" y="2990088"/>
            <a:ext cx="2770632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081528"/>
            <a:ext cx="26060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CLDN18.2 ADC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Gastric / GI cancers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57216" y="2990088"/>
            <a:ext cx="3374136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9512" y="3081528"/>
            <a:ext cx="3209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Positive Phase III OS topline;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ivonescimab combo announced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31352" y="2990088"/>
            <a:ext cx="3218688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3081528"/>
            <a:ext cx="305409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Benchmark ADC + next-gen IO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regimen positioning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59359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593592"/>
            <a:ext cx="1975104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3685032"/>
            <a:ext cx="18105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1">
                <a:solidFill>
                  <a:srgbClr val="3C3C3C"/>
                </a:solidFill>
                <a:latin typeface="Arial"/>
              </a:defRPr>
            </a:pPr>
            <a:r>
              <a:t>Oncology | puxi-sam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3593592"/>
            <a:ext cx="277063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3685032"/>
            <a:ext cx="26060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B7-H4 TOP1i ADC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2–3L endometrial cancer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3593592"/>
            <a:ext cx="337413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9512" y="3685032"/>
            <a:ext cx="3209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Phase III Bluestar-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Endometrial01 (Jul snapshot)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31352" y="3593592"/>
            <a:ext cx="321868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3648" y="3685032"/>
            <a:ext cx="305409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Differentiation must include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construct and patient selection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197096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4197096"/>
            <a:ext cx="1975104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4288536"/>
            <a:ext cx="18105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1">
                <a:solidFill>
                  <a:srgbClr val="3C3C3C"/>
                </a:solidFill>
                <a:latin typeface="Arial"/>
              </a:defRPr>
            </a:pPr>
            <a:r>
              <a:t>CVRM | elecoglipron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86584" y="4197096"/>
            <a:ext cx="2770632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4288536"/>
            <a:ext cx="26060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Oral GLP-1 RA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Obesity / type 2 diabetes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57216" y="4197096"/>
            <a:ext cx="3374136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9512" y="4288536"/>
            <a:ext cx="3209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Phase III entered in 2026;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monotherapy + combinations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31352" y="4197096"/>
            <a:ext cx="3218688" cy="60350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13648" y="4288536"/>
            <a:ext cx="305409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Assess convenience, tolerability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and organ-protection strategy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80060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4800600"/>
            <a:ext cx="1975104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" y="4892040"/>
            <a:ext cx="18105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1">
                <a:solidFill>
                  <a:srgbClr val="3C3C3C"/>
                </a:solidFill>
                <a:latin typeface="Arial"/>
              </a:defRPr>
            </a:pPr>
            <a:r>
              <a:t>R&amp;I | tozorakimab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4800600"/>
            <a:ext cx="277063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80" y="4892040"/>
            <a:ext cx="26060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IL-33 antibody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COPD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57216" y="4800600"/>
            <a:ext cx="337413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39512" y="4892040"/>
            <a:ext cx="3209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Positive Phase III; US priority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review; PDUFA expected Q1 2027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31352" y="4800600"/>
            <a:ext cx="321868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13648" y="4892040"/>
            <a:ext cx="305409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Raises the differentiation bar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80" b="0">
                <a:solidFill>
                  <a:srgbClr val="3C3C3C"/>
                </a:solidFill>
                <a:latin typeface="Arial"/>
              </a:defRPr>
            </a:pPr>
            <a:r>
              <a:t>for airway / alarmin programs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404104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495544"/>
            <a:ext cx="113385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Phase III+ includes registration-stage programs. Approved assets can retain Phase III indication programs; no indication-program count is presented as an asset count.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696712"/>
            <a:ext cx="1133856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7881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27C9D"/>
                </a:solidFill>
                <a:latin typeface="Arial"/>
              </a:defRPr>
            </a:pPr>
            <a:r>
              <a:t>CSTONE PRIORITY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5788152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Deep-dive only where these programs change the target, indication or regimen assumptions of a potential CStone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11887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880" b="1">
                <a:solidFill>
                  <a:srgbClr val="66757C"/>
                </a:solidFill>
                <a:latin typeface="Arial"/>
              </a:defRPr>
            </a:pPr>
            <a:r>
              <a:t>22 OCT 2026  |  FINANCIALS: H1 2026  |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27C9D"/>
                </a:solidFill>
                <a:latin typeface="Arial"/>
              </a:defRPr>
            </a:pPr>
            <a:r>
              <a:t>4 - R&amp;D Strategy &amp; Emerging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3210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3C3C3C"/>
                </a:solidFill>
                <a:latin typeface="Arial"/>
              </a:defRPr>
            </a:pPr>
            <a:r>
              <a:t>The innovation agenda spans combination oncology, immune reset and differentiated metabolic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4593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50" b="0">
                <a:solidFill>
                  <a:srgbClr val="66757C"/>
                </a:solidFill>
                <a:latin typeface="Arial"/>
              </a:defRPr>
            </a:pPr>
            <a:r>
              <a:t>[4] Pipeline (27 Jul 2026); [5] H1 presentation p.24; [6,8] ADC–IO collaborations; [10] CSPC, 30 Jan 2026; [14] Elecoglipron, 8 Jun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07899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 and methodology in slide notes  |  Facts: company disclosures; CStone implications: analyst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9688" y="6601968"/>
            <a:ext cx="320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592824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82496"/>
            <a:ext cx="1133856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2788"/>
            <a:ext cx="11155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Three signals to monitor | disclosed evidence → interpretation → test before prioritizing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84831"/>
            <a:ext cx="2203704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176272"/>
            <a:ext cx="20391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70" b="1">
                <a:solidFill>
                  <a:srgbClr val="FFFFFF"/>
                </a:solidFill>
                <a:latin typeface="Arial"/>
              </a:defRPr>
            </a:pPr>
            <a:r>
              <a:t>Innovation 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2084831"/>
            <a:ext cx="4251960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176272"/>
            <a:ext cx="40873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70" b="1">
                <a:solidFill>
                  <a:srgbClr val="FFFFFF"/>
                </a:solidFill>
                <a:latin typeface="Arial"/>
              </a:defRPr>
            </a:pPr>
            <a:r>
              <a:t>Disclosed portfolio anchors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7144" y="2084831"/>
            <a:ext cx="4882896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176272"/>
            <a:ext cx="47183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70" b="1">
                <a:solidFill>
                  <a:srgbClr val="FFFFFF"/>
                </a:solidFill>
                <a:latin typeface="Arial"/>
              </a:defRPr>
            </a:pPr>
            <a:r>
              <a:t>What CStone should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68879"/>
            <a:ext cx="2203704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560320"/>
            <a:ext cx="203911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3C3C3C"/>
                </a:solidFill>
                <a:latin typeface="Arial"/>
              </a:defRPr>
            </a:pPr>
            <a:r>
              <a:t>1 | Combination oncology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2468879"/>
            <a:ext cx="4251960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560320"/>
            <a:ext cx="40873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Sone-Ve / Datroway + ivonescimab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ADCs paired with PD-1/VEGF bispecific 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2468879"/>
            <a:ext cx="4882896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560320"/>
            <a:ext cx="471830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Can a construct / combination deliver a differentiated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therapeutic window in a specific clinical setting?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18687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18687"/>
            <a:ext cx="2203704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310127"/>
            <a:ext cx="203911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3C3C3C"/>
                </a:solidFill>
                <a:latin typeface="Arial"/>
              </a:defRPr>
            </a:pPr>
            <a:r>
              <a:t>2 | Immune reset &amp; new biology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15184" y="3218687"/>
            <a:ext cx="425196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310127"/>
            <a:ext cx="40873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AZD1163: PAD2/4 bispecific, Phase II RA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AZD0120: CD19/BCMA CAR-T, Phase I autoimmunity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67144" y="3218687"/>
            <a:ext cx="4882896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310127"/>
            <a:ext cx="471830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For I&amp;I multispecifics: validate human biology,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patient segment and safety beyond pathway novelty.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68496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968496"/>
            <a:ext cx="2203704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4059935"/>
            <a:ext cx="203911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3C3C3C"/>
                </a:solidFill>
                <a:latin typeface="Arial"/>
              </a:defRPr>
            </a:pPr>
            <a:r>
              <a:t>3 | Metabolic delivery &amp; combinations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15184" y="3968496"/>
            <a:ext cx="4251960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80" y="4059935"/>
            <a:ext cx="40873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Elecoglipron: oral GLP-1 RA, Phase III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CSPC: monthly delivery + multi-program collaboration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3968496"/>
            <a:ext cx="4882896" cy="74980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4059935"/>
            <a:ext cx="471830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Could convenience, tolerability or organ protection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provide a credible product profile beyond weight loss?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718304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919472"/>
            <a:ext cx="2020824" cy="292608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69764"/>
            <a:ext cx="1837943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Portfolio exits | Jul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919472"/>
            <a:ext cx="4507992" cy="576072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0048" y="5010912"/>
            <a:ext cx="42885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Tilatamig samrotecan: Phase II terminated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Company-stated reason: PK/PD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14616" y="4919472"/>
            <a:ext cx="4535424" cy="576072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24344" y="5010912"/>
            <a:ext cx="4315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Imfinzi + domvanalimab: Phase III terminated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Company-stated reason: Strategic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696712"/>
            <a:ext cx="1133856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7881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27C9D"/>
                </a:solidFill>
                <a:latin typeface="Arial"/>
              </a:defRPr>
            </a:pPr>
            <a:r>
              <a:t>CSTONE 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788152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Review exposure / safety and development feasibility alongside mechanism. An exit is evidence to investigate, not proof of target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11887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880" b="1">
                <a:solidFill>
                  <a:srgbClr val="66757C"/>
                </a:solidFill>
                <a:latin typeface="Arial"/>
              </a:defRPr>
            </a:pPr>
            <a:r>
              <a:t>22 OCT 2026  |  FINANCIALS: H1 2026  |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227C9D"/>
                </a:solidFill>
                <a:latin typeface="Arial"/>
              </a:defRPr>
            </a:pPr>
            <a:r>
              <a:t>5 - BD Activities &amp; Strategic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3210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3C3C3C"/>
                </a:solidFill>
                <a:latin typeface="Arial"/>
              </a:defRPr>
            </a:pPr>
            <a:r>
              <a:t>Recent deals expand portfolio breadth, combination access and delivery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45936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50" b="0">
                <a:solidFill>
                  <a:srgbClr val="66757C"/>
                </a:solidFill>
                <a:latin typeface="Arial"/>
              </a:defRPr>
            </a:pPr>
            <a:r>
              <a:t>[6–12] AZ announcements, Jan 2025–Oct 2026. Selected material transactions; scope includes older platform context. Contingent amounts are not upfront cash.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2"/>
            <a:ext cx="107899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 and methodology in slide notes  |  Facts: company disclosures; CStone implications: analyst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9688" y="6601968"/>
            <a:ext cx="320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592824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82496"/>
            <a:ext cx="1133856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2788"/>
            <a:ext cx="11155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Selected material deals | current signals plus one platform-building 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84831"/>
            <a:ext cx="2103120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176272"/>
            <a:ext cx="1938527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89" b="1">
                <a:solidFill>
                  <a:srgbClr val="FFFFFF"/>
                </a:solidFill>
                <a:latin typeface="Arial"/>
              </a:defRPr>
            </a:pPr>
            <a:r>
              <a:t>Counterparty / 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084831"/>
            <a:ext cx="3154680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2176272"/>
            <a:ext cx="29900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89" b="1">
                <a:solidFill>
                  <a:srgbClr val="FFFFFF"/>
                </a:solidFill>
                <a:latin typeface="Arial"/>
              </a:defRPr>
            </a:pPr>
            <a:r>
              <a:t>Scope / stage /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084831"/>
            <a:ext cx="3154680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1576" y="2176272"/>
            <a:ext cx="29900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89" b="1">
                <a:solidFill>
                  <a:srgbClr val="FFFFFF"/>
                </a:solidFill>
                <a:latin typeface="Arial"/>
              </a:defRPr>
            </a:pPr>
            <a:r>
              <a:t>Disclosed economics¹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084831"/>
            <a:ext cx="2926080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6" y="2176272"/>
            <a:ext cx="2761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89" b="1">
                <a:solidFill>
                  <a:srgbClr val="FFFFFF"/>
                </a:solidFill>
                <a:latin typeface="Arial"/>
              </a:defRPr>
            </a:pPr>
            <a:r>
              <a:t>Strategic interpretation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468879"/>
            <a:ext cx="210312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2560320"/>
            <a:ext cx="193852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Summit | Sep–Oct 2026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Equity closed 5 Oct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468879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96896" y="2560320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ADC + ivonescimab (PD-1/VEGF)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Equity + clinical collaborations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68879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1576" y="2560320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$2.0bn equity investment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Not a licensing upfront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468879"/>
            <a:ext cx="29260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6256" y="2560320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Access to next-gen IO combinations;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respective drug rights retained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026663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026663"/>
            <a:ext cx="210312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118103"/>
            <a:ext cx="193852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Dizal | Sep 2026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License 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3026663"/>
            <a:ext cx="31546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3118103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Zegfrovy: EGFR exon20ins NSCLC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Approved 2L; global license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026663"/>
            <a:ext cx="31546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6" y="3118103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$600m upfront + up to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$900m milestones + royalties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026663"/>
            <a:ext cx="29260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6" y="3118103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Deepen the lung cancer franchise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with a complementary EGFR asset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584447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3584447"/>
            <a:ext cx="210312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3675887"/>
            <a:ext cx="193852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CSPC | Jan 2026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Agreement announced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3584447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3675887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Obesity / T2D; eight programs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Early assets + monthly 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584447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51576" y="3675887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$1.2bn upfront + up to $3.5bn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dev/reg milestones; other terms²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3584447"/>
            <a:ext cx="29260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6" y="3675887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Broaden metabolic modalities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and dosing options; ex-China rights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142231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4142231"/>
            <a:ext cx="210312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4233671"/>
            <a:ext cx="193852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insitro | Oct 2026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Discovery collaboration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4142231"/>
            <a:ext cx="31546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96896" y="4233671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MASH / cardiomyopathies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AI target discovery + licensing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142231"/>
            <a:ext cx="31546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51576" y="4233671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$40m upfront + up to ~$1.46bn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milestones + potential royalties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4142231"/>
            <a:ext cx="29260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06256" y="4233671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Add disease-biology / discovery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capabilities, not a late-stage asset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00016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4700016"/>
            <a:ext cx="210312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" y="4791455"/>
            <a:ext cx="193852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EsoBiotec | May 2025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1">
                <a:solidFill>
                  <a:srgbClr val="3C3C3C"/>
                </a:solidFill>
                <a:latin typeface="Arial"/>
              </a:defRPr>
            </a:pPr>
            <a:r>
              <a:t>Acquisition completed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4600" y="4700016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96896" y="4791455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In vivo cell therapy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Early platform acquisition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4700016"/>
            <a:ext cx="31546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51576" y="4791455"/>
            <a:ext cx="29900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$425m initial + up to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$575m contingent consideration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23960" y="4700016"/>
            <a:ext cx="2926080" cy="557784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06256" y="4791455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Build delivery capability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3C3C3C"/>
                </a:solidFill>
                <a:latin typeface="Arial"/>
              </a:defRPr>
            </a:pPr>
            <a:r>
              <a:t>across oncology and immune disease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257800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41324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0">
                <a:solidFill>
                  <a:srgbClr val="66757C"/>
                </a:solidFill>
                <a:latin typeface="Arial"/>
              </a:defRPr>
            </a:pPr>
            <a:r>
              <a:t>¹ Selected terms; no aggregate “deal value” comparison. ² CSPC: additional commercial / sales milestones and royalties; details in notes. Exits are tracked on Page 4.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696712"/>
            <a:ext cx="1133856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7881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27C9D"/>
                </a:solidFill>
                <a:latin typeface="Arial"/>
              </a:defRPr>
            </a:pPr>
            <a:r>
              <a:t>CSTONE IMPLICATION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5788152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Position assets around a specific portfolio role—regimen differentiation, delivery or clinical fit. Historical deal activity alone does not establish buyer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